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337" r:id="rId9"/>
    <p:sldId id="263" r:id="rId10"/>
    <p:sldId id="334" r:id="rId11"/>
    <p:sldId id="335" r:id="rId12"/>
    <p:sldId id="336" r:id="rId13"/>
    <p:sldId id="266" r:id="rId14"/>
    <p:sldId id="338" r:id="rId15"/>
    <p:sldId id="267" r:id="rId16"/>
    <p:sldId id="268" r:id="rId17"/>
    <p:sldId id="269" r:id="rId18"/>
    <p:sldId id="270" r:id="rId19"/>
    <p:sldId id="271" r:id="rId20"/>
    <p:sldId id="272"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273" r:id="rId34"/>
    <p:sldId id="274" r:id="rId35"/>
    <p:sldId id="280" r:id="rId36"/>
    <p:sldId id="282" r:id="rId37"/>
    <p:sldId id="283" r:id="rId38"/>
    <p:sldId id="302" r:id="rId39"/>
    <p:sldId id="303" r:id="rId40"/>
    <p:sldId id="304" r:id="rId41"/>
    <p:sldId id="284" r:id="rId42"/>
    <p:sldId id="285" r:id="rId43"/>
    <p:sldId id="286" r:id="rId44"/>
    <p:sldId id="330" r:id="rId45"/>
    <p:sldId id="331" r:id="rId46"/>
    <p:sldId id="332" r:id="rId47"/>
    <p:sldId id="333" r:id="rId48"/>
    <p:sldId id="305" r:id="rId49"/>
    <p:sldId id="306" r:id="rId50"/>
    <p:sldId id="307" r:id="rId5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9525" cap="flat">
              <a:solidFill>
                <a:schemeClr val="accent1"/>
              </a:solidFill>
              <a:prstDash val="solid"/>
              <a:round/>
            </a:ln>
          </a:left>
          <a:right>
            <a:ln w="9525" cap="flat">
              <a:solidFill>
                <a:schemeClr val="accent1"/>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chemeClr val="accent1"/>
              </a:solidFill>
              <a:prstDash val="solid"/>
              <a:round/>
            </a:ln>
          </a:insideH>
          <a:insideV>
            <a:ln w="9525" cap="flat">
              <a:solidFill>
                <a:schemeClr val="accent1"/>
              </a:solidFill>
              <a:prstDash val="solid"/>
              <a:round/>
            </a:ln>
          </a:insideV>
        </a:tcBdr>
        <a:fill>
          <a:solidFill>
            <a:schemeClr val="accent1">
              <a:alpha val="40000"/>
            </a:schemeClr>
          </a:solidFill>
        </a:fill>
      </a:tcStyle>
    </a:wholeTbl>
    <a:band2H>
      <a:tcTxStyle/>
      <a:tcStyle>
        <a:tcBdr/>
        <a:fill>
          <a:solidFill>
            <a:srgbClr val="FFFFFF">
              <a:alpha val="0"/>
            </a:srgbClr>
          </a:solidFill>
        </a:fill>
      </a:tcStyle>
    </a:band2H>
    <a:firstCol>
      <a:tcTxStyle b="on" i="off">
        <a:fontRef idx="major">
          <a:srgbClr val="000000"/>
        </a:fontRef>
        <a:srgbClr val="000000"/>
      </a:tcTxStyle>
      <a:tcStyle>
        <a:tcBdr>
          <a:left>
            <a:ln w="9525" cap="flat">
              <a:solidFill>
                <a:schemeClr val="accent1"/>
              </a:solidFill>
              <a:prstDash val="solid"/>
              <a:round/>
            </a:ln>
          </a:left>
          <a:right>
            <a:ln w="9525" cap="flat">
              <a:solidFill>
                <a:schemeClr val="accent1"/>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chemeClr val="accent1"/>
              </a:solidFill>
              <a:prstDash val="solid"/>
              <a:round/>
            </a:ln>
          </a:insideH>
          <a:insideV>
            <a:ln w="9525" cap="flat">
              <a:solidFill>
                <a:schemeClr val="accent1"/>
              </a:solidFill>
              <a:prstDash val="solid"/>
              <a:round/>
            </a:ln>
          </a:insideV>
        </a:tcBdr>
        <a:fill>
          <a:solidFill>
            <a:schemeClr val="accent1">
              <a:alpha val="40000"/>
            </a:schemeClr>
          </a:solidFill>
        </a:fill>
      </a:tcStyle>
    </a:firstCol>
    <a:lastRow>
      <a:tcTxStyle b="on"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n" i="off">
        <a:fontRef idx="major">
          <a:srgbClr val="FFFFFF"/>
        </a:fontRef>
        <a:srgbClr val="FFFFFF"/>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chemeClr val="accent1"/>
              </a:solidFill>
              <a:prstDash val="solid"/>
              <a:round/>
            </a:ln>
          </a:top>
          <a:bottom>
            <a:ln w="9525" cap="flat">
              <a:solidFill>
                <a:srgbClr val="FFFFFF"/>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3CCCB"/>
          </a:solidFill>
        </a:fill>
      </a:tcStyle>
    </a:wholeTbl>
    <a:band2H>
      <a:tcTxStyle/>
      <a:tcStyle>
        <a:tcBdr/>
        <a:fill>
          <a:solidFill>
            <a:srgbClr val="F9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E8CC"/>
          </a:solidFill>
        </a:fill>
      </a:tcStyle>
    </a:wholeTbl>
    <a:band2H>
      <a:tcTxStyle/>
      <a:tcStyle>
        <a:tcBdr/>
        <a:fill>
          <a:solidFill>
            <a:srgbClr val="FBF4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EF2"/>
          </a:solidFill>
        </a:fill>
      </a:tcStyle>
    </a:wholeTbl>
    <a:band2H>
      <a:tcTxStyle/>
      <a:tcStyle>
        <a:tcBdr/>
        <a:fill>
          <a:solidFill>
            <a:srgbClr val="E8EFF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05"/>
    <p:restoredTop sz="94658"/>
  </p:normalViewPr>
  <p:slideViewPr>
    <p:cSldViewPr snapToGrid="0">
      <p:cViewPr>
        <p:scale>
          <a:sx n="90" d="100"/>
          <a:sy n="90" d="100"/>
        </p:scale>
        <p:origin x="1146" y="414"/>
      </p:cViewPr>
      <p:guideLst/>
    </p:cSldViewPr>
  </p:slideViewPr>
  <p:notesTextViewPr>
    <p:cViewPr>
      <p:scale>
        <a:sx n="1" d="1"/>
        <a:sy n="1" d="1"/>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1" name="Shape 181"/>
          <p:cNvSpPr>
            <a:spLocks noGrp="1" noRot="1" noChangeAspect="1"/>
          </p:cNvSpPr>
          <p:nvPr>
            <p:ph type="sldImg"/>
          </p:nvPr>
        </p:nvSpPr>
        <p:spPr>
          <a:xfrm>
            <a:off x="1143000" y="685800"/>
            <a:ext cx="4572000" cy="3429000"/>
          </a:xfrm>
          <a:prstGeom prst="rect">
            <a:avLst/>
          </a:prstGeom>
        </p:spPr>
        <p:txBody>
          <a:bodyPr/>
          <a:lstStyle/>
          <a:p>
            <a:endParaRPr/>
          </a:p>
        </p:txBody>
      </p:sp>
      <p:sp>
        <p:nvSpPr>
          <p:cNvPr id="182" name="Shape 18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12" name="Google Shape;12;p32" descr="Google Shape;12;p32"/>
          <p:cNvPicPr>
            <a:picLocks noChangeAspect="1"/>
          </p:cNvPicPr>
          <p:nvPr/>
        </p:nvPicPr>
        <p:blipFill>
          <a:blip r:embed="rId2"/>
          <a:srcRect t="7834" b="7832"/>
          <a:stretch>
            <a:fillRect/>
          </a:stretch>
        </p:blipFill>
        <p:spPr>
          <a:xfrm>
            <a:off x="12762" y="0"/>
            <a:ext cx="12154201" cy="6858001"/>
          </a:xfrm>
          <a:prstGeom prst="rect">
            <a:avLst/>
          </a:prstGeom>
          <a:ln w="12700">
            <a:miter lim="400000"/>
          </a:ln>
        </p:spPr>
      </p:pic>
      <p:sp>
        <p:nvSpPr>
          <p:cNvPr id="13" name="Title Text"/>
          <p:cNvSpPr txBox="1">
            <a:spLocks noGrp="1"/>
          </p:cNvSpPr>
          <p:nvPr>
            <p:ph type="title"/>
          </p:nvPr>
        </p:nvSpPr>
        <p:spPr>
          <a:xfrm>
            <a:off x="1371600" y="1803405"/>
            <a:ext cx="9448800" cy="1825097"/>
          </a:xfrm>
          <a:prstGeom prst="rect">
            <a:avLst/>
          </a:prstGeom>
        </p:spPr>
        <p:txBody>
          <a:bodyPr anchor="b"/>
          <a:lstStyle>
            <a:lvl1pPr algn="l">
              <a:defRPr sz="6000"/>
            </a:lvl1pPr>
          </a:lstStyle>
          <a:p>
            <a:r>
              <a:t>Title Text</a:t>
            </a:r>
          </a:p>
        </p:txBody>
      </p:sp>
      <p:sp>
        <p:nvSpPr>
          <p:cNvPr id="14" name="Body Level One…"/>
          <p:cNvSpPr txBox="1">
            <a:spLocks noGrp="1"/>
          </p:cNvSpPr>
          <p:nvPr>
            <p:ph type="body" sz="quarter" idx="1"/>
          </p:nvPr>
        </p:nvSpPr>
        <p:spPr>
          <a:xfrm>
            <a:off x="1371600" y="3632201"/>
            <a:ext cx="9448800" cy="685801"/>
          </a:xfrm>
          <a:prstGeom prst="rect">
            <a:avLst/>
          </a:prstGeom>
        </p:spPr>
        <p:txBody>
          <a:bodyPr/>
          <a:lstStyle>
            <a:lvl1pPr marL="368300" indent="-279400">
              <a:buClrTx/>
              <a:buSzTx/>
              <a:buFontTx/>
              <a:buNone/>
              <a:defRPr sz="2000"/>
            </a:lvl1pPr>
            <a:lvl2pPr marL="368300" indent="190500">
              <a:buClrTx/>
              <a:buSzTx/>
              <a:buFontTx/>
              <a:buNone/>
              <a:defRPr sz="2000"/>
            </a:lvl2pPr>
            <a:lvl3pPr marL="368300" indent="660400">
              <a:buClrTx/>
              <a:buSzTx/>
              <a:buFontTx/>
              <a:buNone/>
              <a:defRPr sz="2000"/>
            </a:lvl3pPr>
            <a:lvl4pPr marL="368300" indent="1130300">
              <a:buClrTx/>
              <a:buSzTx/>
              <a:buFontTx/>
              <a:buNone/>
              <a:defRPr sz="2000"/>
            </a:lvl4pPr>
            <a:lvl5pPr marL="368300" indent="1587500">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pic>
        <p:nvPicPr>
          <p:cNvPr id="15" name="Google Shape;18;p32" descr="Google Shape;18;p32"/>
          <p:cNvPicPr>
            <a:picLocks noChangeAspect="1"/>
          </p:cNvPicPr>
          <p:nvPr/>
        </p:nvPicPr>
        <p:blipFill>
          <a:blip r:embed="rId3"/>
          <a:stretch>
            <a:fillRect/>
          </a:stretch>
        </p:blipFill>
        <p:spPr>
          <a:xfrm>
            <a:off x="600513" y="192977"/>
            <a:ext cx="1542174" cy="1237889"/>
          </a:xfrm>
          <a:prstGeom prst="rect">
            <a:avLst/>
          </a:prstGeom>
          <a:ln w="12700">
            <a:miter lim="400000"/>
          </a:ln>
        </p:spPr>
      </p:pic>
      <p:sp>
        <p:nvSpPr>
          <p:cNvPr id="16" name="Slide Number"/>
          <p:cNvSpPr txBox="1">
            <a:spLocks noGrp="1"/>
          </p:cNvSpPr>
          <p:nvPr>
            <p:ph type="sldNum" sz="quarter" idx="2"/>
          </p:nvPr>
        </p:nvSpPr>
        <p:spPr>
          <a:xfrm>
            <a:off x="10575533" y="1491528"/>
            <a:ext cx="244868" cy="2438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24" name="Body Level One…"/>
          <p:cNvSpPr txBox="1">
            <a:spLocks noGrp="1"/>
          </p:cNvSpPr>
          <p:nvPr>
            <p:ph type="body" idx="1"/>
          </p:nvPr>
        </p:nvSpPr>
        <p:spPr>
          <a:xfrm>
            <a:off x="685800" y="2194560"/>
            <a:ext cx="10820400" cy="4024125"/>
          </a:xfrm>
          <a:prstGeom prst="rect">
            <a:avLst/>
          </a:prstGeom>
        </p:spPr>
        <p:txBody>
          <a:bodyPr/>
          <a:lstStyle>
            <a:lvl1pPr indent="-342900"/>
            <a:lvl2pPr marL="948689" indent="-377189"/>
            <a:lvl4pPr marL="1957387" indent="-471487"/>
            <a:lvl5pPr marL="2414587" indent="-471487"/>
          </a:lstStyle>
          <a:p>
            <a:r>
              <a:t>Body Level One</a:t>
            </a:r>
          </a:p>
          <a:p>
            <a:pPr lvl="1"/>
            <a:r>
              <a:t>Body Level Two</a:t>
            </a:r>
          </a:p>
          <a:p>
            <a:pPr lvl="2"/>
            <a:r>
              <a:t>Body Level Three</a:t>
            </a:r>
          </a:p>
          <a:p>
            <a:pPr lvl="3"/>
            <a:r>
              <a:t>Body Level Four</a:t>
            </a:r>
          </a:p>
          <a:p>
            <a:pPr lvl="4"/>
            <a:r>
              <a:t>Body Level Five</a:t>
            </a:r>
          </a:p>
        </p:txBody>
      </p:sp>
      <p:pic>
        <p:nvPicPr>
          <p:cNvPr id="25" name="Google Shape;25;p33" descr="Google Shape;25;p33"/>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33" name="Title Text"/>
          <p:cNvSpPr txBox="1">
            <a:spLocks noGrp="1"/>
          </p:cNvSpPr>
          <p:nvPr>
            <p:ph type="title"/>
          </p:nvPr>
        </p:nvSpPr>
        <p:spPr>
          <a:xfrm>
            <a:off x="685800" y="1524000"/>
            <a:ext cx="6873241" cy="1600200"/>
          </a:xfrm>
          <a:prstGeom prst="rect">
            <a:avLst/>
          </a:prstGeom>
        </p:spPr>
        <p:txBody>
          <a:bodyPr anchor="b"/>
          <a:lstStyle>
            <a:lvl1pPr algn="l">
              <a:defRPr sz="3200"/>
            </a:lvl1pPr>
          </a:lstStyle>
          <a:p>
            <a:r>
              <a:t>Title Text</a:t>
            </a:r>
          </a:p>
        </p:txBody>
      </p:sp>
      <p:sp>
        <p:nvSpPr>
          <p:cNvPr id="34" name="Google Shape;28;p35"/>
          <p:cNvSpPr>
            <a:spLocks noGrp="1"/>
          </p:cNvSpPr>
          <p:nvPr>
            <p:ph type="pic" sz="half" idx="21"/>
          </p:nvPr>
        </p:nvSpPr>
        <p:spPr>
          <a:xfrm>
            <a:off x="7861237" y="751241"/>
            <a:ext cx="3644963" cy="5467444"/>
          </a:xfrm>
          <a:prstGeom prst="rect">
            <a:avLst/>
          </a:prstGeom>
        </p:spPr>
        <p:txBody>
          <a:bodyPr lIns="91439" tIns="45719" rIns="91439" bIns="45719">
            <a:noAutofit/>
          </a:bodyPr>
          <a:lstStyle/>
          <a:p>
            <a:endParaRPr/>
          </a:p>
        </p:txBody>
      </p:sp>
      <p:sp>
        <p:nvSpPr>
          <p:cNvPr id="35" name="Body Level One…"/>
          <p:cNvSpPr txBox="1">
            <a:spLocks noGrp="1"/>
          </p:cNvSpPr>
          <p:nvPr>
            <p:ph type="body" sz="half" idx="1"/>
          </p:nvPr>
        </p:nvSpPr>
        <p:spPr>
          <a:xfrm>
            <a:off x="685800" y="3124199"/>
            <a:ext cx="6873241" cy="3094485"/>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pic>
        <p:nvPicPr>
          <p:cNvPr id="36" name="Google Shape;33;p35" descr="Google Shape;33;p35"/>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4"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45" name="Body Level One…"/>
          <p:cNvSpPr txBox="1">
            <a:spLocks noGrp="1"/>
          </p:cNvSpPr>
          <p:nvPr>
            <p:ph type="body" sz="half" idx="1"/>
          </p:nvPr>
        </p:nvSpPr>
        <p:spPr>
          <a:xfrm>
            <a:off x="685800" y="2194559"/>
            <a:ext cx="5334000" cy="4024125"/>
          </a:xfrm>
          <a:prstGeom prst="rect">
            <a:avLst/>
          </a:prstGeom>
        </p:spPr>
        <p:txBody>
          <a:bodyPr/>
          <a:lstStyle>
            <a:lvl1pPr indent="-342900"/>
            <a:lvl2pPr marL="948689" indent="-377189"/>
            <a:lvl4pPr marL="1957387" indent="-471487"/>
            <a:lvl5pPr marL="2414587" indent="-471487"/>
          </a:lstStyle>
          <a:p>
            <a:r>
              <a:t>Body Level One</a:t>
            </a:r>
          </a:p>
          <a:p>
            <a:pPr lvl="1"/>
            <a:r>
              <a:t>Body Level Two</a:t>
            </a:r>
          </a:p>
          <a:p>
            <a:pPr lvl="2"/>
            <a:r>
              <a:t>Body Level Three</a:t>
            </a:r>
          </a:p>
          <a:p>
            <a:pPr lvl="3"/>
            <a:r>
              <a:t>Body Level Four</a:t>
            </a:r>
          </a:p>
          <a:p>
            <a:pPr lvl="4"/>
            <a:r>
              <a:t>Body Level Five</a:t>
            </a:r>
          </a:p>
        </p:txBody>
      </p:sp>
      <p:sp>
        <p:nvSpPr>
          <p:cNvPr id="46" name="Google Shape;37;p34"/>
          <p:cNvSpPr txBox="1">
            <a:spLocks noGrp="1"/>
          </p:cNvSpPr>
          <p:nvPr>
            <p:ph type="body" sz="half" idx="21"/>
          </p:nvPr>
        </p:nvSpPr>
        <p:spPr>
          <a:xfrm>
            <a:off x="6172200" y="2194559"/>
            <a:ext cx="5334000" cy="4024125"/>
          </a:xfrm>
          <a:prstGeom prst="rect">
            <a:avLst/>
          </a:prstGeom>
        </p:spPr>
        <p:txBody>
          <a:bodyPr/>
          <a:lstStyle/>
          <a:p>
            <a:pPr indent="-342900"/>
            <a:endParaRPr/>
          </a:p>
        </p:txBody>
      </p:sp>
      <p:sp>
        <p:nvSpPr>
          <p:cNvPr id="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_AND_BODY">
    <p:spTree>
      <p:nvGrpSpPr>
        <p:cNvPr id="1" name=""/>
        <p:cNvGrpSpPr/>
        <p:nvPr/>
      </p:nvGrpSpPr>
      <p:grpSpPr>
        <a:xfrm>
          <a:off x="0" y="0"/>
          <a:ext cx="0" cy="0"/>
          <a:chOff x="0" y="0"/>
          <a:chExt cx="0" cy="0"/>
        </a:xfrm>
      </p:grpSpPr>
      <p:sp>
        <p:nvSpPr>
          <p:cNvPr id="54" name="Title Text"/>
          <p:cNvSpPr txBox="1">
            <a:spLocks noGrp="1"/>
          </p:cNvSpPr>
          <p:nvPr>
            <p:ph type="title"/>
          </p:nvPr>
        </p:nvSpPr>
        <p:spPr>
          <a:xfrm>
            <a:off x="822434" y="2109366"/>
            <a:ext cx="10820401" cy="2801937"/>
          </a:xfrm>
          <a:prstGeom prst="rect">
            <a:avLst/>
          </a:prstGeom>
        </p:spPr>
        <p:txBody>
          <a:bodyPr anchor="b"/>
          <a:lstStyle/>
          <a:p>
            <a:r>
              <a:t>Title Text</a:t>
            </a:r>
          </a:p>
        </p:txBody>
      </p:sp>
      <p:sp>
        <p:nvSpPr>
          <p:cNvPr id="55" name="Body Level One…"/>
          <p:cNvSpPr txBox="1">
            <a:spLocks noGrp="1"/>
          </p:cNvSpPr>
          <p:nvPr>
            <p:ph type="body" sz="quarter" idx="1"/>
          </p:nvPr>
        </p:nvSpPr>
        <p:spPr>
          <a:xfrm>
            <a:off x="1161101" y="4997560"/>
            <a:ext cx="10490201" cy="955677"/>
          </a:xfrm>
          <a:prstGeom prst="rect">
            <a:avLst/>
          </a:prstGeom>
        </p:spPr>
        <p:txBody>
          <a:bodyPr/>
          <a:lstStyle>
            <a:lvl1pPr marL="228600" indent="0" algn="r">
              <a:buClrTx/>
              <a:buSzTx/>
              <a:buFontTx/>
              <a:buNone/>
            </a:lvl1pPr>
            <a:lvl2pPr marL="228600" indent="457200" algn="r">
              <a:buClrTx/>
              <a:buSzTx/>
              <a:buFontTx/>
              <a:buNone/>
            </a:lvl2pPr>
            <a:lvl3pPr marL="228600" indent="914400" algn="r">
              <a:buClrTx/>
              <a:buSzTx/>
              <a:buFontTx/>
              <a:buNone/>
            </a:lvl3pPr>
            <a:lvl4pPr marL="228600" indent="1371600" algn="r">
              <a:buClrTx/>
              <a:buSzTx/>
              <a:buFontTx/>
              <a:buNone/>
            </a:lvl4pPr>
            <a:lvl5pPr marL="228600" indent="1828800" algn="r">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56" name="Slide Number"/>
          <p:cNvSpPr txBox="1">
            <a:spLocks noGrp="1"/>
          </p:cNvSpPr>
          <p:nvPr>
            <p:ph type="sldNum" sz="quarter" idx="2"/>
          </p:nvPr>
        </p:nvSpPr>
        <p:spPr>
          <a:xfrm>
            <a:off x="11397968" y="1797497"/>
            <a:ext cx="244868" cy="2438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3"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64" name="Body Level One…"/>
          <p:cNvSpPr txBox="1">
            <a:spLocks noGrp="1"/>
          </p:cNvSpPr>
          <p:nvPr>
            <p:ph type="body" sz="quarter" idx="1"/>
          </p:nvPr>
        </p:nvSpPr>
        <p:spPr>
          <a:xfrm>
            <a:off x="914409" y="2183801"/>
            <a:ext cx="5079992" cy="823913"/>
          </a:xfrm>
          <a:prstGeom prst="rect">
            <a:avLst/>
          </a:prstGeom>
        </p:spPr>
        <p:txBody>
          <a:bodyPr anchor="b"/>
          <a:lstStyle>
            <a:lvl1pPr marL="228600" indent="0">
              <a:buClrTx/>
              <a:buSzTx/>
              <a:buFontTx/>
              <a:buNone/>
              <a:defRPr sz="2800"/>
            </a:lvl1pPr>
            <a:lvl2pPr marL="228600" indent="457200">
              <a:buClrTx/>
              <a:buSzTx/>
              <a:buFontTx/>
              <a:buNone/>
              <a:defRPr sz="2800"/>
            </a:lvl2pPr>
            <a:lvl3pPr marL="228600" indent="914400">
              <a:buClrTx/>
              <a:buSzTx/>
              <a:buFontTx/>
              <a:buNone/>
              <a:defRPr sz="2800"/>
            </a:lvl3pPr>
            <a:lvl4pPr marL="228600" indent="1371600">
              <a:buClrTx/>
              <a:buSzTx/>
              <a:buFontTx/>
              <a:buNone/>
              <a:defRPr sz="2800"/>
            </a:lvl4pPr>
            <a:lvl5pPr marL="228600" indent="1828800">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65" name="Google Shape;49;p38"/>
          <p:cNvSpPr txBox="1">
            <a:spLocks noGrp="1"/>
          </p:cNvSpPr>
          <p:nvPr>
            <p:ph type="body" sz="quarter" idx="21"/>
          </p:nvPr>
        </p:nvSpPr>
        <p:spPr>
          <a:xfrm>
            <a:off x="685800" y="3132665"/>
            <a:ext cx="5311775" cy="3086020"/>
          </a:xfrm>
          <a:prstGeom prst="rect">
            <a:avLst/>
          </a:prstGeom>
        </p:spPr>
        <p:txBody>
          <a:bodyPr/>
          <a:lstStyle/>
          <a:p>
            <a:pPr indent="-342900"/>
            <a:endParaRPr/>
          </a:p>
        </p:txBody>
      </p:sp>
      <p:sp>
        <p:nvSpPr>
          <p:cNvPr id="66" name="Google Shape;50;p38"/>
          <p:cNvSpPr txBox="1">
            <a:spLocks noGrp="1"/>
          </p:cNvSpPr>
          <p:nvPr>
            <p:ph type="body" sz="quarter" idx="22"/>
          </p:nvPr>
        </p:nvSpPr>
        <p:spPr>
          <a:xfrm>
            <a:off x="6400800" y="2183801"/>
            <a:ext cx="5105400" cy="823913"/>
          </a:xfrm>
          <a:prstGeom prst="rect">
            <a:avLst/>
          </a:prstGeom>
        </p:spPr>
        <p:txBody>
          <a:bodyPr anchor="b"/>
          <a:lstStyle/>
          <a:p>
            <a:pPr marL="228600" indent="0">
              <a:buClrTx/>
              <a:buSzTx/>
              <a:buFontTx/>
              <a:buNone/>
              <a:defRPr sz="2800"/>
            </a:pPr>
            <a:endParaRPr/>
          </a:p>
        </p:txBody>
      </p:sp>
      <p:sp>
        <p:nvSpPr>
          <p:cNvPr id="67" name="Google Shape;51;p38"/>
          <p:cNvSpPr txBox="1">
            <a:spLocks noGrp="1"/>
          </p:cNvSpPr>
          <p:nvPr>
            <p:ph type="body" sz="quarter" idx="23"/>
          </p:nvPr>
        </p:nvSpPr>
        <p:spPr>
          <a:xfrm>
            <a:off x="6172200" y="3132665"/>
            <a:ext cx="5334000" cy="3086020"/>
          </a:xfrm>
          <a:prstGeom prst="rect">
            <a:avLst/>
          </a:prstGeom>
        </p:spPr>
        <p:txBody>
          <a:bodyPr/>
          <a:lstStyle/>
          <a:p>
            <a:pPr indent="-342900"/>
            <a:endParaRP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685800" y="1524000"/>
            <a:ext cx="4114800" cy="1600200"/>
          </a:xfrm>
          <a:prstGeom prst="rect">
            <a:avLst/>
          </a:prstGeom>
        </p:spPr>
        <p:txBody>
          <a:bodyPr anchor="b"/>
          <a:lstStyle>
            <a:lvl1pPr algn="l">
              <a:defRPr sz="3200"/>
            </a:lvl1pPr>
          </a:lstStyle>
          <a:p>
            <a:r>
              <a:t>Title Text</a:t>
            </a:r>
          </a:p>
        </p:txBody>
      </p:sp>
      <p:sp>
        <p:nvSpPr>
          <p:cNvPr id="83" name="Body Level One…"/>
          <p:cNvSpPr txBox="1">
            <a:spLocks noGrp="1"/>
          </p:cNvSpPr>
          <p:nvPr>
            <p:ph type="body" idx="1"/>
          </p:nvPr>
        </p:nvSpPr>
        <p:spPr>
          <a:xfrm>
            <a:off x="4995581" y="746759"/>
            <a:ext cx="6510619" cy="5471925"/>
          </a:xfrm>
          <a:prstGeom prst="rect">
            <a:avLst/>
          </a:prstGeom>
        </p:spPr>
        <p:txBody>
          <a:bodyPr anchor="ctr"/>
          <a:lstStyle>
            <a:lvl1pPr indent="-342900"/>
            <a:lvl2pPr marL="948689" indent="-377189"/>
            <a:lvl4pPr marL="1957387" indent="-471487"/>
            <a:lvl5pPr marL="2414587" indent="-471487"/>
          </a:lstStyle>
          <a:p>
            <a:r>
              <a:t>Body Level One</a:t>
            </a:r>
          </a:p>
          <a:p>
            <a:pPr lvl="1"/>
            <a:r>
              <a:t>Body Level Two</a:t>
            </a:r>
          </a:p>
          <a:p>
            <a:pPr lvl="2"/>
            <a:r>
              <a:t>Body Level Three</a:t>
            </a:r>
          </a:p>
          <a:p>
            <a:pPr lvl="3"/>
            <a:r>
              <a:t>Body Level Four</a:t>
            </a:r>
          </a:p>
          <a:p>
            <a:pPr lvl="4"/>
            <a:r>
              <a:t>Body Level Five</a:t>
            </a:r>
          </a:p>
        </p:txBody>
      </p:sp>
      <p:sp>
        <p:nvSpPr>
          <p:cNvPr id="84" name="Google Shape;64;p40"/>
          <p:cNvSpPr txBox="1">
            <a:spLocks noGrp="1"/>
          </p:cNvSpPr>
          <p:nvPr>
            <p:ph type="body" sz="quarter" idx="21"/>
          </p:nvPr>
        </p:nvSpPr>
        <p:spPr>
          <a:xfrm>
            <a:off x="685800" y="3124199"/>
            <a:ext cx="4114800" cy="3094485"/>
          </a:xfrm>
          <a:prstGeom prst="rect">
            <a:avLst/>
          </a:prstGeom>
        </p:spPr>
        <p:txBody>
          <a:bodyPr/>
          <a:lstStyle/>
          <a:p>
            <a:pPr marL="228600" indent="0">
              <a:buClrTx/>
              <a:buSzTx/>
              <a:buFontTx/>
              <a:buNone/>
              <a:defRPr sz="1600"/>
            </a:pPr>
            <a:endParaRP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anoramic Picture with Caption">
    <p:spTree>
      <p:nvGrpSpPr>
        <p:cNvPr id="1" name=""/>
        <p:cNvGrpSpPr/>
        <p:nvPr/>
      </p:nvGrpSpPr>
      <p:grpSpPr>
        <a:xfrm>
          <a:off x="0" y="0"/>
          <a:ext cx="0" cy="0"/>
          <a:chOff x="0" y="0"/>
          <a:chExt cx="0" cy="0"/>
        </a:xfrm>
      </p:grpSpPr>
      <p:sp>
        <p:nvSpPr>
          <p:cNvPr id="92" name="Title Text"/>
          <p:cNvSpPr txBox="1">
            <a:spLocks noGrp="1"/>
          </p:cNvSpPr>
          <p:nvPr>
            <p:ph type="title"/>
          </p:nvPr>
        </p:nvSpPr>
        <p:spPr>
          <a:xfrm>
            <a:off x="685776" y="4697360"/>
            <a:ext cx="10822035" cy="819356"/>
          </a:xfrm>
          <a:prstGeom prst="rect">
            <a:avLst/>
          </a:prstGeom>
        </p:spPr>
        <p:txBody>
          <a:bodyPr anchor="b"/>
          <a:lstStyle>
            <a:lvl1pPr algn="l">
              <a:defRPr sz="3200"/>
            </a:lvl1pPr>
          </a:lstStyle>
          <a:p>
            <a:r>
              <a:t>Title Text</a:t>
            </a:r>
          </a:p>
        </p:txBody>
      </p:sp>
      <p:sp>
        <p:nvSpPr>
          <p:cNvPr id="93" name="Google Shape;71;p41"/>
          <p:cNvSpPr>
            <a:spLocks noGrp="1"/>
          </p:cNvSpPr>
          <p:nvPr>
            <p:ph type="pic" idx="21"/>
          </p:nvPr>
        </p:nvSpPr>
        <p:spPr>
          <a:xfrm>
            <a:off x="681726" y="941439"/>
            <a:ext cx="10821842" cy="3478161"/>
          </a:xfrm>
          <a:prstGeom prst="rect">
            <a:avLst/>
          </a:prstGeom>
        </p:spPr>
        <p:txBody>
          <a:bodyPr lIns="91439" tIns="45719" rIns="91439" bIns="45719">
            <a:noAutofit/>
          </a:bodyPr>
          <a:lstStyle/>
          <a:p>
            <a:endParaRPr/>
          </a:p>
        </p:txBody>
      </p:sp>
      <p:sp>
        <p:nvSpPr>
          <p:cNvPr id="94" name="Body Level One…"/>
          <p:cNvSpPr txBox="1">
            <a:spLocks noGrp="1"/>
          </p:cNvSpPr>
          <p:nvPr>
            <p:ph type="body" sz="quarter" idx="1"/>
          </p:nvPr>
        </p:nvSpPr>
        <p:spPr>
          <a:xfrm>
            <a:off x="685800" y="5516714"/>
            <a:ext cx="10820400" cy="701970"/>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nd Caption">
    <p:spTree>
      <p:nvGrpSpPr>
        <p:cNvPr id="1" name=""/>
        <p:cNvGrpSpPr/>
        <p:nvPr/>
      </p:nvGrpSpPr>
      <p:grpSpPr>
        <a:xfrm>
          <a:off x="0" y="0"/>
          <a:ext cx="0" cy="0"/>
          <a:chOff x="0" y="0"/>
          <a:chExt cx="0" cy="0"/>
        </a:xfrm>
      </p:grpSpPr>
      <p:sp>
        <p:nvSpPr>
          <p:cNvPr id="102" name="Title Text"/>
          <p:cNvSpPr txBox="1">
            <a:spLocks noGrp="1"/>
          </p:cNvSpPr>
          <p:nvPr>
            <p:ph type="title"/>
          </p:nvPr>
        </p:nvSpPr>
        <p:spPr>
          <a:xfrm>
            <a:off x="685800" y="753532"/>
            <a:ext cx="10820400" cy="2802467"/>
          </a:xfrm>
          <a:prstGeom prst="rect">
            <a:avLst/>
          </a:prstGeom>
        </p:spPr>
        <p:txBody>
          <a:bodyPr/>
          <a:lstStyle>
            <a:lvl1pPr algn="l">
              <a:defRPr sz="3200"/>
            </a:lvl1pPr>
          </a:lstStyle>
          <a:p>
            <a:r>
              <a:t>Title Text</a:t>
            </a:r>
          </a:p>
        </p:txBody>
      </p:sp>
      <p:sp>
        <p:nvSpPr>
          <p:cNvPr id="103" name="Body Level One…"/>
          <p:cNvSpPr txBox="1">
            <a:spLocks noGrp="1"/>
          </p:cNvSpPr>
          <p:nvPr>
            <p:ph type="body" sz="quarter" idx="1"/>
          </p:nvPr>
        </p:nvSpPr>
        <p:spPr>
          <a:xfrm>
            <a:off x="1024467" y="3649133"/>
            <a:ext cx="10130516" cy="999068"/>
          </a:xfrm>
          <a:prstGeom prst="rect">
            <a:avLst/>
          </a:prstGeom>
        </p:spPr>
        <p:txBody>
          <a:bodyPr anchor="ct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Quote with Caption">
    <p:spTree>
      <p:nvGrpSpPr>
        <p:cNvPr id="1" name=""/>
        <p:cNvGrpSpPr/>
        <p:nvPr/>
      </p:nvGrpSpPr>
      <p:grpSpPr>
        <a:xfrm>
          <a:off x="0" y="0"/>
          <a:ext cx="0" cy="0"/>
          <a:chOff x="0" y="0"/>
          <a:chExt cx="0" cy="0"/>
        </a:xfrm>
      </p:grpSpPr>
      <p:sp>
        <p:nvSpPr>
          <p:cNvPr id="111" name="Title Text"/>
          <p:cNvSpPr txBox="1">
            <a:spLocks noGrp="1"/>
          </p:cNvSpPr>
          <p:nvPr>
            <p:ph type="title"/>
          </p:nvPr>
        </p:nvSpPr>
        <p:spPr>
          <a:xfrm>
            <a:off x="1024467" y="753532"/>
            <a:ext cx="10151534" cy="2604497"/>
          </a:xfrm>
          <a:prstGeom prst="rect">
            <a:avLst/>
          </a:prstGeom>
        </p:spPr>
        <p:txBody>
          <a:bodyPr/>
          <a:lstStyle>
            <a:lvl1pPr algn="l">
              <a:defRPr sz="3200"/>
            </a:lvl1pPr>
          </a:lstStyle>
          <a:p>
            <a:r>
              <a:t>Title Text</a:t>
            </a:r>
          </a:p>
        </p:txBody>
      </p:sp>
      <p:sp>
        <p:nvSpPr>
          <p:cNvPr id="112" name="Body Level One…"/>
          <p:cNvSpPr txBox="1">
            <a:spLocks noGrp="1"/>
          </p:cNvSpPr>
          <p:nvPr>
            <p:ph type="body" sz="quarter" idx="1"/>
          </p:nvPr>
        </p:nvSpPr>
        <p:spPr>
          <a:xfrm>
            <a:off x="1303864" y="3365555"/>
            <a:ext cx="9592738" cy="444444"/>
          </a:xfrm>
          <a:prstGeom prst="rect">
            <a:avLst/>
          </a:prstGeom>
        </p:spPr>
        <p:txBody>
          <a:bodyPr/>
          <a:lstStyle>
            <a:lvl1pPr marL="228600" indent="0">
              <a:buClrTx/>
              <a:buSzTx/>
              <a:buFontTx/>
              <a:buNone/>
              <a:defRPr sz="1400"/>
            </a:lvl1pPr>
            <a:lvl2pPr marL="228600" indent="457200">
              <a:buClrTx/>
              <a:buSzTx/>
              <a:buFontTx/>
              <a:buNone/>
              <a:defRPr sz="1400"/>
            </a:lvl2pPr>
            <a:lvl3pPr marL="228600" indent="914400">
              <a:buClrTx/>
              <a:buSzTx/>
              <a:buFontTx/>
              <a:buNone/>
              <a:defRPr sz="1400"/>
            </a:lvl3pPr>
            <a:lvl4pPr marL="228600" indent="1371600">
              <a:buClrTx/>
              <a:buSzTx/>
              <a:buFontTx/>
              <a:buNone/>
              <a:defRPr sz="1400"/>
            </a:lvl4pPr>
            <a:lvl5pPr marL="228600" indent="1828800">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13" name="Google Shape;85;p43"/>
          <p:cNvSpPr txBox="1">
            <a:spLocks noGrp="1"/>
          </p:cNvSpPr>
          <p:nvPr>
            <p:ph type="body" sz="quarter" idx="21"/>
          </p:nvPr>
        </p:nvSpPr>
        <p:spPr>
          <a:xfrm>
            <a:off x="1024467" y="3959862"/>
            <a:ext cx="10151534" cy="679872"/>
          </a:xfrm>
          <a:prstGeom prst="rect">
            <a:avLst/>
          </a:prstGeom>
        </p:spPr>
        <p:txBody>
          <a:bodyPr anchor="ctr"/>
          <a:lstStyle/>
          <a:p>
            <a:pPr marL="228600" indent="0">
              <a:buClrTx/>
              <a:buSzTx/>
              <a:buFontTx/>
              <a:buNone/>
              <a:defRPr sz="1600"/>
            </a:pPr>
            <a:endParaRPr/>
          </a:p>
        </p:txBody>
      </p:sp>
      <p:sp>
        <p:nvSpPr>
          <p:cNvPr id="114" name="Google Shape;89;p43"/>
          <p:cNvSpPr txBox="1"/>
          <p:nvPr/>
        </p:nvSpPr>
        <p:spPr>
          <a:xfrm>
            <a:off x="521975" y="557837"/>
            <a:ext cx="518151" cy="133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spAutoFit/>
          </a:bodyPr>
          <a:lstStyle>
            <a:lvl1pPr>
              <a:defRPr sz="8000">
                <a:solidFill>
                  <a:srgbClr val="FFFFFF"/>
                </a:solidFill>
                <a:latin typeface="Century Gothic"/>
                <a:ea typeface="Century Gothic"/>
                <a:cs typeface="Century Gothic"/>
                <a:sym typeface="Century Gothic"/>
              </a:defRPr>
            </a:lvl1pPr>
          </a:lstStyle>
          <a:p>
            <a:r>
              <a:t>“</a:t>
            </a:r>
          </a:p>
        </p:txBody>
      </p:sp>
      <p:sp>
        <p:nvSpPr>
          <p:cNvPr id="115" name="Google Shape;90;p43"/>
          <p:cNvSpPr txBox="1"/>
          <p:nvPr/>
        </p:nvSpPr>
        <p:spPr>
          <a:xfrm>
            <a:off x="11029955" y="2325677"/>
            <a:ext cx="518151" cy="133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spAutoFit/>
          </a:bodyPr>
          <a:lstStyle>
            <a:lvl1pPr algn="r">
              <a:defRPr sz="8000">
                <a:solidFill>
                  <a:srgbClr val="FFFFFF"/>
                </a:solidFill>
                <a:latin typeface="Century Gothic"/>
                <a:ea typeface="Century Gothic"/>
                <a:cs typeface="Century Gothic"/>
                <a:sym typeface="Century Gothic"/>
              </a:defRPr>
            </a:lvl1pPr>
          </a:lstStyle>
          <a:p>
            <a:r>
              <a:t>”</a:t>
            </a:r>
          </a:p>
        </p:txBody>
      </p:sp>
      <p:sp>
        <p:nvSpPr>
          <p:cNvPr id="1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Name Card">
    <p:spTree>
      <p:nvGrpSpPr>
        <p:cNvPr id="1" name=""/>
        <p:cNvGrpSpPr/>
        <p:nvPr/>
      </p:nvGrpSpPr>
      <p:grpSpPr>
        <a:xfrm>
          <a:off x="0" y="0"/>
          <a:ext cx="0" cy="0"/>
          <a:chOff x="0" y="0"/>
          <a:chExt cx="0" cy="0"/>
        </a:xfrm>
      </p:grpSpPr>
      <p:sp>
        <p:nvSpPr>
          <p:cNvPr id="123" name="Title Text"/>
          <p:cNvSpPr txBox="1">
            <a:spLocks noGrp="1"/>
          </p:cNvSpPr>
          <p:nvPr>
            <p:ph type="title"/>
          </p:nvPr>
        </p:nvSpPr>
        <p:spPr>
          <a:xfrm>
            <a:off x="1024495" y="1124701"/>
            <a:ext cx="10146187" cy="2511836"/>
          </a:xfrm>
          <a:prstGeom prst="rect">
            <a:avLst/>
          </a:prstGeom>
        </p:spPr>
        <p:txBody>
          <a:bodyPr anchor="b"/>
          <a:lstStyle>
            <a:lvl1pPr algn="l">
              <a:defRPr sz="3200"/>
            </a:lvl1pPr>
          </a:lstStyle>
          <a:p>
            <a:r>
              <a:t>Title Text</a:t>
            </a:r>
          </a:p>
        </p:txBody>
      </p:sp>
      <p:sp>
        <p:nvSpPr>
          <p:cNvPr id="124" name="Body Level One…"/>
          <p:cNvSpPr txBox="1">
            <a:spLocks noGrp="1"/>
          </p:cNvSpPr>
          <p:nvPr>
            <p:ph type="body" sz="quarter" idx="1"/>
          </p:nvPr>
        </p:nvSpPr>
        <p:spPr>
          <a:xfrm>
            <a:off x="1024467" y="3648314"/>
            <a:ext cx="10144654" cy="999886"/>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3 Column">
    <p:spTree>
      <p:nvGrpSpPr>
        <p:cNvPr id="1" name=""/>
        <p:cNvGrpSpPr/>
        <p:nvPr/>
      </p:nvGrpSpPr>
      <p:grpSpPr>
        <a:xfrm>
          <a:off x="0" y="0"/>
          <a:ext cx="0" cy="0"/>
          <a:chOff x="0" y="0"/>
          <a:chExt cx="0" cy="0"/>
        </a:xfrm>
      </p:grpSpPr>
      <p:sp>
        <p:nvSpPr>
          <p:cNvPr id="132" name="Title Text"/>
          <p:cNvSpPr txBox="1">
            <a:spLocks noGrp="1"/>
          </p:cNvSpPr>
          <p:nvPr>
            <p:ph type="title"/>
          </p:nvPr>
        </p:nvSpPr>
        <p:spPr>
          <a:xfrm>
            <a:off x="2895600" y="761998"/>
            <a:ext cx="8610600" cy="1303869"/>
          </a:xfrm>
          <a:prstGeom prst="rect">
            <a:avLst/>
          </a:prstGeom>
        </p:spPr>
        <p:txBody>
          <a:bodyPr/>
          <a:lstStyle/>
          <a:p>
            <a:r>
              <a:t>Title Text</a:t>
            </a:r>
          </a:p>
        </p:txBody>
      </p:sp>
      <p:sp>
        <p:nvSpPr>
          <p:cNvPr id="133" name="Body Level One…"/>
          <p:cNvSpPr txBox="1">
            <a:spLocks noGrp="1"/>
          </p:cNvSpPr>
          <p:nvPr>
            <p:ph type="body" sz="quarter" idx="1"/>
          </p:nvPr>
        </p:nvSpPr>
        <p:spPr>
          <a:xfrm>
            <a:off x="685800" y="2202079"/>
            <a:ext cx="3456433" cy="617321"/>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4" name="Google Shape;100;p45"/>
          <p:cNvSpPr txBox="1">
            <a:spLocks noGrp="1"/>
          </p:cNvSpPr>
          <p:nvPr>
            <p:ph type="body" sz="quarter" idx="21"/>
          </p:nvPr>
        </p:nvSpPr>
        <p:spPr>
          <a:xfrm>
            <a:off x="685798" y="2904564"/>
            <a:ext cx="3456434" cy="3314132"/>
          </a:xfrm>
          <a:prstGeom prst="rect">
            <a:avLst/>
          </a:prstGeom>
        </p:spPr>
        <p:txBody>
          <a:bodyPr/>
          <a:lstStyle/>
          <a:p>
            <a:pPr marL="228600" indent="0">
              <a:buClrTx/>
              <a:buSzTx/>
              <a:buFontTx/>
              <a:buNone/>
              <a:defRPr sz="1400"/>
            </a:pPr>
            <a:endParaRPr/>
          </a:p>
        </p:txBody>
      </p:sp>
      <p:sp>
        <p:nvSpPr>
          <p:cNvPr id="135" name="Google Shape;101;p45"/>
          <p:cNvSpPr txBox="1">
            <a:spLocks noGrp="1"/>
          </p:cNvSpPr>
          <p:nvPr>
            <p:ph type="body" sz="quarter" idx="22"/>
          </p:nvPr>
        </p:nvSpPr>
        <p:spPr>
          <a:xfrm>
            <a:off x="4368800" y="2201333"/>
            <a:ext cx="3456433" cy="626535"/>
          </a:xfrm>
          <a:prstGeom prst="rect">
            <a:avLst/>
          </a:prstGeom>
        </p:spPr>
        <p:txBody>
          <a:bodyPr anchor="b"/>
          <a:lstStyle/>
          <a:p>
            <a:pPr marL="228600" indent="0">
              <a:buClrTx/>
              <a:buSzTx/>
              <a:buFontTx/>
              <a:buNone/>
              <a:defRPr sz="2400"/>
            </a:pPr>
            <a:endParaRPr/>
          </a:p>
        </p:txBody>
      </p:sp>
      <p:sp>
        <p:nvSpPr>
          <p:cNvPr id="136" name="Google Shape;102;p45"/>
          <p:cNvSpPr txBox="1">
            <a:spLocks noGrp="1"/>
          </p:cNvSpPr>
          <p:nvPr>
            <p:ph type="body" sz="quarter" idx="23"/>
          </p:nvPr>
        </p:nvSpPr>
        <p:spPr>
          <a:xfrm>
            <a:off x="4366857" y="2904066"/>
            <a:ext cx="3456433" cy="3314618"/>
          </a:xfrm>
          <a:prstGeom prst="rect">
            <a:avLst/>
          </a:prstGeom>
        </p:spPr>
        <p:txBody>
          <a:bodyPr/>
          <a:lstStyle/>
          <a:p>
            <a:pPr marL="228600" indent="0">
              <a:buClrTx/>
              <a:buSzTx/>
              <a:buFontTx/>
              <a:buNone/>
              <a:defRPr sz="1400"/>
            </a:pPr>
            <a:endParaRPr/>
          </a:p>
        </p:txBody>
      </p:sp>
      <p:sp>
        <p:nvSpPr>
          <p:cNvPr id="137" name="Google Shape;103;p45"/>
          <p:cNvSpPr txBox="1">
            <a:spLocks noGrp="1"/>
          </p:cNvSpPr>
          <p:nvPr>
            <p:ph type="body" sz="quarter" idx="24"/>
          </p:nvPr>
        </p:nvSpPr>
        <p:spPr>
          <a:xfrm>
            <a:off x="8051800" y="2192865"/>
            <a:ext cx="3456433" cy="626535"/>
          </a:xfrm>
          <a:prstGeom prst="rect">
            <a:avLst/>
          </a:prstGeom>
        </p:spPr>
        <p:txBody>
          <a:bodyPr anchor="b"/>
          <a:lstStyle/>
          <a:p>
            <a:pPr marL="228600" indent="0">
              <a:buClrTx/>
              <a:buSzTx/>
              <a:buFontTx/>
              <a:buNone/>
              <a:defRPr sz="2400"/>
            </a:pPr>
            <a:endParaRPr/>
          </a:p>
        </p:txBody>
      </p:sp>
      <p:sp>
        <p:nvSpPr>
          <p:cNvPr id="138" name="Google Shape;104;p45"/>
          <p:cNvSpPr txBox="1">
            <a:spLocks noGrp="1"/>
          </p:cNvSpPr>
          <p:nvPr>
            <p:ph type="body" sz="quarter" idx="25"/>
          </p:nvPr>
        </p:nvSpPr>
        <p:spPr>
          <a:xfrm>
            <a:off x="8051800" y="2904564"/>
            <a:ext cx="3456433" cy="3314132"/>
          </a:xfrm>
          <a:prstGeom prst="rect">
            <a:avLst/>
          </a:prstGeom>
        </p:spPr>
        <p:txBody>
          <a:bodyPr/>
          <a:lstStyle/>
          <a:p>
            <a:pPr marL="228600" indent="0">
              <a:buClrTx/>
              <a:buSzTx/>
              <a:buFontTx/>
              <a:buNone/>
              <a:defRPr sz="1400"/>
            </a:pPr>
            <a:endParaRPr/>
          </a:p>
        </p:txBody>
      </p:sp>
      <p:sp>
        <p:nvSpPr>
          <p:cNvPr id="1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3 Picture Column">
    <p:spTree>
      <p:nvGrpSpPr>
        <p:cNvPr id="1" name=""/>
        <p:cNvGrpSpPr/>
        <p:nvPr/>
      </p:nvGrpSpPr>
      <p:grpSpPr>
        <a:xfrm>
          <a:off x="0" y="0"/>
          <a:ext cx="0" cy="0"/>
          <a:chOff x="0" y="0"/>
          <a:chExt cx="0" cy="0"/>
        </a:xfrm>
      </p:grpSpPr>
      <p:sp>
        <p:nvSpPr>
          <p:cNvPr id="146"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147" name="Body Level One…"/>
          <p:cNvSpPr txBox="1">
            <a:spLocks noGrp="1"/>
          </p:cNvSpPr>
          <p:nvPr>
            <p:ph type="body" sz="quarter" idx="1"/>
          </p:nvPr>
        </p:nvSpPr>
        <p:spPr>
          <a:xfrm>
            <a:off x="688617" y="4191000"/>
            <a:ext cx="3451583" cy="682766"/>
          </a:xfrm>
          <a:prstGeom prst="rect">
            <a:avLst/>
          </a:prstGeom>
        </p:spPr>
        <p:txBody>
          <a:bodyPr anchor="b"/>
          <a:lstStyle>
            <a:lvl1pPr marL="228600" indent="0">
              <a:buClrTx/>
              <a:buSzTx/>
              <a:buFontTx/>
              <a:buNone/>
              <a:defRPr sz="2400"/>
            </a:lvl1pPr>
            <a:lvl2pPr marL="228600" indent="457200">
              <a:buClrTx/>
              <a:buSzTx/>
              <a:buFontTx/>
              <a:buNone/>
              <a:defRPr sz="2400"/>
            </a:lvl2pPr>
            <a:lvl3pPr marL="228600" indent="914400">
              <a:buClrTx/>
              <a:buSzTx/>
              <a:buFontTx/>
              <a:buNone/>
              <a:defRPr sz="2400"/>
            </a:lvl3pPr>
            <a:lvl4pPr marL="228600" indent="1371600">
              <a:buClrTx/>
              <a:buSzTx/>
              <a:buFontTx/>
              <a:buNone/>
              <a:defRPr sz="2400"/>
            </a:lvl4pPr>
            <a:lvl5pPr marL="228600" indent="1828800">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48" name="Google Shape;112;p46"/>
          <p:cNvSpPr>
            <a:spLocks noGrp="1"/>
          </p:cNvSpPr>
          <p:nvPr>
            <p:ph type="pic" sz="quarter" idx="21"/>
          </p:nvPr>
        </p:nvSpPr>
        <p:spPr>
          <a:xfrm>
            <a:off x="688617" y="2362200"/>
            <a:ext cx="3451583"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49" name="Google Shape;113;p46"/>
          <p:cNvSpPr txBox="1">
            <a:spLocks noGrp="1"/>
          </p:cNvSpPr>
          <p:nvPr>
            <p:ph type="body" sz="quarter" idx="22"/>
          </p:nvPr>
        </p:nvSpPr>
        <p:spPr>
          <a:xfrm>
            <a:off x="688617" y="4873764"/>
            <a:ext cx="3451583" cy="1344922"/>
          </a:xfrm>
          <a:prstGeom prst="rect">
            <a:avLst/>
          </a:prstGeom>
        </p:spPr>
        <p:txBody>
          <a:bodyPr/>
          <a:lstStyle/>
          <a:p>
            <a:pPr marL="228600" indent="0">
              <a:buClrTx/>
              <a:buSzTx/>
              <a:buFontTx/>
              <a:buNone/>
              <a:defRPr sz="1400"/>
            </a:pPr>
            <a:endParaRPr/>
          </a:p>
        </p:txBody>
      </p:sp>
      <p:sp>
        <p:nvSpPr>
          <p:cNvPr id="150" name="Google Shape;114;p46"/>
          <p:cNvSpPr txBox="1">
            <a:spLocks noGrp="1"/>
          </p:cNvSpPr>
          <p:nvPr>
            <p:ph type="body" sz="quarter" idx="23"/>
          </p:nvPr>
        </p:nvSpPr>
        <p:spPr>
          <a:xfrm>
            <a:off x="4374262" y="4191000"/>
            <a:ext cx="3448935" cy="682766"/>
          </a:xfrm>
          <a:prstGeom prst="rect">
            <a:avLst/>
          </a:prstGeom>
        </p:spPr>
        <p:txBody>
          <a:bodyPr anchor="b"/>
          <a:lstStyle/>
          <a:p>
            <a:pPr marL="228600" indent="0">
              <a:buClrTx/>
              <a:buSzTx/>
              <a:buFontTx/>
              <a:buNone/>
              <a:defRPr sz="2400"/>
            </a:pPr>
            <a:endParaRPr/>
          </a:p>
        </p:txBody>
      </p:sp>
      <p:sp>
        <p:nvSpPr>
          <p:cNvPr id="151" name="Google Shape;115;p46"/>
          <p:cNvSpPr>
            <a:spLocks noGrp="1"/>
          </p:cNvSpPr>
          <p:nvPr>
            <p:ph type="pic" sz="quarter" idx="24"/>
          </p:nvPr>
        </p:nvSpPr>
        <p:spPr>
          <a:xfrm>
            <a:off x="4374262" y="2362200"/>
            <a:ext cx="3448937"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52" name="Google Shape;116;p46"/>
          <p:cNvSpPr txBox="1">
            <a:spLocks noGrp="1"/>
          </p:cNvSpPr>
          <p:nvPr>
            <p:ph type="body" sz="quarter" idx="25"/>
          </p:nvPr>
        </p:nvSpPr>
        <p:spPr>
          <a:xfrm>
            <a:off x="4374264" y="4873762"/>
            <a:ext cx="3448935" cy="1344922"/>
          </a:xfrm>
          <a:prstGeom prst="rect">
            <a:avLst/>
          </a:prstGeom>
        </p:spPr>
        <p:txBody>
          <a:bodyPr/>
          <a:lstStyle/>
          <a:p>
            <a:pPr marL="228600" indent="0">
              <a:buClrTx/>
              <a:buSzTx/>
              <a:buFontTx/>
              <a:buNone/>
              <a:defRPr sz="1400"/>
            </a:pPr>
            <a:endParaRPr/>
          </a:p>
        </p:txBody>
      </p:sp>
      <p:sp>
        <p:nvSpPr>
          <p:cNvPr id="153" name="Google Shape;117;p46"/>
          <p:cNvSpPr txBox="1">
            <a:spLocks noGrp="1"/>
          </p:cNvSpPr>
          <p:nvPr>
            <p:ph type="body" sz="quarter" idx="26"/>
          </p:nvPr>
        </p:nvSpPr>
        <p:spPr>
          <a:xfrm>
            <a:off x="8049731" y="4191000"/>
            <a:ext cx="3456469" cy="682766"/>
          </a:xfrm>
          <a:prstGeom prst="rect">
            <a:avLst/>
          </a:prstGeom>
        </p:spPr>
        <p:txBody>
          <a:bodyPr anchor="b"/>
          <a:lstStyle/>
          <a:p>
            <a:pPr marL="228600" indent="0">
              <a:buClrTx/>
              <a:buSzTx/>
              <a:buFontTx/>
              <a:buNone/>
              <a:defRPr sz="2400"/>
            </a:pPr>
            <a:endParaRPr/>
          </a:p>
        </p:txBody>
      </p:sp>
      <p:sp>
        <p:nvSpPr>
          <p:cNvPr id="154" name="Google Shape;118;p46"/>
          <p:cNvSpPr>
            <a:spLocks noGrp="1"/>
          </p:cNvSpPr>
          <p:nvPr>
            <p:ph type="pic" sz="quarter" idx="27"/>
          </p:nvPr>
        </p:nvSpPr>
        <p:spPr>
          <a:xfrm>
            <a:off x="8049855" y="2362200"/>
            <a:ext cx="3447879"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55" name="Google Shape;119;p46"/>
          <p:cNvSpPr txBox="1">
            <a:spLocks noGrp="1"/>
          </p:cNvSpPr>
          <p:nvPr>
            <p:ph type="body" sz="quarter" idx="28"/>
          </p:nvPr>
        </p:nvSpPr>
        <p:spPr>
          <a:xfrm>
            <a:off x="8049731" y="4873761"/>
            <a:ext cx="3452446" cy="1344922"/>
          </a:xfrm>
          <a:prstGeom prst="rect">
            <a:avLst/>
          </a:prstGeom>
        </p:spPr>
        <p:txBody>
          <a:bodyPr/>
          <a:lstStyle/>
          <a:p>
            <a:pPr marL="228600" indent="0">
              <a:buClrTx/>
              <a:buSzTx/>
              <a:buFontTx/>
              <a:buNone/>
              <a:defRPr sz="1400"/>
            </a:pPr>
            <a:endParaRPr/>
          </a:p>
        </p:txBody>
      </p:sp>
      <p:sp>
        <p:nvSpPr>
          <p:cNvPr id="1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63"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164" name="Body Level One…"/>
          <p:cNvSpPr txBox="1">
            <a:spLocks noGrp="1"/>
          </p:cNvSpPr>
          <p:nvPr>
            <p:ph type="body" idx="1"/>
          </p:nvPr>
        </p:nvSpPr>
        <p:spPr>
          <a:xfrm rot="5400000">
            <a:off x="4083937" y="-1203579"/>
            <a:ext cx="4024126" cy="10820401"/>
          </a:xfrm>
          <a:prstGeom prst="rect">
            <a:avLst/>
          </a:prstGeom>
        </p:spPr>
        <p:txBody>
          <a:bodyPr/>
          <a:lstStyle>
            <a:lvl1pPr indent="-342900"/>
            <a:lvl2pPr marL="948689" indent="-377189"/>
            <a:lvl4pPr marL="1957387" indent="-471487"/>
            <a:lvl5pPr marL="2414587" indent="-471487"/>
          </a:lstStyle>
          <a:p>
            <a:r>
              <a:t>Body Level One</a:t>
            </a:r>
          </a:p>
          <a:p>
            <a:pPr lvl="1"/>
            <a:r>
              <a:t>Body Level Two</a:t>
            </a:r>
          </a:p>
          <a:p>
            <a:pPr lvl="2"/>
            <a:r>
              <a:t>Body Level Three</a:t>
            </a:r>
          </a:p>
          <a:p>
            <a:pPr lvl="3"/>
            <a:r>
              <a:t>Body Level Four</a:t>
            </a:r>
          </a:p>
          <a:p>
            <a:pPr lvl="4"/>
            <a:r>
              <a:t>Body Level Five</a:t>
            </a:r>
          </a:p>
        </p:txBody>
      </p:sp>
      <p:sp>
        <p:nvSpPr>
          <p:cNvPr id="165" name="Google Shape;130;p47"/>
          <p:cNvSpPr>
            <a:spLocks noGrp="1"/>
          </p:cNvSpPr>
          <p:nvPr>
            <p:ph type="pic" sz="quarter" idx="21"/>
          </p:nvPr>
        </p:nvSpPr>
        <p:spPr>
          <a:xfrm>
            <a:off x="471487" y="370415"/>
            <a:ext cx="1543051" cy="1243013"/>
          </a:xfrm>
          <a:prstGeom prst="rect">
            <a:avLst/>
          </a:prstGeom>
        </p:spPr>
        <p:txBody>
          <a:bodyPr lIns="91439" tIns="45719" rIns="91439" bIns="45719">
            <a:noAutofit/>
          </a:bodyPr>
          <a:lstStyle/>
          <a:p>
            <a:endParaRPr/>
          </a:p>
        </p:txBody>
      </p:sp>
      <p:sp>
        <p:nvSpPr>
          <p:cNvPr id="1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spTree>
      <p:nvGrpSpPr>
        <p:cNvPr id="1" name=""/>
        <p:cNvGrpSpPr/>
        <p:nvPr/>
      </p:nvGrpSpPr>
      <p:grpSpPr>
        <a:xfrm>
          <a:off x="0" y="0"/>
          <a:ext cx="0" cy="0"/>
          <a:chOff x="0" y="0"/>
          <a:chExt cx="0" cy="0"/>
        </a:xfrm>
      </p:grpSpPr>
      <p:sp>
        <p:nvSpPr>
          <p:cNvPr id="173" name="Title Text"/>
          <p:cNvSpPr txBox="1">
            <a:spLocks noGrp="1"/>
          </p:cNvSpPr>
          <p:nvPr>
            <p:ph type="title"/>
          </p:nvPr>
        </p:nvSpPr>
        <p:spPr>
          <a:xfrm rot="5400000">
            <a:off x="8525933" y="1667933"/>
            <a:ext cx="3903134" cy="2057401"/>
          </a:xfrm>
          <a:prstGeom prst="rect">
            <a:avLst/>
          </a:prstGeom>
        </p:spPr>
        <p:txBody>
          <a:bodyPr/>
          <a:lstStyle>
            <a:lvl1pPr algn="l"/>
          </a:lstStyle>
          <a:p>
            <a:r>
              <a:t>Title Text</a:t>
            </a:r>
          </a:p>
        </p:txBody>
      </p:sp>
      <p:sp>
        <p:nvSpPr>
          <p:cNvPr id="174" name="Body Level One…"/>
          <p:cNvSpPr txBox="1">
            <a:spLocks noGrp="1"/>
          </p:cNvSpPr>
          <p:nvPr>
            <p:ph type="body" sz="half" idx="1"/>
          </p:nvPr>
        </p:nvSpPr>
        <p:spPr>
          <a:xfrm rot="5400000">
            <a:off x="3175000" y="-1405468"/>
            <a:ext cx="3903134" cy="8204202"/>
          </a:xfrm>
          <a:prstGeom prst="rect">
            <a:avLst/>
          </a:prstGeom>
        </p:spPr>
        <p:txBody>
          <a:bodyPr/>
          <a:lstStyle>
            <a:lvl1pPr indent="-342900"/>
            <a:lvl2pPr marL="948689" indent="-377189"/>
            <a:lvl4pPr marL="1957387" indent="-471487"/>
            <a:lvl5pPr marL="2414587" indent="-471487"/>
          </a:lstStyle>
          <a:p>
            <a:r>
              <a:t>Body Level One</a:t>
            </a:r>
          </a:p>
          <a:p>
            <a:pPr lvl="1"/>
            <a:r>
              <a:t>Body Level Two</a:t>
            </a:r>
          </a:p>
          <a:p>
            <a:pPr lvl="2"/>
            <a:r>
              <a:t>Body Level Three</a:t>
            </a:r>
          </a:p>
          <a:p>
            <a:pPr lvl="3"/>
            <a:r>
              <a:t>Body Level Four</a:t>
            </a:r>
          </a:p>
          <a:p>
            <a:pPr lvl="4"/>
            <a:r>
              <a:t>Body Level Five</a:t>
            </a:r>
          </a:p>
        </p:txBody>
      </p:sp>
      <p:sp>
        <p:nvSpPr>
          <p:cNvPr id="1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Google Shape;60;p39" descr="Google Shape;60;p39"/>
          <p:cNvPicPr>
            <a:picLocks noChangeAspect="1"/>
          </p:cNvPicPr>
          <p:nvPr/>
        </p:nvPicPr>
        <p:blipFill>
          <a:blip r:embed="rId18"/>
          <a:stretch>
            <a:fillRect/>
          </a:stretch>
        </p:blipFill>
        <p:spPr>
          <a:xfrm>
            <a:off x="600513" y="192977"/>
            <a:ext cx="1542174" cy="1237889"/>
          </a:xfrm>
          <a:prstGeom prst="rect">
            <a:avLst/>
          </a:prstGeom>
          <a:ln w="12700">
            <a:miter lim="400000"/>
          </a:ln>
        </p:spPr>
      </p:pic>
      <p:sp>
        <p:nvSpPr>
          <p:cNvPr id="3"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261333" y="441662"/>
            <a:ext cx="244868" cy="243801"/>
          </a:xfrm>
          <a:prstGeom prst="rect">
            <a:avLst/>
          </a:prstGeom>
          <a:ln w="12700">
            <a:miter lim="400000"/>
          </a:ln>
        </p:spPr>
        <p:txBody>
          <a:bodyPr wrap="none" lIns="45699" tIns="45699" rIns="45699" bIns="45699" anchor="ctr">
            <a:spAutoFit/>
          </a:bodyPr>
          <a:lstStyle>
            <a:lvl1pPr algn="r">
              <a:defRPr sz="1000">
                <a:solidFill>
                  <a:srgbClr val="FFFFFF"/>
                </a:solidFill>
                <a:latin typeface="Century Gothic"/>
                <a:ea typeface="Century Gothic"/>
                <a:cs typeface="Century Gothic"/>
                <a:sym typeface="Century Gothic"/>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9pPr>
    </p:titleStyle>
    <p:bodyStyle>
      <a:lvl1pPr marL="457200" marR="0" indent="-368300"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1pPr>
      <a:lvl2pPr marL="949960" marR="0" indent="-391160"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2pPr>
      <a:lvl3pPr marL="1447800" marR="0" indent="-419100"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3pPr>
      <a:lvl4pPr marL="19526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4pPr>
      <a:lvl5pPr marL="24098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5pPr>
      <a:lvl6pPr marL="28670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6pPr>
      <a:lvl7pPr marL="33242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7pPr>
      <a:lvl8pPr marL="37814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8pPr>
      <a:lvl9pPr marL="42386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Dave_Fridmann" TargetMode="External"/><Relationship Id="rId2" Type="http://schemas.openxmlformats.org/officeDocument/2006/relationships/hyperlink" Target="https://en.wikipedia.org/wiki/Phantom_Planet_(album)#cite_note-1" TargetMode="Externa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Google Shape;141;p1"/>
          <p:cNvSpPr txBox="1">
            <a:spLocks noGrp="1"/>
          </p:cNvSpPr>
          <p:nvPr>
            <p:ph type="ctrTitle"/>
          </p:nvPr>
        </p:nvSpPr>
        <p:spPr>
          <a:xfrm>
            <a:off x="2209800" y="1603904"/>
            <a:ext cx="9448800" cy="1825096"/>
          </a:xfrm>
          <a:prstGeom prst="rect">
            <a:avLst/>
          </a:prstGeom>
        </p:spPr>
        <p:txBody>
          <a:bodyPr/>
          <a:lstStyle>
            <a:lvl1pPr defTabSz="896111">
              <a:defRPr sz="5880"/>
            </a:lvl1pPr>
          </a:lstStyle>
          <a:p>
            <a:r>
              <a:t>EXECUTIVE COUNCIL MEETING</a:t>
            </a:r>
          </a:p>
        </p:txBody>
      </p:sp>
      <p:sp>
        <p:nvSpPr>
          <p:cNvPr id="185" name="Google Shape;142;p1"/>
          <p:cNvSpPr txBox="1">
            <a:spLocks noGrp="1"/>
          </p:cNvSpPr>
          <p:nvPr>
            <p:ph type="subTitle" sz="quarter" idx="1"/>
          </p:nvPr>
        </p:nvSpPr>
        <p:spPr>
          <a:xfrm>
            <a:off x="2209800" y="5608339"/>
            <a:ext cx="9448800" cy="756746"/>
          </a:xfrm>
          <a:prstGeom prst="rect">
            <a:avLst/>
          </a:prstGeom>
        </p:spPr>
        <p:txBody>
          <a:bodyPr/>
          <a:lstStyle/>
          <a:p>
            <a:pPr marL="0" indent="0">
              <a:lnSpc>
                <a:spcPct val="80000"/>
              </a:lnSpc>
            </a:pPr>
            <a:r>
              <a:rPr dirty="0"/>
              <a:t>Ma</a:t>
            </a:r>
            <a:r>
              <a:rPr lang="en-US" dirty="0"/>
              <a:t>y 22</a:t>
            </a:r>
            <a:r>
              <a:rPr dirty="0"/>
              <a:t>, 2025                                                                         </a:t>
            </a:r>
          </a:p>
          <a:p>
            <a:pPr marL="0" indent="0">
              <a:lnSpc>
                <a:spcPct val="80000"/>
              </a:lnSpc>
            </a:pPr>
            <a:r>
              <a:rPr lang="en-US" dirty="0"/>
              <a:t>Lucas Womack</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oogle Shape;147;p2"/>
          <p:cNvSpPr txBox="1">
            <a:spLocks noGrp="1"/>
          </p:cNvSpPr>
          <p:nvPr>
            <p:ph type="title"/>
          </p:nvPr>
        </p:nvSpPr>
        <p:spPr>
          <a:xfrm>
            <a:off x="2895600" y="764373"/>
            <a:ext cx="8610600" cy="1293028"/>
          </a:xfrm>
          <a:prstGeom prst="rect">
            <a:avLst/>
          </a:prstGeom>
        </p:spPr>
        <p:txBody>
          <a:bodyPr/>
          <a:lstStyle/>
          <a:p>
            <a:r>
              <a:t>AGENDA</a:t>
            </a:r>
          </a:p>
        </p:txBody>
      </p:sp>
      <p:sp>
        <p:nvSpPr>
          <p:cNvPr id="188" name="Google Shape;148;p2"/>
          <p:cNvSpPr txBox="1">
            <a:spLocks noGrp="1"/>
          </p:cNvSpPr>
          <p:nvPr>
            <p:ph type="body" idx="1"/>
          </p:nvPr>
        </p:nvSpPr>
        <p:spPr>
          <a:prstGeom prst="rect">
            <a:avLst/>
          </a:prstGeom>
        </p:spPr>
        <p:txBody>
          <a:bodyPr/>
          <a:lstStyle/>
          <a:p>
            <a:pPr marL="99377" indent="29845">
              <a:lnSpc>
                <a:spcPct val="70000"/>
              </a:lnSpc>
              <a:spcBef>
                <a:spcPts val="0"/>
              </a:spcBef>
              <a:buSzTx/>
              <a:buNone/>
            </a:pPr>
            <a:endParaRPr sz="2000" dirty="0"/>
          </a:p>
          <a:p>
            <a:pPr marL="228600" indent="-228600">
              <a:lnSpc>
                <a:spcPct val="70000"/>
              </a:lnSpc>
              <a:spcBef>
                <a:spcPts val="0"/>
              </a:spcBef>
              <a:buSzPts val="2000"/>
              <a:defRPr sz="2000"/>
            </a:pPr>
            <a:r>
              <a:rPr dirty="0"/>
              <a:t>Call to Order</a:t>
            </a:r>
          </a:p>
          <a:p>
            <a:pPr marL="0" indent="0">
              <a:lnSpc>
                <a:spcPct val="70000"/>
              </a:lnSpc>
              <a:spcBef>
                <a:spcPts val="0"/>
              </a:spcBef>
              <a:buSzTx/>
              <a:buNone/>
            </a:pPr>
            <a:endParaRPr sz="2000" dirty="0"/>
          </a:p>
          <a:p>
            <a:pPr marL="228600" indent="-228600">
              <a:lnSpc>
                <a:spcPct val="70000"/>
              </a:lnSpc>
              <a:spcBef>
                <a:spcPts val="0"/>
              </a:spcBef>
              <a:buSzPts val="2000"/>
              <a:defRPr sz="2000"/>
            </a:pPr>
            <a:r>
              <a:rPr dirty="0"/>
              <a:t>Cocktail Presentation</a:t>
            </a:r>
          </a:p>
          <a:p>
            <a:pPr marL="228600" indent="-228600">
              <a:lnSpc>
                <a:spcPct val="70000"/>
              </a:lnSpc>
              <a:buSzPts val="2000"/>
              <a:defRPr sz="2000"/>
            </a:pPr>
            <a:r>
              <a:rPr dirty="0"/>
              <a:t>Warm-up Album One Presentation</a:t>
            </a:r>
          </a:p>
          <a:p>
            <a:pPr marL="228600" indent="-228600">
              <a:lnSpc>
                <a:spcPct val="70000"/>
              </a:lnSpc>
              <a:buSzPts val="2000"/>
              <a:defRPr sz="2000"/>
            </a:pPr>
            <a:r>
              <a:rPr dirty="0"/>
              <a:t>Old Business: Review &amp; Approval of the Minutes</a:t>
            </a:r>
          </a:p>
          <a:p>
            <a:pPr marL="228600" indent="-228600">
              <a:lnSpc>
                <a:spcPct val="70000"/>
              </a:lnSpc>
              <a:buSzPts val="2000"/>
              <a:defRPr sz="2000"/>
            </a:pPr>
            <a:r>
              <a:rPr dirty="0"/>
              <a:t>New Business: New Music, Books, &amp; Video; New Purchases; Concerts; etc.</a:t>
            </a:r>
          </a:p>
          <a:p>
            <a:pPr marL="228600" indent="-228600">
              <a:lnSpc>
                <a:spcPct val="70000"/>
              </a:lnSpc>
              <a:buSzPts val="2000"/>
              <a:defRPr sz="2000"/>
            </a:pPr>
            <a:r>
              <a:rPr dirty="0"/>
              <a:t>Warm-up Album Two Presentation</a:t>
            </a:r>
          </a:p>
          <a:p>
            <a:pPr marL="228600" indent="-228600">
              <a:lnSpc>
                <a:spcPct val="70000"/>
              </a:lnSpc>
              <a:buSzPts val="2000"/>
              <a:defRPr sz="2000"/>
            </a:pPr>
            <a:r>
              <a:rPr dirty="0"/>
              <a:t>Musicology</a:t>
            </a:r>
          </a:p>
          <a:p>
            <a:pPr marL="228600" indent="-228600">
              <a:lnSpc>
                <a:spcPct val="70000"/>
              </a:lnSpc>
              <a:buSzPts val="2000"/>
              <a:defRPr sz="2000"/>
            </a:pPr>
            <a:r>
              <a:rPr dirty="0"/>
              <a:t>Headliner Album Presentation</a:t>
            </a:r>
          </a:p>
          <a:p>
            <a:pPr marL="228600" indent="-228600">
              <a:lnSpc>
                <a:spcPct val="70000"/>
              </a:lnSpc>
              <a:buSzPts val="2000"/>
              <a:defRPr sz="2000"/>
            </a:pPr>
            <a:r>
              <a:rPr dirty="0"/>
              <a:t>Wrap Up</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Google Shape;153;p3"/>
          <p:cNvSpPr txBox="1">
            <a:spLocks noGrp="1"/>
          </p:cNvSpPr>
          <p:nvPr>
            <p:ph type="title"/>
          </p:nvPr>
        </p:nvSpPr>
        <p:spPr>
          <a:xfrm>
            <a:off x="2895600" y="764373"/>
            <a:ext cx="8610600" cy="1293028"/>
          </a:xfrm>
          <a:prstGeom prst="rect">
            <a:avLst/>
          </a:prstGeom>
        </p:spPr>
        <p:txBody>
          <a:bodyPr/>
          <a:lstStyle/>
          <a:p>
            <a:r>
              <a:t>CALL TO ORDER</a:t>
            </a:r>
          </a:p>
        </p:txBody>
      </p:sp>
      <p:sp>
        <p:nvSpPr>
          <p:cNvPr id="191" name="Google Shape;154;p3"/>
          <p:cNvSpPr txBox="1">
            <a:spLocks noGrp="1"/>
          </p:cNvSpPr>
          <p:nvPr>
            <p:ph type="body" idx="1"/>
          </p:nvPr>
        </p:nvSpPr>
        <p:spPr>
          <a:prstGeom prst="rect">
            <a:avLst/>
          </a:prstGeom>
        </p:spPr>
        <p:txBody>
          <a:bodyPr>
            <a:normAutofit lnSpcReduction="10000"/>
          </a:bodyPr>
          <a:lstStyle/>
          <a:p>
            <a:pPr marL="228600" indent="-228600">
              <a:lnSpc>
                <a:spcPct val="80000"/>
              </a:lnSpc>
              <a:spcBef>
                <a:spcPts val="0"/>
              </a:spcBef>
            </a:pPr>
            <a:r>
              <a:rPr dirty="0"/>
              <a:t>Executive Officers</a:t>
            </a:r>
          </a:p>
          <a:p>
            <a:pPr marL="685800" lvl="1" indent="-228600">
              <a:lnSpc>
                <a:spcPct val="80000"/>
              </a:lnSpc>
              <a:spcBef>
                <a:spcPts val="500"/>
              </a:spcBef>
              <a:buSzPts val="2000"/>
              <a:defRPr sz="2000"/>
            </a:pPr>
            <a:r>
              <a:rPr dirty="0"/>
              <a:t>Chris Clement</a:t>
            </a:r>
          </a:p>
          <a:p>
            <a:pPr marL="685800" lvl="1" indent="-228600">
              <a:lnSpc>
                <a:spcPct val="80000"/>
              </a:lnSpc>
              <a:spcBef>
                <a:spcPts val="500"/>
              </a:spcBef>
              <a:buSzPts val="2000"/>
              <a:defRPr sz="2000"/>
            </a:pPr>
            <a:r>
              <a:rPr dirty="0"/>
              <a:t>Joe Ziegler</a:t>
            </a:r>
          </a:p>
          <a:p>
            <a:pPr marL="685800" lvl="1" indent="-228600">
              <a:lnSpc>
                <a:spcPct val="80000"/>
              </a:lnSpc>
              <a:spcBef>
                <a:spcPts val="500"/>
              </a:spcBef>
              <a:buSzPts val="2000"/>
              <a:defRPr sz="2000"/>
            </a:pPr>
            <a:r>
              <a:rPr dirty="0"/>
              <a:t>John Williams</a:t>
            </a:r>
          </a:p>
          <a:p>
            <a:pPr marL="228600" indent="-228600">
              <a:lnSpc>
                <a:spcPct val="80000"/>
              </a:lnSpc>
            </a:pPr>
            <a:r>
              <a:rPr dirty="0"/>
              <a:t>Janitor</a:t>
            </a:r>
          </a:p>
          <a:p>
            <a:pPr marL="685800" lvl="1" indent="-228600">
              <a:lnSpc>
                <a:spcPct val="80000"/>
              </a:lnSpc>
              <a:spcBef>
                <a:spcPts val="500"/>
              </a:spcBef>
              <a:buSzPts val="2000"/>
              <a:defRPr sz="2000"/>
            </a:pPr>
            <a:r>
              <a:rPr dirty="0"/>
              <a:t>Lucas Womack</a:t>
            </a:r>
          </a:p>
          <a:p>
            <a:pPr marL="228600" indent="-228600">
              <a:lnSpc>
                <a:spcPct val="80000"/>
              </a:lnSpc>
            </a:pPr>
            <a:r>
              <a:rPr dirty="0"/>
              <a:t>Regional Manager</a:t>
            </a:r>
          </a:p>
          <a:p>
            <a:pPr marL="685800" lvl="1" indent="-228600">
              <a:lnSpc>
                <a:spcPct val="80000"/>
              </a:lnSpc>
              <a:buSzPts val="2000"/>
              <a:defRPr sz="2000"/>
            </a:pPr>
            <a:r>
              <a:rPr dirty="0"/>
              <a:t>Adam Scott</a:t>
            </a:r>
          </a:p>
          <a:p>
            <a:pPr marL="228600" indent="-228600">
              <a:lnSpc>
                <a:spcPct val="80000"/>
              </a:lnSpc>
            </a:pPr>
            <a:r>
              <a:rPr dirty="0"/>
              <a:t>Guests</a:t>
            </a:r>
            <a:endParaRPr lang="en-US" dirty="0"/>
          </a:p>
          <a:p>
            <a:pPr marL="720089" lvl="1" indent="-228600">
              <a:lnSpc>
                <a:spcPct val="80000"/>
              </a:lnSpc>
            </a:pPr>
            <a:r>
              <a:rPr lang="en-US" dirty="0"/>
              <a:t>Adam Gorsuch</a:t>
            </a:r>
          </a:p>
          <a:p>
            <a:pPr marL="720089" lvl="1" indent="-228600">
              <a:lnSpc>
                <a:spcPct val="80000"/>
              </a:lnSpc>
            </a:pPr>
            <a:r>
              <a:rPr lang="en-US" dirty="0"/>
              <a:t>Katie Vancs</a:t>
            </a:r>
          </a:p>
          <a:p>
            <a:pPr marL="720089" lvl="1" indent="-228600">
              <a:lnSpc>
                <a:spcPct val="80000"/>
              </a:lnSpc>
            </a:pPr>
            <a:r>
              <a:rPr lang="en-US"/>
              <a:t>Chris Cedar</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oogle Shape;159;p8"/>
          <p:cNvSpPr txBox="1">
            <a:spLocks noGrp="1"/>
          </p:cNvSpPr>
          <p:nvPr>
            <p:ph type="title"/>
          </p:nvPr>
        </p:nvSpPr>
        <p:spPr>
          <a:xfrm>
            <a:off x="4722540" y="280391"/>
            <a:ext cx="6873241" cy="631372"/>
          </a:xfrm>
          <a:prstGeom prst="rect">
            <a:avLst/>
          </a:prstGeom>
        </p:spPr>
        <p:txBody>
          <a:bodyPr/>
          <a:lstStyle/>
          <a:p>
            <a:r>
              <a:t>COCKTAIL PRESENTATION</a:t>
            </a:r>
          </a:p>
        </p:txBody>
      </p:sp>
      <p:sp>
        <p:nvSpPr>
          <p:cNvPr id="194" name="Google Shape;160;p8"/>
          <p:cNvSpPr txBox="1">
            <a:spLocks noGrp="1"/>
          </p:cNvSpPr>
          <p:nvPr>
            <p:ph type="body" sz="quarter" idx="1"/>
          </p:nvPr>
        </p:nvSpPr>
        <p:spPr>
          <a:xfrm>
            <a:off x="371967" y="2542477"/>
            <a:ext cx="4678497" cy="4049709"/>
          </a:xfrm>
          <a:prstGeom prst="rect">
            <a:avLst/>
          </a:prstGeom>
        </p:spPr>
        <p:txBody>
          <a:bodyPr>
            <a:normAutofit lnSpcReduction="10000"/>
          </a:bodyPr>
          <a:lstStyle/>
          <a:p>
            <a:pPr marL="457200" indent="-228600">
              <a:buClr>
                <a:srgbClr val="FFFFFF"/>
              </a:buClr>
              <a:buSzPts val="1600"/>
              <a:buFont typeface="Arial"/>
              <a:buChar char="•"/>
            </a:pPr>
            <a:r>
              <a:rPr lang="en-US" dirty="0"/>
              <a:t>1 ounce mezcal (preferably Del Maguey Vida)</a:t>
            </a:r>
          </a:p>
          <a:p>
            <a:pPr marL="457200" indent="-228600">
              <a:buClr>
                <a:srgbClr val="FFFFFF"/>
              </a:buClr>
              <a:buSzPts val="1600"/>
              <a:buFont typeface="Arial"/>
              <a:buChar char="•"/>
            </a:pPr>
            <a:r>
              <a:rPr lang="en-US" dirty="0"/>
              <a:t>3/4 ounce Aperol</a:t>
            </a:r>
          </a:p>
          <a:p>
            <a:pPr marL="457200" indent="-228600">
              <a:buClr>
                <a:srgbClr val="FFFFFF"/>
              </a:buClr>
              <a:buSzPts val="1600"/>
              <a:buFont typeface="Arial"/>
              <a:buChar char="•"/>
            </a:pPr>
            <a:r>
              <a:rPr lang="en-US" dirty="0"/>
              <a:t>1/4 ounce maraschino liqueur (preferably </a:t>
            </a:r>
            <a:r>
              <a:rPr lang="en-US" dirty="0" err="1"/>
              <a:t>Luxardo</a:t>
            </a:r>
            <a:r>
              <a:rPr lang="en-US" dirty="0"/>
              <a:t>)</a:t>
            </a:r>
          </a:p>
          <a:p>
            <a:pPr marL="457200" indent="-228600">
              <a:buClr>
                <a:srgbClr val="FFFFFF"/>
              </a:buClr>
              <a:buSzPts val="1600"/>
              <a:buFont typeface="Arial"/>
              <a:buChar char="•"/>
            </a:pPr>
            <a:r>
              <a:rPr lang="en-US" dirty="0"/>
              <a:t>3/4 ounce lime juice, freshly squeezed</a:t>
            </a:r>
          </a:p>
          <a:p>
            <a:pPr marL="457200" indent="-228600">
              <a:buClr>
                <a:srgbClr val="FFFFFF"/>
              </a:buClr>
              <a:buSzPts val="1600"/>
              <a:buFont typeface="Arial"/>
              <a:buChar char="•"/>
            </a:pPr>
            <a:r>
              <a:rPr lang="en-US" dirty="0"/>
              <a:t>Garnish: grapefruit twist</a:t>
            </a:r>
          </a:p>
          <a:p>
            <a:pPr>
              <a:buClr>
                <a:srgbClr val="FFFFFF"/>
              </a:buClr>
              <a:buSzPts val="1600"/>
            </a:pPr>
            <a:br>
              <a:rPr lang="en-US" dirty="0"/>
            </a:br>
            <a:r>
              <a:rPr lang="en-US" dirty="0"/>
              <a:t>Steps: </a:t>
            </a:r>
          </a:p>
          <a:p>
            <a:pPr marL="571500" indent="-342900">
              <a:buClr>
                <a:srgbClr val="FFFFFF"/>
              </a:buClr>
              <a:buSzPts val="1600"/>
              <a:buAutoNum type="arabicPeriod"/>
            </a:pPr>
            <a:r>
              <a:rPr lang="en-US" dirty="0"/>
              <a:t>Add all ingredients into a shaker with ice and shake until well-chilled.</a:t>
            </a:r>
          </a:p>
          <a:p>
            <a:pPr marL="571500" indent="-342900">
              <a:buClr>
                <a:srgbClr val="FFFFFF"/>
              </a:buClr>
              <a:buSzPts val="1600"/>
              <a:buAutoNum type="arabicPeriod"/>
            </a:pPr>
            <a:r>
              <a:rPr lang="en-US" dirty="0"/>
              <a:t>Strain into a chilled coupe glass.</a:t>
            </a:r>
          </a:p>
          <a:p>
            <a:pPr marL="571500" indent="-342900">
              <a:buClr>
                <a:srgbClr val="FFFFFF"/>
              </a:buClr>
              <a:buSzPts val="1600"/>
              <a:buAutoNum type="arabicPeriod"/>
            </a:pPr>
            <a:r>
              <a:rPr lang="en-US" dirty="0"/>
              <a:t>Express the oils from a grapefruit twist over the drink, then discard the twist.</a:t>
            </a:r>
          </a:p>
        </p:txBody>
      </p:sp>
      <p:sp>
        <p:nvSpPr>
          <p:cNvPr id="195" name="Google Shape;161;p8"/>
          <p:cNvSpPr txBox="1"/>
          <p:nvPr/>
        </p:nvSpPr>
        <p:spPr>
          <a:xfrm>
            <a:off x="622918" y="1483730"/>
            <a:ext cx="3588351" cy="631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b">
            <a:normAutofit/>
          </a:bodyPr>
          <a:lstStyle>
            <a:lvl1pPr defTabSz="502920">
              <a:lnSpc>
                <a:spcPct val="90000"/>
              </a:lnSpc>
              <a:defRPr sz="1760" b="1">
                <a:solidFill>
                  <a:srgbClr val="FFFFFF"/>
                </a:solidFill>
                <a:latin typeface="Century Gothic"/>
                <a:ea typeface="Century Gothic"/>
                <a:cs typeface="Century Gothic"/>
                <a:sym typeface="Century Gothic"/>
              </a:defRPr>
            </a:lvl1pPr>
          </a:lstStyle>
          <a:p>
            <a:r>
              <a:rPr lang="en-US" dirty="0"/>
              <a:t>Division Bell</a:t>
            </a:r>
            <a:endParaRPr dirty="0"/>
          </a:p>
        </p:txBody>
      </p:sp>
      <p:pic>
        <p:nvPicPr>
          <p:cNvPr id="5" name="Picture 4">
            <a:extLst>
              <a:ext uri="{FF2B5EF4-FFF2-40B4-BE49-F238E27FC236}">
                <a16:creationId xmlns:a16="http://schemas.microsoft.com/office/drawing/2014/main" id="{1EBF6CD7-062E-0432-D8B8-910E063D4EC6}"/>
              </a:ext>
            </a:extLst>
          </p:cNvPr>
          <p:cNvPicPr>
            <a:picLocks noChangeAspect="1"/>
          </p:cNvPicPr>
          <p:nvPr/>
        </p:nvPicPr>
        <p:blipFill>
          <a:blip r:embed="rId2"/>
          <a:stretch>
            <a:fillRect/>
          </a:stretch>
        </p:blipFill>
        <p:spPr>
          <a:xfrm>
            <a:off x="6523446" y="1799480"/>
            <a:ext cx="4374830" cy="4362131"/>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Google Shape;167;p9"/>
          <p:cNvSpPr txBox="1">
            <a:spLocks noGrp="1"/>
          </p:cNvSpPr>
          <p:nvPr>
            <p:ph type="title"/>
          </p:nvPr>
        </p:nvSpPr>
        <p:spPr>
          <a:xfrm>
            <a:off x="5018047" y="520347"/>
            <a:ext cx="6488153" cy="1293028"/>
          </a:xfrm>
          <a:prstGeom prst="rect">
            <a:avLst/>
          </a:prstGeom>
        </p:spPr>
        <p:txBody>
          <a:bodyPr/>
          <a:lstStyle/>
          <a:p>
            <a:r>
              <a:t>COCKTAIL PRESENTATION</a:t>
            </a:r>
          </a:p>
        </p:txBody>
      </p:sp>
      <p:sp>
        <p:nvSpPr>
          <p:cNvPr id="199" name="Google Shape;168;p9"/>
          <p:cNvSpPr txBox="1">
            <a:spLocks noGrp="1"/>
          </p:cNvSpPr>
          <p:nvPr>
            <p:ph type="body" sz="half" idx="1"/>
          </p:nvPr>
        </p:nvSpPr>
        <p:spPr>
          <a:xfrm>
            <a:off x="685800" y="2194560"/>
            <a:ext cx="5417207" cy="4024125"/>
          </a:xfrm>
          <a:prstGeom prst="rect">
            <a:avLst/>
          </a:prstGeom>
        </p:spPr>
        <p:txBody>
          <a:bodyPr/>
          <a:lstStyle/>
          <a:p>
            <a:pPr marL="0" indent="0" defTabSz="502920">
              <a:lnSpc>
                <a:spcPct val="120000"/>
              </a:lnSpc>
              <a:spcBef>
                <a:spcPts val="0"/>
              </a:spcBef>
              <a:buSzTx/>
              <a:buNone/>
              <a:defRPr sz="1320" b="1"/>
            </a:pPr>
            <a:r>
              <a:rPr lang="en-US" dirty="0"/>
              <a:t>Division Bell</a:t>
            </a:r>
            <a:endParaRPr dirty="0"/>
          </a:p>
          <a:p>
            <a:pPr marL="0" indent="0" defTabSz="502920">
              <a:lnSpc>
                <a:spcPct val="120000"/>
              </a:lnSpc>
              <a:spcBef>
                <a:spcPts val="0"/>
              </a:spcBef>
              <a:buSzTx/>
              <a:buNone/>
              <a:defRPr sz="1320"/>
            </a:pPr>
            <a:br>
              <a:rPr lang="en-US" dirty="0"/>
            </a:br>
            <a:r>
              <a:rPr lang="en-US" dirty="0"/>
              <a:t>The Division Bell is an update to the gin-based Last Word the substitutes mezcal for gin and Aperol for Green Chartreuse. Created by Phil Ward (who also created the Oaxaca Old Fashioned) for </a:t>
            </a:r>
            <a:r>
              <a:rPr lang="en-US" dirty="0" err="1"/>
              <a:t>Mayahuel</a:t>
            </a:r>
            <a:r>
              <a:rPr lang="en-US" dirty="0"/>
              <a:t> as part of a push to add 20 tequila and mezcal drinks on the </a:t>
            </a:r>
            <a:r>
              <a:rPr lang="en-US" dirty="0" err="1"/>
              <a:t>menu.l</a:t>
            </a:r>
            <a:endParaRPr dirty="0"/>
          </a:p>
          <a:p>
            <a:pPr marL="0" indent="0" defTabSz="502920">
              <a:lnSpc>
                <a:spcPct val="120000"/>
              </a:lnSpc>
              <a:spcBef>
                <a:spcPts val="0"/>
              </a:spcBef>
              <a:buSzTx/>
              <a:buNone/>
              <a:defRPr sz="1320"/>
            </a:pPr>
            <a:endParaRPr dirty="0"/>
          </a:p>
        </p:txBody>
      </p:sp>
      <p:pic>
        <p:nvPicPr>
          <p:cNvPr id="2" name="Picture 1">
            <a:extLst>
              <a:ext uri="{FF2B5EF4-FFF2-40B4-BE49-F238E27FC236}">
                <a16:creationId xmlns:a16="http://schemas.microsoft.com/office/drawing/2014/main" id="{D1E73CB5-F3A7-70BC-07A4-F964477DA487}"/>
              </a:ext>
            </a:extLst>
          </p:cNvPr>
          <p:cNvPicPr>
            <a:picLocks noChangeAspect="1"/>
          </p:cNvPicPr>
          <p:nvPr/>
        </p:nvPicPr>
        <p:blipFill>
          <a:blip r:embed="rId2"/>
          <a:stretch>
            <a:fillRect/>
          </a:stretch>
        </p:blipFill>
        <p:spPr>
          <a:xfrm>
            <a:off x="6831790" y="1813375"/>
            <a:ext cx="4374830" cy="4362131"/>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24;p55"/>
          <p:cNvSpPr txBox="1">
            <a:spLocks noGrp="1"/>
          </p:cNvSpPr>
          <p:nvPr>
            <p:ph type="title"/>
          </p:nvPr>
        </p:nvSpPr>
        <p:spPr>
          <a:xfrm>
            <a:off x="6096000" y="385997"/>
            <a:ext cx="5353155" cy="1001928"/>
          </a:xfrm>
          <a:prstGeom prst="rect">
            <a:avLst/>
          </a:prstGeom>
        </p:spPr>
        <p:txBody>
          <a:bodyPr>
            <a:normAutofit fontScale="90000"/>
          </a:bodyPr>
          <a:lstStyle>
            <a:lvl1pPr defTabSz="877823">
              <a:defRPr sz="3839"/>
            </a:lvl1pPr>
          </a:lstStyle>
          <a:p>
            <a:r>
              <a:t>WARM-UP ALBUM ONE</a:t>
            </a:r>
          </a:p>
        </p:txBody>
      </p:sp>
      <p:sp>
        <p:nvSpPr>
          <p:cNvPr id="203" name="Google Shape;225;p55"/>
          <p:cNvSpPr txBox="1">
            <a:spLocks noGrp="1"/>
          </p:cNvSpPr>
          <p:nvPr>
            <p:ph type="body" sz="half" idx="1"/>
          </p:nvPr>
        </p:nvSpPr>
        <p:spPr>
          <a:xfrm>
            <a:off x="139950" y="1917700"/>
            <a:ext cx="6556125" cy="4048501"/>
          </a:xfrm>
          <a:prstGeom prst="rect">
            <a:avLst/>
          </a:prstGeom>
        </p:spPr>
        <p:txBody>
          <a:bodyPr/>
          <a:lstStyle/>
          <a:p>
            <a:pPr marL="0" indent="0">
              <a:spcBef>
                <a:spcPts val="0"/>
              </a:spcBef>
              <a:buSzTx/>
              <a:buNone/>
              <a:defRPr sz="2400" b="1"/>
            </a:pPr>
            <a:r>
              <a:rPr lang="en-US" dirty="0"/>
              <a:t>Nirvana - </a:t>
            </a:r>
            <a:r>
              <a:rPr lang="en-US" dirty="0" err="1"/>
              <a:t>Incesticide</a:t>
            </a:r>
            <a:endParaRPr dirty="0"/>
          </a:p>
          <a:p>
            <a:pPr marL="0" lvl="1" indent="457200">
              <a:spcBef>
                <a:spcPts val="500"/>
              </a:spcBef>
              <a:buSzTx/>
              <a:buNone/>
              <a:defRPr sz="2000"/>
            </a:pPr>
            <a:endParaRPr dirty="0"/>
          </a:p>
          <a:p>
            <a:pPr marL="685800" lvl="1" indent="-228600">
              <a:spcBef>
                <a:spcPts val="500"/>
              </a:spcBef>
              <a:buSzPts val="2000"/>
              <a:defRPr sz="2000"/>
            </a:pPr>
            <a:r>
              <a:rPr dirty="0"/>
              <a:t>Released: </a:t>
            </a:r>
            <a:r>
              <a:rPr lang="en-US" dirty="0"/>
              <a:t>December 14, 1992</a:t>
            </a:r>
            <a:endParaRPr dirty="0"/>
          </a:p>
          <a:p>
            <a:pPr marL="685800" lvl="1" indent="-228600">
              <a:spcBef>
                <a:spcPts val="500"/>
              </a:spcBef>
              <a:buSzPts val="2000"/>
              <a:defRPr sz="2000"/>
            </a:pPr>
            <a:r>
              <a:rPr dirty="0"/>
              <a:t>Recorded: </a:t>
            </a:r>
            <a:r>
              <a:rPr lang="en-US" dirty="0"/>
              <a:t>January 23, 1988 – November 9, 1991 (no studio)</a:t>
            </a:r>
            <a:endParaRPr sz="1126" baseline="31999" dirty="0">
              <a:solidFill>
                <a:srgbClr val="3366CC"/>
              </a:solidFill>
              <a:hlinkClick r:id="rId2"/>
            </a:endParaRPr>
          </a:p>
          <a:p>
            <a:pPr marL="685800" lvl="1" indent="-228600">
              <a:spcBef>
                <a:spcPts val="500"/>
              </a:spcBef>
              <a:buSzPts val="2000"/>
              <a:defRPr sz="2000"/>
            </a:pPr>
            <a:r>
              <a:rPr dirty="0"/>
              <a:t>Label: </a:t>
            </a:r>
            <a:r>
              <a:rPr lang="en-US" dirty="0"/>
              <a:t>DGC Records</a:t>
            </a:r>
            <a:endParaRPr dirty="0"/>
          </a:p>
          <a:p>
            <a:pPr marL="685800" lvl="1" indent="-228600">
              <a:spcBef>
                <a:spcPts val="500"/>
              </a:spcBef>
              <a:buSzPts val="2000"/>
              <a:defRPr sz="2000"/>
            </a:pPr>
            <a:r>
              <a:rPr dirty="0"/>
              <a:t>Producer(s):</a:t>
            </a:r>
            <a:r>
              <a:rPr lang="en-US" dirty="0"/>
              <a:t> Miti Adhikari, Dale Griffin, Jack Endino, Steve Fisk, Butch </a:t>
            </a:r>
            <a:r>
              <a:rPr lang="en-US" dirty="0" err="1"/>
              <a:t>Vig</a:t>
            </a:r>
            <a:endParaRPr u="sng" dirty="0">
              <a:solidFill>
                <a:srgbClr val="F0532B"/>
              </a:solidFill>
              <a:uFill>
                <a:solidFill>
                  <a:srgbClr val="F0532B"/>
                </a:solidFill>
              </a:uFill>
              <a:hlinkClick r:id="rId3"/>
            </a:endParaRPr>
          </a:p>
        </p:txBody>
      </p:sp>
      <p:pic>
        <p:nvPicPr>
          <p:cNvPr id="2050" name="Picture 2">
            <a:extLst>
              <a:ext uri="{FF2B5EF4-FFF2-40B4-BE49-F238E27FC236}">
                <a16:creationId xmlns:a16="http://schemas.microsoft.com/office/drawing/2014/main" id="{1CC7668A-8563-923E-1F7F-0BB7F1DAEDD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42043" y="1514218"/>
            <a:ext cx="4865579" cy="4855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Google Shape;231;p56"/>
          <p:cNvSpPr txBox="1">
            <a:spLocks noGrp="1"/>
          </p:cNvSpPr>
          <p:nvPr>
            <p:ph type="body" sz="half" idx="1"/>
          </p:nvPr>
        </p:nvSpPr>
        <p:spPr>
          <a:xfrm>
            <a:off x="244872" y="1974225"/>
            <a:ext cx="7875000" cy="4401600"/>
          </a:xfrm>
          <a:prstGeom prst="rect">
            <a:avLst/>
          </a:prstGeom>
        </p:spPr>
        <p:txBody>
          <a:bodyPr>
            <a:normAutofit lnSpcReduction="10000"/>
          </a:bodyPr>
          <a:lstStyle/>
          <a:p>
            <a:pPr marL="0" indent="0" defTabSz="557784">
              <a:spcBef>
                <a:spcPts val="0"/>
              </a:spcBef>
              <a:buSzTx/>
              <a:buNone/>
              <a:defRPr sz="1464" b="1"/>
            </a:pPr>
            <a:r>
              <a:rPr lang="en-US" sz="2400" dirty="0"/>
              <a:t>Nirvana – </a:t>
            </a:r>
            <a:r>
              <a:rPr lang="en-US" sz="2400" dirty="0" err="1"/>
              <a:t>Incesticide</a:t>
            </a:r>
            <a:endParaRPr lang="en-US" sz="2400" dirty="0"/>
          </a:p>
          <a:p>
            <a:pPr marL="0" indent="0" defTabSz="557784">
              <a:spcBef>
                <a:spcPts val="0"/>
              </a:spcBef>
              <a:buSzTx/>
              <a:buNone/>
              <a:defRPr sz="1464" b="1"/>
            </a:pPr>
            <a:endParaRPr lang="en-US" sz="2400" dirty="0"/>
          </a:p>
          <a:p>
            <a:pPr marL="571500" indent="-228600">
              <a:lnSpc>
                <a:spcPct val="70000"/>
              </a:lnSpc>
              <a:spcBef>
                <a:spcPts val="500"/>
              </a:spcBef>
              <a:buSzPts val="2000"/>
              <a:defRPr sz="2000"/>
            </a:pPr>
            <a:r>
              <a:rPr lang="en-US" sz="1900" dirty="0"/>
              <a:t>The songs that became </a:t>
            </a:r>
            <a:r>
              <a:rPr lang="en-US" sz="1900" dirty="0" err="1"/>
              <a:t>Incesticide</a:t>
            </a:r>
            <a:r>
              <a:rPr lang="en-US" sz="1900" dirty="0"/>
              <a:t> started as a catalog of unreleased songs still owned by Sub Pop records. Sub Pop considered releasing the songs as an album named Cash Cow but Nirvana felt that the release needed to release under Geffen to receive maximum exposure.  Sub Pop sold the songs to Geffen on the condition the band would release an album by Christmas. </a:t>
            </a:r>
          </a:p>
          <a:p>
            <a:pPr marL="571500" indent="-228600">
              <a:lnSpc>
                <a:spcPct val="70000"/>
              </a:lnSpc>
              <a:spcBef>
                <a:spcPts val="500"/>
              </a:spcBef>
              <a:buSzPts val="2000"/>
              <a:defRPr sz="2000"/>
            </a:pPr>
            <a:r>
              <a:rPr lang="en-US" sz="1900" dirty="0"/>
              <a:t>The songs on </a:t>
            </a:r>
            <a:r>
              <a:rPr lang="en-US" sz="1900" dirty="0" err="1"/>
              <a:t>Incesticide</a:t>
            </a:r>
            <a:r>
              <a:rPr lang="en-US" sz="1900" dirty="0"/>
              <a:t> were already circulating on concert bootleg but the band wanted to offer fans a higher quality alternative and Kurt Cobain was enticed to create the album with the promise of complete control of the albums art. </a:t>
            </a:r>
          </a:p>
          <a:p>
            <a:pPr marL="571500" indent="-228600">
              <a:lnSpc>
                <a:spcPct val="70000"/>
              </a:lnSpc>
              <a:spcBef>
                <a:spcPts val="500"/>
              </a:spcBef>
              <a:buSzPts val="2000"/>
              <a:defRPr sz="2000"/>
            </a:pPr>
            <a:r>
              <a:rPr lang="en-US" sz="1900" dirty="0"/>
              <a:t>The album itself contains a collection of </a:t>
            </a:r>
            <a:r>
              <a:rPr lang="en-US" sz="1900" dirty="0" err="1"/>
              <a:t>b-sides</a:t>
            </a:r>
            <a:r>
              <a:rPr lang="en-US" sz="1900" dirty="0"/>
              <a:t>, covers and outtakes. Since the recordings occurred over a several year period, four different drummer make an appearance (Chad Channing, Dan Peters, Dale Clover and Dave Grohl). </a:t>
            </a:r>
          </a:p>
          <a:p>
            <a:pPr marL="571500" indent="-228600">
              <a:lnSpc>
                <a:spcPct val="70000"/>
              </a:lnSpc>
              <a:spcBef>
                <a:spcPts val="500"/>
              </a:spcBef>
              <a:buSzPts val="2000"/>
              <a:defRPr sz="2000"/>
            </a:pPr>
            <a:r>
              <a:rPr lang="en-US" sz="1900" dirty="0"/>
              <a:t>Musically, many of the songs point to Nirvana’s more punk early influences and the songs often poke fun at machismo and the music industry at large. </a:t>
            </a:r>
          </a:p>
          <a:p>
            <a:pPr marL="342900" defTabSz="557784">
              <a:spcBef>
                <a:spcPts val="0"/>
              </a:spcBef>
              <a:buSzTx/>
              <a:defRPr sz="1464" b="1"/>
            </a:pPr>
            <a:endParaRPr sz="1800" i="1" dirty="0"/>
          </a:p>
          <a:p>
            <a:pPr marL="0" indent="0" defTabSz="557784">
              <a:spcBef>
                <a:spcPts val="0"/>
              </a:spcBef>
              <a:buSzTx/>
              <a:buNone/>
              <a:defRPr sz="1342"/>
            </a:pPr>
            <a:endParaRPr sz="1464" b="1" dirty="0"/>
          </a:p>
        </p:txBody>
      </p:sp>
      <p:sp>
        <p:nvSpPr>
          <p:cNvPr id="207" name="Google Shape;232;p56"/>
          <p:cNvSpPr txBox="1"/>
          <p:nvPr/>
        </p:nvSpPr>
        <p:spPr>
          <a:xfrm>
            <a:off x="6326603" y="181415"/>
            <a:ext cx="5261706" cy="1001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fontScale="92500"/>
          </a:bodyPr>
          <a:lstStyle>
            <a:lvl1pPr algn="r" defTabSz="859536">
              <a:lnSpc>
                <a:spcPct val="90000"/>
              </a:lnSpc>
              <a:defRPr sz="3759">
                <a:solidFill>
                  <a:srgbClr val="FFFFFF"/>
                </a:solidFill>
                <a:latin typeface="Century Gothic"/>
                <a:ea typeface="Century Gothic"/>
                <a:cs typeface="Century Gothic"/>
                <a:sym typeface="Century Gothic"/>
              </a:defRPr>
            </a:lvl1pPr>
          </a:lstStyle>
          <a:p>
            <a:r>
              <a:t>WARM-UP ALBUM ONE</a:t>
            </a:r>
          </a:p>
        </p:txBody>
      </p:sp>
      <p:pic>
        <p:nvPicPr>
          <p:cNvPr id="1026" name="Picture 2">
            <a:extLst>
              <a:ext uri="{FF2B5EF4-FFF2-40B4-BE49-F238E27FC236}">
                <a16:creationId xmlns:a16="http://schemas.microsoft.com/office/drawing/2014/main" id="{ED6B3D7F-49A4-12D2-CB11-5F7F7E1C88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2861" y="1596864"/>
            <a:ext cx="3793503" cy="3785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7C91-52B9-B8AC-85DF-2326CCCC7306}"/>
            </a:ext>
          </a:extLst>
        </p:cNvPr>
        <p:cNvGrpSpPr/>
        <p:nvPr/>
      </p:nvGrpSpPr>
      <p:grpSpPr>
        <a:xfrm>
          <a:off x="0" y="0"/>
          <a:ext cx="0" cy="0"/>
          <a:chOff x="0" y="0"/>
          <a:chExt cx="0" cy="0"/>
        </a:xfrm>
      </p:grpSpPr>
      <p:sp>
        <p:nvSpPr>
          <p:cNvPr id="206" name="Google Shape;231;p56">
            <a:extLst>
              <a:ext uri="{FF2B5EF4-FFF2-40B4-BE49-F238E27FC236}">
                <a16:creationId xmlns:a16="http://schemas.microsoft.com/office/drawing/2014/main" id="{E08421DA-3531-2202-46E3-DF2AB3292BAF}"/>
              </a:ext>
            </a:extLst>
          </p:cNvPr>
          <p:cNvSpPr txBox="1">
            <a:spLocks noGrp="1"/>
          </p:cNvSpPr>
          <p:nvPr>
            <p:ph type="body" sz="half" idx="1"/>
          </p:nvPr>
        </p:nvSpPr>
        <p:spPr>
          <a:xfrm>
            <a:off x="244872" y="1974225"/>
            <a:ext cx="7476602" cy="4401600"/>
          </a:xfrm>
          <a:prstGeom prst="rect">
            <a:avLst/>
          </a:prstGeom>
        </p:spPr>
        <p:txBody>
          <a:bodyPr/>
          <a:lstStyle/>
          <a:p>
            <a:pPr marL="0" indent="0" defTabSz="557784">
              <a:spcBef>
                <a:spcPts val="0"/>
              </a:spcBef>
              <a:buSzTx/>
              <a:buNone/>
              <a:defRPr sz="1464" b="1"/>
            </a:pPr>
            <a:r>
              <a:rPr lang="en-US" sz="2400" dirty="0"/>
              <a:t>Nirvana – Interlude</a:t>
            </a:r>
          </a:p>
          <a:p>
            <a:pPr marL="0" indent="0" defTabSz="557784">
              <a:spcBef>
                <a:spcPts val="0"/>
              </a:spcBef>
              <a:buSzTx/>
              <a:buNone/>
              <a:defRPr sz="1464" b="1"/>
            </a:pPr>
            <a:endParaRPr lang="en-US" sz="2400" dirty="0"/>
          </a:p>
          <a:p>
            <a:pPr marL="0" indent="0" defTabSz="557784">
              <a:spcBef>
                <a:spcPts val="0"/>
              </a:spcBef>
              <a:buSzTx/>
              <a:buNone/>
              <a:defRPr sz="1464" b="1"/>
            </a:pPr>
            <a:r>
              <a:rPr lang="en-US" sz="2400" dirty="0"/>
              <a:t>Verse Chorus Verse / Sappy</a:t>
            </a:r>
            <a:endParaRPr sz="2400" dirty="0"/>
          </a:p>
          <a:p>
            <a:pPr marL="0" indent="0" defTabSz="557784">
              <a:spcBef>
                <a:spcPts val="0"/>
              </a:spcBef>
              <a:buSzTx/>
              <a:buNone/>
              <a:defRPr sz="1342"/>
            </a:pPr>
            <a:endParaRPr sz="1464" b="1" dirty="0"/>
          </a:p>
        </p:txBody>
      </p:sp>
      <p:sp>
        <p:nvSpPr>
          <p:cNvPr id="207" name="Google Shape;232;p56">
            <a:extLst>
              <a:ext uri="{FF2B5EF4-FFF2-40B4-BE49-F238E27FC236}">
                <a16:creationId xmlns:a16="http://schemas.microsoft.com/office/drawing/2014/main" id="{E2195ACD-55CB-6A4C-1663-481D47FABA30}"/>
              </a:ext>
            </a:extLst>
          </p:cNvPr>
          <p:cNvSpPr txBox="1"/>
          <p:nvPr/>
        </p:nvSpPr>
        <p:spPr>
          <a:xfrm>
            <a:off x="6326603" y="181415"/>
            <a:ext cx="5261706" cy="1001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fontScale="92500"/>
          </a:bodyPr>
          <a:lstStyle>
            <a:lvl1pPr algn="r" defTabSz="859536">
              <a:lnSpc>
                <a:spcPct val="90000"/>
              </a:lnSpc>
              <a:defRPr sz="3759">
                <a:solidFill>
                  <a:srgbClr val="FFFFFF"/>
                </a:solidFill>
                <a:latin typeface="Century Gothic"/>
                <a:ea typeface="Century Gothic"/>
                <a:cs typeface="Century Gothic"/>
                <a:sym typeface="Century Gothic"/>
              </a:defRPr>
            </a:lvl1pPr>
          </a:lstStyle>
          <a:p>
            <a:r>
              <a:t>WARM-UP ALBUM ONE</a:t>
            </a:r>
          </a:p>
        </p:txBody>
      </p:sp>
      <p:pic>
        <p:nvPicPr>
          <p:cNvPr id="7170" name="Picture 2" descr="No Alternative (1994-10-20)">
            <a:extLst>
              <a:ext uri="{FF2B5EF4-FFF2-40B4-BE49-F238E27FC236}">
                <a16:creationId xmlns:a16="http://schemas.microsoft.com/office/drawing/2014/main" id="{14472BC7-062E-7FA3-8A70-1CC478827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9263" y="1504949"/>
            <a:ext cx="4796386" cy="4733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07957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Google Shape;187;p7"/>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1" name="Google Shape;188;p7"/>
          <p:cNvSpPr txBox="1">
            <a:spLocks noGrp="1"/>
          </p:cNvSpPr>
          <p:nvPr>
            <p:ph type="body" idx="1"/>
          </p:nvPr>
        </p:nvSpPr>
        <p:spPr>
          <a:xfrm>
            <a:off x="329784" y="2194560"/>
            <a:ext cx="11647358" cy="4568190"/>
          </a:xfrm>
          <a:prstGeom prst="rect">
            <a:avLst/>
          </a:prstGeom>
        </p:spPr>
        <p:txBody>
          <a:bodyPr>
            <a:normAutofit fontScale="92500" lnSpcReduction="10000"/>
          </a:bodyPr>
          <a:lstStyle/>
          <a:p>
            <a:pPr marL="89809" indent="0" defTabSz="804672">
              <a:lnSpc>
                <a:spcPct val="81000"/>
              </a:lnSpc>
              <a:spcBef>
                <a:spcPts val="800"/>
              </a:spcBef>
              <a:buSzPct val="59800"/>
              <a:buNone/>
              <a:defRPr sz="2904"/>
            </a:pPr>
            <a:r>
              <a:rPr dirty="0"/>
              <a:t>VCL </a:t>
            </a:r>
            <a:r>
              <a:rPr lang="en-US" dirty="0"/>
              <a:t>3/13</a:t>
            </a:r>
            <a:r>
              <a:rPr dirty="0"/>
              <a:t>/2025 </a:t>
            </a:r>
            <a:r>
              <a:rPr lang="en-US" dirty="0"/>
              <a:t>Notes</a:t>
            </a:r>
            <a:endParaRPr sz="792" dirty="0"/>
          </a:p>
          <a:p>
            <a:pPr marL="0" indent="100584" defTabSz="804672">
              <a:lnSpc>
                <a:spcPct val="81000"/>
              </a:lnSpc>
              <a:spcBef>
                <a:spcPts val="800"/>
              </a:spcBef>
              <a:buSzTx/>
              <a:buNone/>
              <a:defRPr sz="1496"/>
            </a:pPr>
            <a:endParaRPr lang="en-US" sz="3784" dirty="0"/>
          </a:p>
          <a:p>
            <a:pPr rtl="0" fontAlgn="ctr">
              <a:buFont typeface="Arial" panose="020B0604020202020204" pitchFamily="34" charset="0"/>
              <a:buChar char="•"/>
            </a:pPr>
            <a:r>
              <a:rPr lang="en-US" sz="2000" dirty="0">
                <a:effectLst/>
                <a:latin typeface="Calibri" panose="020F0502020204030204" pitchFamily="34" charset="0"/>
              </a:rPr>
              <a:t>Chris' Yard flooded in Coldwater</a:t>
            </a:r>
          </a:p>
          <a:p>
            <a:pPr rtl="0" fontAlgn="ctr">
              <a:buFont typeface="Arial" panose="020B0604020202020204" pitchFamily="34" charset="0"/>
              <a:buChar char="•"/>
            </a:pPr>
            <a:r>
              <a:rPr lang="en-US" sz="2000" dirty="0">
                <a:effectLst/>
                <a:latin typeface="Calibri" panose="020F0502020204030204" pitchFamily="34" charset="0"/>
              </a:rPr>
              <a:t>There was a beer/whiskey tasting. Chris got </a:t>
            </a:r>
            <a:r>
              <a:rPr lang="en-US" sz="2000" dirty="0" err="1">
                <a:effectLst/>
                <a:latin typeface="Calibri" panose="020F0502020204030204" pitchFamily="34" charset="0"/>
              </a:rPr>
              <a:t>Brewdog</a:t>
            </a:r>
            <a:r>
              <a:rPr lang="en-US" sz="2000" dirty="0">
                <a:effectLst/>
                <a:latin typeface="Calibri" panose="020F0502020204030204" pitchFamily="34" charset="0"/>
              </a:rPr>
              <a:t> wrong</a:t>
            </a:r>
          </a:p>
          <a:p>
            <a:pPr rtl="0" fontAlgn="ctr">
              <a:buFont typeface="Arial" panose="020B0604020202020204" pitchFamily="34" charset="0"/>
              <a:buChar char="•"/>
            </a:pPr>
            <a:r>
              <a:rPr lang="en-US" sz="2000" dirty="0">
                <a:effectLst/>
                <a:latin typeface="Calibri" panose="020F0502020204030204" pitchFamily="34" charset="0"/>
              </a:rPr>
              <a:t>Long View Sound Updates</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Updates to the sound system at Chris' place has made sound/skipping much better. </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Chris is concerned about echo in the basement. Considering sound dampening. </a:t>
            </a:r>
          </a:p>
          <a:p>
            <a:pPr marL="1143000" lvl="2" indent="-228600" rtl="0" fontAlgn="ctr">
              <a:buFont typeface="Arial" panose="020B0604020202020204" pitchFamily="34" charset="0"/>
              <a:buChar char="•"/>
            </a:pPr>
            <a:r>
              <a:rPr lang="en-US" sz="2000" dirty="0">
                <a:effectLst/>
                <a:latin typeface="Calibri" panose="020F0502020204030204" pitchFamily="34" charset="0"/>
              </a:rPr>
              <a:t>Joe: Shut the fuck about it. Unless you're trying to be an audiophile. (Chris says he is)</a:t>
            </a:r>
          </a:p>
          <a:p>
            <a:pPr marL="1600200" lvl="3" indent="-228600" rtl="0" fontAlgn="ctr">
              <a:buFont typeface="Arial" panose="020B0604020202020204" pitchFamily="34" charset="0"/>
              <a:buChar char="§"/>
            </a:pPr>
            <a:r>
              <a:rPr lang="en-US" sz="2000" dirty="0">
                <a:effectLst/>
                <a:latin typeface="Calibri" panose="020F0502020204030204" pitchFamily="34" charset="0"/>
              </a:rPr>
              <a:t>A lot of wood and the wood makes it warm. This is good. </a:t>
            </a:r>
          </a:p>
          <a:p>
            <a:pPr rtl="0" fontAlgn="ctr">
              <a:buFont typeface="Arial" panose="020B0604020202020204" pitchFamily="34" charset="0"/>
              <a:buChar char="•"/>
            </a:pPr>
            <a:r>
              <a:rPr lang="en-US" sz="2000" dirty="0">
                <a:effectLst/>
                <a:latin typeface="Calibri" panose="020F0502020204030204" pitchFamily="34" charset="0"/>
              </a:rPr>
              <a:t>Cocktail: Bubby's Barrel-Aged Manhattan</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Manhattan ingredients aged in a barrel. </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Doesn't ever last a long time.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F379-CC95-C91E-8A90-256DB45F7DE7}"/>
            </a:ext>
          </a:extLst>
        </p:cNvPr>
        <p:cNvGrpSpPr/>
        <p:nvPr/>
      </p:nvGrpSpPr>
      <p:grpSpPr>
        <a:xfrm>
          <a:off x="0" y="0"/>
          <a:ext cx="0" cy="0"/>
          <a:chOff x="0" y="0"/>
          <a:chExt cx="0" cy="0"/>
        </a:xfrm>
      </p:grpSpPr>
      <p:sp>
        <p:nvSpPr>
          <p:cNvPr id="210" name="Google Shape;187;p7">
            <a:extLst>
              <a:ext uri="{FF2B5EF4-FFF2-40B4-BE49-F238E27FC236}">
                <a16:creationId xmlns:a16="http://schemas.microsoft.com/office/drawing/2014/main" id="{4D88250B-7870-D9FE-40FC-75CA703DCC79}"/>
              </a:ext>
            </a:extLst>
          </p:cNvPr>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1" name="Google Shape;188;p7">
            <a:extLst>
              <a:ext uri="{FF2B5EF4-FFF2-40B4-BE49-F238E27FC236}">
                <a16:creationId xmlns:a16="http://schemas.microsoft.com/office/drawing/2014/main" id="{DB61F7BC-518B-F835-41BA-081F02C39E61}"/>
              </a:ext>
            </a:extLst>
          </p:cNvPr>
          <p:cNvSpPr txBox="1">
            <a:spLocks noGrp="1"/>
          </p:cNvSpPr>
          <p:nvPr>
            <p:ph type="body" idx="1"/>
          </p:nvPr>
        </p:nvSpPr>
        <p:spPr>
          <a:xfrm>
            <a:off x="272321" y="2057401"/>
            <a:ext cx="11647358" cy="4568190"/>
          </a:xfrm>
          <a:prstGeom prst="rect">
            <a:avLst/>
          </a:prstGeom>
        </p:spPr>
        <p:txBody>
          <a:bodyPr>
            <a:normAutofit/>
          </a:bodyPr>
          <a:lstStyle/>
          <a:p>
            <a:pPr marL="89809" indent="0" defTabSz="804672">
              <a:lnSpc>
                <a:spcPct val="81000"/>
              </a:lnSpc>
              <a:spcBef>
                <a:spcPts val="800"/>
              </a:spcBef>
              <a:buSzPct val="59800"/>
              <a:buNone/>
              <a:defRPr sz="2904"/>
            </a:pPr>
            <a:r>
              <a:rPr dirty="0"/>
              <a:t>VCL </a:t>
            </a:r>
            <a:r>
              <a:rPr lang="en-US" dirty="0"/>
              <a:t>3/13</a:t>
            </a:r>
            <a:r>
              <a:rPr dirty="0"/>
              <a:t>/2025 </a:t>
            </a:r>
            <a:r>
              <a:rPr lang="en-US" dirty="0"/>
              <a:t>Notes</a:t>
            </a:r>
            <a:br>
              <a:rPr lang="en-US" dirty="0"/>
            </a:br>
            <a:br>
              <a:rPr lang="en-US" dirty="0"/>
            </a:br>
            <a:endParaRPr sz="792" dirty="0"/>
          </a:p>
          <a:p>
            <a:pPr fontAlgn="ctr"/>
            <a:r>
              <a:rPr lang="en-US" sz="2000" dirty="0">
                <a:effectLst/>
                <a:latin typeface="Calibri" panose="020F0502020204030204" pitchFamily="34" charset="0"/>
              </a:rPr>
              <a:t>Warm Up 1: Phantom Planet - Phantom Planet (2004)</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Jason Schwartzman is great in Bored To Death</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Adam has watched them once opening for Hanson</a:t>
            </a:r>
          </a:p>
          <a:p>
            <a:pPr rtl="0" fontAlgn="ctr">
              <a:buFont typeface="Arial" panose="020B0604020202020204" pitchFamily="34" charset="0"/>
              <a:buChar char="•"/>
            </a:pPr>
            <a:r>
              <a:rPr lang="en-US" sz="2000" dirty="0">
                <a:effectLst/>
                <a:latin typeface="Calibri" panose="020F0502020204030204" pitchFamily="34" charset="0"/>
              </a:rPr>
              <a:t>Ringo Starr is a country artist</a:t>
            </a:r>
          </a:p>
          <a:p>
            <a:pPr rtl="0" fontAlgn="ctr">
              <a:buFont typeface="Arial" panose="020B0604020202020204" pitchFamily="34" charset="0"/>
              <a:buChar char="•"/>
            </a:pPr>
            <a:r>
              <a:rPr lang="en-US" sz="2000" dirty="0">
                <a:effectLst/>
                <a:latin typeface="Calibri" panose="020F0502020204030204" pitchFamily="34" charset="0"/>
              </a:rPr>
              <a:t>Chris likes Sturgill Simpson? </a:t>
            </a:r>
          </a:p>
          <a:p>
            <a:pPr rtl="0" fontAlgn="ctr">
              <a:buFont typeface="Arial" panose="020B0604020202020204" pitchFamily="34" charset="0"/>
              <a:buChar char="•"/>
            </a:pPr>
            <a:r>
              <a:rPr lang="en-US" sz="2000" dirty="0">
                <a:effectLst/>
                <a:latin typeface="Calibri" panose="020F0502020204030204" pitchFamily="34" charset="0"/>
              </a:rPr>
              <a:t>Warm Up 2: MGMT - Loss of Life</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These </a:t>
            </a:r>
            <a:r>
              <a:rPr lang="en-US" sz="2000" dirty="0" err="1">
                <a:effectLst/>
                <a:latin typeface="Calibri" panose="020F0502020204030204" pitchFamily="34" charset="0"/>
              </a:rPr>
              <a:t>mofos</a:t>
            </a:r>
            <a:r>
              <a:rPr lang="en-US" sz="2000" dirty="0">
                <a:effectLst/>
                <a:latin typeface="Calibri" panose="020F0502020204030204" pitchFamily="34" charset="0"/>
              </a:rPr>
              <a:t> have trust fund kid names</a:t>
            </a:r>
          </a:p>
          <a:p>
            <a:pPr rtl="0" fontAlgn="ctr">
              <a:buFont typeface="Arial" panose="020B0604020202020204" pitchFamily="34" charset="0"/>
              <a:buChar char="•"/>
            </a:pPr>
            <a:r>
              <a:rPr lang="en-US" sz="2000" dirty="0">
                <a:effectLst/>
                <a:latin typeface="Calibri" panose="020F0502020204030204" pitchFamily="34" charset="0"/>
              </a:rPr>
              <a:t>Joe would like to protest the lack of a Tears for Fears album in the Top 5</a:t>
            </a:r>
          </a:p>
          <a:p>
            <a:pPr marL="0" indent="100584" defTabSz="804672">
              <a:lnSpc>
                <a:spcPct val="81000"/>
              </a:lnSpc>
              <a:spcBef>
                <a:spcPts val="800"/>
              </a:spcBef>
              <a:buSzTx/>
              <a:buNone/>
              <a:defRPr sz="1496"/>
            </a:pPr>
            <a:endParaRPr lang="en-US" sz="3784" dirty="0"/>
          </a:p>
        </p:txBody>
      </p:sp>
    </p:spTree>
    <p:extLst>
      <p:ext uri="{BB962C8B-B14F-4D97-AF65-F5344CB8AC3E}">
        <p14:creationId xmlns:p14="http://schemas.microsoft.com/office/powerpoint/2010/main" val="101786794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3E0DF-649D-637F-7426-C8EE5C2455A5}"/>
            </a:ext>
          </a:extLst>
        </p:cNvPr>
        <p:cNvGrpSpPr/>
        <p:nvPr/>
      </p:nvGrpSpPr>
      <p:grpSpPr>
        <a:xfrm>
          <a:off x="0" y="0"/>
          <a:ext cx="0" cy="0"/>
          <a:chOff x="0" y="0"/>
          <a:chExt cx="0" cy="0"/>
        </a:xfrm>
      </p:grpSpPr>
      <p:sp>
        <p:nvSpPr>
          <p:cNvPr id="210" name="Google Shape;187;p7">
            <a:extLst>
              <a:ext uri="{FF2B5EF4-FFF2-40B4-BE49-F238E27FC236}">
                <a16:creationId xmlns:a16="http://schemas.microsoft.com/office/drawing/2014/main" id="{1489C65E-EBA2-A209-59D8-2C12DD2FF374}"/>
              </a:ext>
            </a:extLst>
          </p:cNvPr>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1" name="Google Shape;188;p7">
            <a:extLst>
              <a:ext uri="{FF2B5EF4-FFF2-40B4-BE49-F238E27FC236}">
                <a16:creationId xmlns:a16="http://schemas.microsoft.com/office/drawing/2014/main" id="{47EB1070-626E-7B89-FAD4-610BA145B7E7}"/>
              </a:ext>
            </a:extLst>
          </p:cNvPr>
          <p:cNvSpPr txBox="1">
            <a:spLocks noGrp="1"/>
          </p:cNvSpPr>
          <p:nvPr>
            <p:ph type="body" idx="1"/>
          </p:nvPr>
        </p:nvSpPr>
        <p:spPr>
          <a:xfrm>
            <a:off x="272321" y="2057401"/>
            <a:ext cx="11647358" cy="4568190"/>
          </a:xfrm>
          <a:prstGeom prst="rect">
            <a:avLst/>
          </a:prstGeom>
        </p:spPr>
        <p:txBody>
          <a:bodyPr>
            <a:normAutofit/>
          </a:bodyPr>
          <a:lstStyle/>
          <a:p>
            <a:pPr marL="89809" indent="0" defTabSz="804672">
              <a:lnSpc>
                <a:spcPct val="81000"/>
              </a:lnSpc>
              <a:spcBef>
                <a:spcPts val="800"/>
              </a:spcBef>
              <a:buSzPct val="59800"/>
              <a:buNone/>
              <a:defRPr sz="2904"/>
            </a:pPr>
            <a:r>
              <a:rPr dirty="0"/>
              <a:t>VCL </a:t>
            </a:r>
            <a:r>
              <a:rPr lang="en-US" dirty="0"/>
              <a:t>3/13</a:t>
            </a:r>
            <a:r>
              <a:rPr dirty="0"/>
              <a:t>/2025 </a:t>
            </a:r>
            <a:r>
              <a:rPr lang="en-US" dirty="0"/>
              <a:t>Notes</a:t>
            </a:r>
            <a:br>
              <a:rPr lang="en-US" dirty="0"/>
            </a:br>
            <a:br>
              <a:rPr lang="en-US" dirty="0"/>
            </a:br>
            <a:endParaRPr sz="792" dirty="0"/>
          </a:p>
          <a:p>
            <a:pPr rtl="0" fontAlgn="ctr">
              <a:buFont typeface="Arial" panose="020B0604020202020204" pitchFamily="34" charset="0"/>
              <a:buChar char="•"/>
            </a:pPr>
            <a:r>
              <a:rPr lang="en-US" sz="2000" dirty="0">
                <a:effectLst/>
                <a:latin typeface="Calibri" panose="020F0502020204030204" pitchFamily="34" charset="0"/>
              </a:rPr>
              <a:t>Hall &amp; Oates - Hall &amp; Oates (Maybe the gayest cover ever)</a:t>
            </a:r>
          </a:p>
          <a:p>
            <a:pPr rtl="0" fontAlgn="ctr">
              <a:buFont typeface="Arial" panose="020B0604020202020204" pitchFamily="34" charset="0"/>
              <a:buChar char="•"/>
            </a:pPr>
            <a:r>
              <a:rPr lang="en-US" sz="2000" dirty="0">
                <a:effectLst/>
                <a:latin typeface="Calibri" panose="020F0502020204030204" pitchFamily="34" charset="0"/>
              </a:rPr>
              <a:t>Lots of 50 years of SNL references</a:t>
            </a:r>
          </a:p>
          <a:p>
            <a:pPr rtl="0" fontAlgn="ctr">
              <a:buFont typeface="Arial" panose="020B0604020202020204" pitchFamily="34" charset="0"/>
              <a:buChar char="•"/>
            </a:pPr>
            <a:r>
              <a:rPr lang="en-US" sz="2000" dirty="0">
                <a:effectLst/>
                <a:latin typeface="Calibri" panose="020F0502020204030204" pitchFamily="34" charset="0"/>
              </a:rPr>
              <a:t>Top 5 rankings</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The Cure</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The Smile</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MJ Lenderman</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Kings of Leon</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IDLES</a:t>
            </a:r>
          </a:p>
          <a:p>
            <a:pPr marL="0" indent="100584" defTabSz="804672">
              <a:lnSpc>
                <a:spcPct val="81000"/>
              </a:lnSpc>
              <a:spcBef>
                <a:spcPts val="800"/>
              </a:spcBef>
              <a:buSzTx/>
              <a:buNone/>
              <a:defRPr sz="1496"/>
            </a:pPr>
            <a:endParaRPr lang="en-US" sz="3784" dirty="0"/>
          </a:p>
        </p:txBody>
      </p:sp>
    </p:spTree>
    <p:extLst>
      <p:ext uri="{BB962C8B-B14F-4D97-AF65-F5344CB8AC3E}">
        <p14:creationId xmlns:p14="http://schemas.microsoft.com/office/powerpoint/2010/main" val="78693330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1FB4B-744A-FA10-51F9-12FA3C6CE5CE}"/>
            </a:ext>
          </a:extLst>
        </p:cNvPr>
        <p:cNvGrpSpPr/>
        <p:nvPr/>
      </p:nvGrpSpPr>
      <p:grpSpPr>
        <a:xfrm>
          <a:off x="0" y="0"/>
          <a:ext cx="0" cy="0"/>
          <a:chOff x="0" y="0"/>
          <a:chExt cx="0" cy="0"/>
        </a:xfrm>
      </p:grpSpPr>
      <p:sp>
        <p:nvSpPr>
          <p:cNvPr id="210" name="Google Shape;187;p7">
            <a:extLst>
              <a:ext uri="{FF2B5EF4-FFF2-40B4-BE49-F238E27FC236}">
                <a16:creationId xmlns:a16="http://schemas.microsoft.com/office/drawing/2014/main" id="{5524336D-AD9C-4A5A-0374-3EF0D6A1A467}"/>
              </a:ext>
            </a:extLst>
          </p:cNvPr>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1" name="Google Shape;188;p7">
            <a:extLst>
              <a:ext uri="{FF2B5EF4-FFF2-40B4-BE49-F238E27FC236}">
                <a16:creationId xmlns:a16="http://schemas.microsoft.com/office/drawing/2014/main" id="{26EC7A4D-ABDD-B811-71A4-A2674A35E695}"/>
              </a:ext>
            </a:extLst>
          </p:cNvPr>
          <p:cNvSpPr txBox="1">
            <a:spLocks noGrp="1"/>
          </p:cNvSpPr>
          <p:nvPr>
            <p:ph type="body" idx="1"/>
          </p:nvPr>
        </p:nvSpPr>
        <p:spPr>
          <a:xfrm>
            <a:off x="272321" y="2057401"/>
            <a:ext cx="11647358" cy="4568190"/>
          </a:xfrm>
          <a:prstGeom prst="rect">
            <a:avLst/>
          </a:prstGeom>
        </p:spPr>
        <p:txBody>
          <a:bodyPr>
            <a:normAutofit/>
          </a:bodyPr>
          <a:lstStyle/>
          <a:p>
            <a:pPr marL="89809" indent="0" defTabSz="804672">
              <a:lnSpc>
                <a:spcPct val="81000"/>
              </a:lnSpc>
              <a:spcBef>
                <a:spcPts val="800"/>
              </a:spcBef>
              <a:buSzPct val="59800"/>
              <a:buNone/>
              <a:defRPr sz="2904"/>
            </a:pPr>
            <a:r>
              <a:rPr dirty="0"/>
              <a:t>VCL </a:t>
            </a:r>
            <a:r>
              <a:rPr lang="en-US" dirty="0"/>
              <a:t>3/13</a:t>
            </a:r>
            <a:r>
              <a:rPr dirty="0"/>
              <a:t>/2025 </a:t>
            </a:r>
            <a:r>
              <a:rPr lang="en-US" dirty="0"/>
              <a:t>Notes</a:t>
            </a:r>
            <a:br>
              <a:rPr lang="en-US" dirty="0"/>
            </a:br>
            <a:br>
              <a:rPr lang="en-US" dirty="0"/>
            </a:br>
            <a:endParaRPr lang="en-US" sz="792" dirty="0"/>
          </a:p>
          <a:p>
            <a:pPr rtl="0" fontAlgn="ctr">
              <a:buFont typeface="Arial" panose="020B0604020202020204" pitchFamily="34" charset="0"/>
              <a:buChar char="•"/>
            </a:pPr>
            <a:r>
              <a:rPr lang="en-US" sz="2000" dirty="0">
                <a:effectLst/>
                <a:latin typeface="Calibri" panose="020F0502020204030204" pitchFamily="34" charset="0"/>
              </a:rPr>
              <a:t>Musicology: Bowie's Berlin Trilogy</a:t>
            </a:r>
          </a:p>
          <a:p>
            <a:pPr marL="742950" lvl="1" indent="-285750" rtl="0" fontAlgn="ctr">
              <a:buFont typeface="Courier New" panose="02070309020205020404" pitchFamily="49" charset="0"/>
              <a:buChar char="o"/>
            </a:pPr>
            <a:r>
              <a:rPr lang="en-US" sz="2000" dirty="0" err="1">
                <a:effectLst/>
                <a:latin typeface="Calibri" panose="020F0502020204030204" pitchFamily="34" charset="0"/>
              </a:rPr>
              <a:t>Moogs</a:t>
            </a:r>
            <a:r>
              <a:rPr lang="en-US" sz="2000" dirty="0">
                <a:effectLst/>
                <a:latin typeface="Calibri" panose="020F0502020204030204" pitchFamily="34" charset="0"/>
              </a:rPr>
              <a:t>!!!</a:t>
            </a:r>
          </a:p>
          <a:p>
            <a:pPr rtl="0" fontAlgn="ctr">
              <a:buFont typeface="Arial" panose="020B0604020202020204" pitchFamily="34" charset="0"/>
              <a:buChar char="•"/>
            </a:pPr>
            <a:r>
              <a:rPr lang="en-US" sz="2000" dirty="0">
                <a:effectLst/>
                <a:latin typeface="Calibri" panose="020F0502020204030204" pitchFamily="34" charset="0"/>
              </a:rPr>
              <a:t>GOAT Records in BG is small but also has almost no records</a:t>
            </a:r>
          </a:p>
          <a:p>
            <a:pPr rtl="0" fontAlgn="ctr">
              <a:buFont typeface="Arial" panose="020B0604020202020204" pitchFamily="34" charset="0"/>
              <a:buChar char="•"/>
            </a:pPr>
            <a:r>
              <a:rPr lang="en-US" sz="2000" dirty="0">
                <a:effectLst/>
                <a:latin typeface="Calibri" panose="020F0502020204030204" pitchFamily="34" charset="0"/>
              </a:rPr>
              <a:t>Headliner: Beatles - Magical Mystery Tour</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Record that Adam's parents had from 1967</a:t>
            </a:r>
          </a:p>
          <a:p>
            <a:pPr marL="742950" lvl="1" indent="-285750" rtl="0" fontAlgn="ctr">
              <a:buFont typeface="Courier New" panose="02070309020205020404" pitchFamily="49" charset="0"/>
              <a:buChar char="o"/>
            </a:pPr>
            <a:r>
              <a:rPr lang="en-US" sz="2000" dirty="0">
                <a:effectLst/>
                <a:latin typeface="Calibri" panose="020F0502020204030204" pitchFamily="34" charset="0"/>
              </a:rPr>
              <a:t>Underrated per Joe</a:t>
            </a:r>
          </a:p>
          <a:p>
            <a:pPr rtl="0" fontAlgn="ctr">
              <a:buFont typeface="Arial" panose="020B0604020202020204" pitchFamily="34" charset="0"/>
              <a:buChar char="•"/>
            </a:pPr>
            <a:r>
              <a:rPr lang="en-US" sz="2000" dirty="0">
                <a:effectLst/>
                <a:latin typeface="Calibri" panose="020F0502020204030204" pitchFamily="34" charset="0"/>
              </a:rPr>
              <a:t>Sturgill Simpson post listening party?</a:t>
            </a:r>
          </a:p>
          <a:p>
            <a:pPr rtl="0" fontAlgn="ctr">
              <a:buFont typeface="Arial" panose="020B0604020202020204" pitchFamily="34" charset="0"/>
              <a:buChar char="•"/>
            </a:pPr>
            <a:r>
              <a:rPr lang="en-US" sz="2000" dirty="0">
                <a:effectLst/>
                <a:latin typeface="Calibri" panose="020F0502020204030204" pitchFamily="34" charset="0"/>
              </a:rPr>
              <a:t>Lucas had to leave early due to gastric distress. We should consider a demotion. </a:t>
            </a:r>
          </a:p>
          <a:p>
            <a:pPr rtl="0" fontAlgn="ctr">
              <a:buFont typeface="Arial" panose="020B0604020202020204" pitchFamily="34" charset="0"/>
              <a:buChar char="•"/>
            </a:pPr>
            <a:endParaRPr lang="en-US" sz="2000" dirty="0">
              <a:effectLst/>
              <a:latin typeface="Calibri" panose="020F0502020204030204" pitchFamily="34" charset="0"/>
            </a:endParaRPr>
          </a:p>
        </p:txBody>
      </p:sp>
    </p:spTree>
    <p:extLst>
      <p:ext uri="{BB962C8B-B14F-4D97-AF65-F5344CB8AC3E}">
        <p14:creationId xmlns:p14="http://schemas.microsoft.com/office/powerpoint/2010/main" val="150062850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Google Shape;199;p49"/>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20" name="Google Shape;200;p49"/>
          <p:cNvSpPr txBox="1">
            <a:spLocks noGrp="1"/>
          </p:cNvSpPr>
          <p:nvPr>
            <p:ph type="body" idx="1"/>
          </p:nvPr>
        </p:nvSpPr>
        <p:spPr>
          <a:xfrm>
            <a:off x="240224" y="1948873"/>
            <a:ext cx="11593802" cy="4789427"/>
          </a:xfrm>
          <a:prstGeom prst="rect">
            <a:avLst/>
          </a:prstGeom>
        </p:spPr>
        <p:txBody>
          <a:bodyPr>
            <a:normAutofit fontScale="92500" lnSpcReduction="20000"/>
          </a:bodyPr>
          <a:lstStyle/>
          <a:p>
            <a:pPr marL="0" lvl="1" indent="306324" defTabSz="612648">
              <a:lnSpc>
                <a:spcPct val="108000"/>
              </a:lnSpc>
              <a:spcBef>
                <a:spcPts val="0"/>
              </a:spcBef>
              <a:buSzTx/>
              <a:buNone/>
              <a:defRPr sz="1943" b="1"/>
            </a:pPr>
            <a:r>
              <a:rPr sz="3000" dirty="0"/>
              <a:t>Joe</a:t>
            </a:r>
          </a:p>
          <a:p>
            <a:pPr marL="0" lvl="1" indent="306324" defTabSz="612648">
              <a:lnSpc>
                <a:spcPct val="108000"/>
              </a:lnSpc>
              <a:spcBef>
                <a:spcPts val="0"/>
              </a:spcBef>
              <a:buSzTx/>
              <a:buNone/>
              <a:defRPr sz="1005"/>
            </a:pPr>
            <a:endParaRPr sz="1206" b="1" dirty="0"/>
          </a:p>
          <a:p>
            <a:pPr>
              <a:buNone/>
            </a:pPr>
            <a:r>
              <a:rPr lang="en-US" b="1" dirty="0"/>
              <a:t>	Listening to:</a:t>
            </a:r>
            <a:br>
              <a:rPr lang="en-US" dirty="0"/>
            </a:br>
            <a:r>
              <a:rPr lang="en-US" dirty="0"/>
              <a:t>	Imelda May, XTC (I missed it), Randy Newman, new Bon Iver, new Eric Clapton,</a:t>
            </a:r>
          </a:p>
          <a:p>
            <a:pPr>
              <a:buNone/>
            </a:pPr>
            <a:r>
              <a:rPr lang="en-US" b="1" dirty="0"/>
              <a:t>	Purchased:</a:t>
            </a:r>
            <a:br>
              <a:rPr lang="en-US" dirty="0"/>
            </a:br>
            <a:r>
              <a:rPr lang="en-US" dirty="0"/>
              <a:t>	The Best of John Lee Hooker, Rod Stewart – </a:t>
            </a:r>
            <a:r>
              <a:rPr lang="en-US" i="1" dirty="0"/>
              <a:t>Every Picture Tells A Story</a:t>
            </a:r>
            <a:r>
              <a:rPr lang="en-US" dirty="0"/>
              <a:t>,</a:t>
            </a:r>
            <a:br>
              <a:rPr lang="en-US" dirty="0"/>
            </a:br>
            <a:r>
              <a:rPr lang="en-US" dirty="0"/>
              <a:t>	Black Sabbath – </a:t>
            </a:r>
            <a:r>
              <a:rPr lang="en-US" i="1" dirty="0"/>
              <a:t>Black Sabbath</a:t>
            </a:r>
            <a:r>
              <a:rPr lang="en-US" dirty="0"/>
              <a:t> 1970,</a:t>
            </a:r>
            <a:br>
              <a:rPr lang="en-US" dirty="0"/>
            </a:br>
            <a:r>
              <a:rPr lang="en-US" dirty="0"/>
              <a:t>	The Beach Boys – </a:t>
            </a:r>
            <a:r>
              <a:rPr lang="en-US" i="1" dirty="0"/>
              <a:t>Endless Summer</a:t>
            </a:r>
            <a:r>
              <a:rPr lang="en-US" dirty="0"/>
              <a:t>,</a:t>
            </a:r>
            <a:br>
              <a:rPr lang="en-US" dirty="0"/>
            </a:br>
            <a:r>
              <a:rPr lang="en-US" dirty="0"/>
              <a:t>	Spooky Tooth – </a:t>
            </a:r>
            <a:r>
              <a:rPr lang="en-US" i="1" dirty="0"/>
              <a:t>Spooky Two</a:t>
            </a:r>
            <a:endParaRPr lang="en-US" dirty="0"/>
          </a:p>
          <a:p>
            <a:pPr marL="114300" indent="0">
              <a:buNone/>
            </a:pPr>
            <a:r>
              <a:rPr lang="en-US" b="1" dirty="0"/>
              <a:t>     Books:</a:t>
            </a:r>
            <a:br>
              <a:rPr lang="en-US" dirty="0"/>
            </a:br>
            <a:r>
              <a:rPr lang="en-US" dirty="0"/>
              <a:t>	Miles Davis biography</a:t>
            </a:r>
            <a:br>
              <a:rPr lang="en-US" dirty="0"/>
            </a:br>
            <a:r>
              <a:rPr lang="en-US" dirty="0"/>
              <a:t>	Randy Newman biography</a:t>
            </a:r>
            <a:br>
              <a:rPr lang="en-US" dirty="0"/>
            </a:br>
            <a:r>
              <a:rPr lang="en-US" dirty="0"/>
              <a:t>	Mike Campbell memoir </a:t>
            </a:r>
            <a:r>
              <a:rPr lang="en-US" i="1" dirty="0"/>
              <a:t>Heartbreaker</a:t>
            </a:r>
            <a:br>
              <a:rPr lang="en-US" dirty="0"/>
            </a:br>
            <a:r>
              <a:rPr lang="en-US" dirty="0"/>
              <a:t>	</a:t>
            </a:r>
            <a:r>
              <a:rPr lang="en-US" i="1" dirty="0"/>
              <a:t>Brothers</a:t>
            </a:r>
            <a:r>
              <a:rPr lang="en-US" dirty="0"/>
              <a:t> – Alex Van Halen</a:t>
            </a:r>
            <a:br>
              <a:rPr lang="en-US" dirty="0"/>
            </a:br>
            <a:r>
              <a:rPr lang="en-US" dirty="0"/>
              <a:t>	</a:t>
            </a:r>
            <a:r>
              <a:rPr lang="en-US" i="1" dirty="0"/>
              <a:t>The McCartney Legacy</a:t>
            </a:r>
            <a:r>
              <a:rPr lang="en-US" dirty="0"/>
              <a:t> 1974–1980</a:t>
            </a:r>
            <a:br>
              <a:rPr lang="en-US" dirty="0"/>
            </a:br>
            <a:r>
              <a:rPr lang="en-US" dirty="0"/>
              <a:t>	</a:t>
            </a:r>
            <a:r>
              <a:rPr lang="en-US" i="1" dirty="0"/>
              <a:t>John &amp; Paul – A Love Story in Song</a:t>
            </a:r>
            <a:br>
              <a:rPr lang="en-US" dirty="0"/>
            </a:br>
            <a:r>
              <a:rPr lang="en-US" dirty="0"/>
              <a:t>	Peter Wolf memoir – </a:t>
            </a:r>
            <a:r>
              <a:rPr lang="en-US" i="1" dirty="0"/>
              <a:t>Waiting on the Moon</a:t>
            </a:r>
            <a:br>
              <a:rPr lang="en-US" dirty="0"/>
            </a:br>
            <a:r>
              <a:rPr lang="en-US" dirty="0"/>
              <a:t>	Tom Jones autobiography (</a:t>
            </a:r>
            <a:r>
              <a:rPr lang="en-US" i="1" dirty="0"/>
              <a:t>stop throwing your underwear at me!</a:t>
            </a:r>
            <a:r>
              <a:rPr lang="en-US" dirty="0"/>
              <a:t>)</a:t>
            </a:r>
          </a:p>
          <a:p>
            <a:pPr marL="0" lvl="1" indent="306324" defTabSz="612648">
              <a:lnSpc>
                <a:spcPct val="108000"/>
              </a:lnSpc>
              <a:spcBef>
                <a:spcPts val="0"/>
              </a:spcBef>
              <a:buSzTx/>
              <a:buNone/>
              <a:defRPr sz="1139" b="1"/>
            </a:pPr>
            <a:endParaRPr b="0"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C459-5FAC-C263-0D4C-53F0E9C08FB9}"/>
            </a:ext>
          </a:extLst>
        </p:cNvPr>
        <p:cNvGrpSpPr/>
        <p:nvPr/>
      </p:nvGrpSpPr>
      <p:grpSpPr>
        <a:xfrm>
          <a:off x="0" y="0"/>
          <a:ext cx="0" cy="0"/>
          <a:chOff x="0" y="0"/>
          <a:chExt cx="0" cy="0"/>
        </a:xfrm>
      </p:grpSpPr>
      <p:sp>
        <p:nvSpPr>
          <p:cNvPr id="219" name="Google Shape;199;p49">
            <a:extLst>
              <a:ext uri="{FF2B5EF4-FFF2-40B4-BE49-F238E27FC236}">
                <a16:creationId xmlns:a16="http://schemas.microsoft.com/office/drawing/2014/main" id="{76F57E6D-89D6-F034-7C09-6FF0540FFF51}"/>
              </a:ext>
            </a:extLst>
          </p:cNvPr>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20" name="Google Shape;200;p49">
            <a:extLst>
              <a:ext uri="{FF2B5EF4-FFF2-40B4-BE49-F238E27FC236}">
                <a16:creationId xmlns:a16="http://schemas.microsoft.com/office/drawing/2014/main" id="{CFAE7370-75FD-DA1D-25AA-C09998AC760B}"/>
              </a:ext>
            </a:extLst>
          </p:cNvPr>
          <p:cNvSpPr txBox="1">
            <a:spLocks noGrp="1"/>
          </p:cNvSpPr>
          <p:nvPr>
            <p:ph type="body" idx="1"/>
          </p:nvPr>
        </p:nvSpPr>
        <p:spPr>
          <a:xfrm>
            <a:off x="240224" y="1948873"/>
            <a:ext cx="11593802" cy="4789427"/>
          </a:xfrm>
          <a:prstGeom prst="rect">
            <a:avLst/>
          </a:prstGeom>
        </p:spPr>
        <p:txBody>
          <a:bodyPr>
            <a:normAutofit/>
          </a:bodyPr>
          <a:lstStyle/>
          <a:p>
            <a:pPr marL="0" lvl="1" indent="306324" defTabSz="612648">
              <a:lnSpc>
                <a:spcPct val="108000"/>
              </a:lnSpc>
              <a:spcBef>
                <a:spcPts val="0"/>
              </a:spcBef>
              <a:buSzTx/>
              <a:buNone/>
              <a:defRPr sz="1943" b="1"/>
            </a:pPr>
            <a:r>
              <a:rPr sz="3000" dirty="0"/>
              <a:t>Joe</a:t>
            </a:r>
          </a:p>
          <a:p>
            <a:pPr marL="0" lvl="1" indent="306324" defTabSz="612648">
              <a:lnSpc>
                <a:spcPct val="108000"/>
              </a:lnSpc>
              <a:spcBef>
                <a:spcPts val="0"/>
              </a:spcBef>
              <a:buSzTx/>
              <a:buNone/>
              <a:defRPr sz="1005"/>
            </a:pPr>
            <a:endParaRPr sz="1206" b="1" dirty="0"/>
          </a:p>
          <a:p>
            <a:pPr>
              <a:buNone/>
            </a:pPr>
            <a:r>
              <a:rPr lang="en-US" b="1" dirty="0"/>
              <a:t>	</a:t>
            </a:r>
            <a:r>
              <a:rPr lang="en-US" sz="2000" b="1" dirty="0"/>
              <a:t>Documentary:</a:t>
            </a:r>
            <a:br>
              <a:rPr lang="en-US" sz="2000" dirty="0"/>
            </a:br>
            <a:r>
              <a:rPr lang="en-US" sz="2000" dirty="0"/>
              <a:t>	Lowell George – </a:t>
            </a:r>
            <a:r>
              <a:rPr lang="en-US" sz="2000" i="1" dirty="0"/>
              <a:t>Feats First</a:t>
            </a:r>
            <a:br>
              <a:rPr lang="en-US" sz="2000" dirty="0"/>
            </a:br>
            <a:r>
              <a:rPr lang="en-US" sz="2000" dirty="0"/>
              <a:t>	An evening with Elton John and Brandi Carlisle</a:t>
            </a:r>
            <a:endParaRPr sz="2000" b="0" dirty="0"/>
          </a:p>
        </p:txBody>
      </p:sp>
    </p:spTree>
    <p:extLst>
      <p:ext uri="{BB962C8B-B14F-4D97-AF65-F5344CB8AC3E}">
        <p14:creationId xmlns:p14="http://schemas.microsoft.com/office/powerpoint/2010/main" val="111466326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Google Shape;199;p49"/>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23" name="Google Shape;200;p49"/>
          <p:cNvSpPr txBox="1">
            <a:spLocks noGrp="1"/>
          </p:cNvSpPr>
          <p:nvPr>
            <p:ph type="body" idx="1"/>
          </p:nvPr>
        </p:nvSpPr>
        <p:spPr>
          <a:xfrm>
            <a:off x="240224" y="2057400"/>
            <a:ext cx="11593802" cy="4680900"/>
          </a:xfrm>
          <a:prstGeom prst="rect">
            <a:avLst/>
          </a:prstGeom>
        </p:spPr>
        <p:txBody>
          <a:bodyPr/>
          <a:lstStyle/>
          <a:p>
            <a:pPr marL="0" lvl="1" indent="333756" defTabSz="667512">
              <a:lnSpc>
                <a:spcPct val="108000"/>
              </a:lnSpc>
              <a:spcBef>
                <a:spcPts val="0"/>
              </a:spcBef>
              <a:buSzTx/>
              <a:buNone/>
              <a:defRPr sz="2117" b="1"/>
            </a:pPr>
            <a:r>
              <a:rPr dirty="0"/>
              <a:t>Chris</a:t>
            </a:r>
            <a:endParaRPr sz="2774" dirty="0"/>
          </a:p>
          <a:p>
            <a:pPr marL="0" lvl="1" indent="333756" defTabSz="667512">
              <a:lnSpc>
                <a:spcPct val="108000"/>
              </a:lnSpc>
              <a:spcBef>
                <a:spcPts val="0"/>
              </a:spcBef>
              <a:buSzTx/>
              <a:buNone/>
              <a:defRPr sz="1095"/>
            </a:pPr>
            <a:endParaRPr sz="1314" b="1" dirty="0"/>
          </a:p>
          <a:p>
            <a:pPr marL="0" lvl="1" indent="333756" defTabSz="667512">
              <a:lnSpc>
                <a:spcPct val="108000"/>
              </a:lnSpc>
              <a:spcBef>
                <a:spcPts val="0"/>
              </a:spcBef>
              <a:buSzTx/>
              <a:buNone/>
              <a:defRPr sz="1241" b="1"/>
            </a:pPr>
            <a:r>
              <a:rPr lang="en-US" sz="1800" b="1" i="0" dirty="0">
                <a:solidFill>
                  <a:srgbClr val="D1D2D3"/>
                </a:solidFill>
                <a:effectLst/>
                <a:latin typeface="Slack-Lato"/>
              </a:rPr>
              <a:t>Listening: </a:t>
            </a:r>
            <a:r>
              <a:rPr lang="en-US" sz="1800" b="0" i="0" dirty="0">
                <a:solidFill>
                  <a:srgbClr val="D1D2D3"/>
                </a:solidFill>
                <a:effectLst/>
                <a:latin typeface="Slack-Lato"/>
              </a:rPr>
              <a:t>All New Purchases Below</a:t>
            </a:r>
            <a:br>
              <a:rPr lang="en-US" sz="1800" b="0" i="0" dirty="0">
                <a:solidFill>
                  <a:srgbClr val="D1D2D3"/>
                </a:solidFill>
                <a:effectLst/>
                <a:latin typeface="Slack-Lato"/>
              </a:rPr>
            </a:br>
            <a:endParaRPr lang="en-US" sz="1800" b="0" i="0" dirty="0">
              <a:solidFill>
                <a:srgbClr val="D1D2D3"/>
              </a:solidFill>
              <a:effectLst/>
              <a:latin typeface="Slack-Lato"/>
            </a:endParaRPr>
          </a:p>
          <a:p>
            <a:pPr marL="0" lvl="1" indent="333756" defTabSz="667512">
              <a:lnSpc>
                <a:spcPct val="108000"/>
              </a:lnSpc>
              <a:spcBef>
                <a:spcPts val="0"/>
              </a:spcBef>
              <a:buSzTx/>
              <a:buNone/>
              <a:defRPr sz="1241" b="1"/>
            </a:pPr>
            <a:r>
              <a:rPr lang="en-US" sz="1800" b="1" i="0" dirty="0">
                <a:solidFill>
                  <a:srgbClr val="D1D2D3"/>
                </a:solidFill>
                <a:effectLst/>
                <a:latin typeface="Slack-Lato"/>
              </a:rPr>
              <a:t>Purchased:</a:t>
            </a:r>
            <a:br>
              <a:rPr lang="en-US" sz="1800" dirty="0"/>
            </a:br>
            <a:r>
              <a:rPr lang="en-US" sz="1800" dirty="0"/>
              <a:t>	</a:t>
            </a:r>
            <a:r>
              <a:rPr lang="en-US" sz="1800" b="0" i="0" dirty="0">
                <a:solidFill>
                  <a:srgbClr val="D1D2D3"/>
                </a:solidFill>
                <a:effectLst/>
                <a:latin typeface="Slack-Lato"/>
              </a:rPr>
              <a:t>Vinyl: 33 - They are all on wall</a:t>
            </a:r>
            <a:br>
              <a:rPr lang="en-US" sz="1800" dirty="0"/>
            </a:br>
            <a:r>
              <a:rPr lang="en-US" sz="1800" dirty="0"/>
              <a:t>	</a:t>
            </a:r>
            <a:r>
              <a:rPr lang="en-US" sz="1800" b="0" i="0" dirty="0">
                <a:solidFill>
                  <a:srgbClr val="D1D2D3"/>
                </a:solidFill>
                <a:effectLst/>
                <a:latin typeface="Slack-Lato"/>
              </a:rPr>
              <a:t>CD’s: 5 - also on wall</a:t>
            </a:r>
            <a:br>
              <a:rPr lang="en-US" sz="1800" dirty="0"/>
            </a:br>
            <a:r>
              <a:rPr lang="en-US" sz="1800" dirty="0"/>
              <a:t>	</a:t>
            </a:r>
            <a:r>
              <a:rPr lang="en-US" sz="1800" b="0" i="0" dirty="0">
                <a:solidFill>
                  <a:srgbClr val="D1D2D3"/>
                </a:solidFill>
                <a:effectLst/>
                <a:latin typeface="Slack-Lato"/>
              </a:rPr>
              <a:t>Cassette: None</a:t>
            </a:r>
            <a:br>
              <a:rPr lang="en-US" sz="1800" b="0" i="0" dirty="0">
                <a:solidFill>
                  <a:srgbClr val="D1D2D3"/>
                </a:solidFill>
                <a:effectLst/>
                <a:latin typeface="Slack-Lato"/>
              </a:rPr>
            </a:br>
            <a:endParaRPr lang="en-US" sz="1800" b="0" i="0" dirty="0">
              <a:solidFill>
                <a:srgbClr val="D1D2D3"/>
              </a:solidFill>
              <a:effectLst/>
              <a:latin typeface="Slack-Lato"/>
            </a:endParaRPr>
          </a:p>
          <a:p>
            <a:pPr marL="0" lvl="1" indent="333756" defTabSz="667512">
              <a:lnSpc>
                <a:spcPct val="108000"/>
              </a:lnSpc>
              <a:spcBef>
                <a:spcPts val="0"/>
              </a:spcBef>
              <a:buSzTx/>
              <a:buNone/>
              <a:defRPr sz="1241" b="1"/>
            </a:pPr>
            <a:r>
              <a:rPr lang="en-US" sz="1800" b="1" i="0" dirty="0">
                <a:solidFill>
                  <a:srgbClr val="D1D2D3"/>
                </a:solidFill>
                <a:effectLst/>
                <a:latin typeface="Slack-Lato"/>
              </a:rPr>
              <a:t>Shows: </a:t>
            </a:r>
            <a:r>
              <a:rPr lang="en-US" sz="1800" b="0" i="0" dirty="0">
                <a:solidFill>
                  <a:srgbClr val="D1D2D3"/>
                </a:solidFill>
                <a:effectLst/>
                <a:latin typeface="Slack-Lato"/>
              </a:rPr>
              <a:t>Empire of the Sun at Fillmore on 4/23</a:t>
            </a:r>
          </a:p>
          <a:p>
            <a:pPr marL="0" lvl="1" indent="333756" defTabSz="667512">
              <a:lnSpc>
                <a:spcPct val="108000"/>
              </a:lnSpc>
              <a:spcBef>
                <a:spcPts val="0"/>
              </a:spcBef>
              <a:buSzTx/>
              <a:buNone/>
              <a:defRPr sz="1241" b="1"/>
            </a:pPr>
            <a:r>
              <a:rPr lang="en-US" sz="1800" dirty="0">
                <a:solidFill>
                  <a:srgbClr val="D1D2D3"/>
                </a:solidFill>
                <a:latin typeface="Slack-Lato"/>
              </a:rPr>
              <a:t>	</a:t>
            </a:r>
            <a:r>
              <a:rPr lang="en-US" sz="1800" b="1" i="0" dirty="0">
                <a:solidFill>
                  <a:srgbClr val="D1D2D3"/>
                </a:solidFill>
                <a:effectLst/>
                <a:latin typeface="Slack-Lato"/>
              </a:rPr>
              <a:t>Upcoming: </a:t>
            </a:r>
            <a:r>
              <a:rPr lang="en-US" sz="1800" b="0" i="0" dirty="0">
                <a:solidFill>
                  <a:srgbClr val="D1D2D3"/>
                </a:solidFill>
                <a:effectLst/>
                <a:latin typeface="Slack-Lato"/>
              </a:rPr>
              <a:t>NIN: 8/22; Nation of Language - 9/23; Sleep Token 9/19</a:t>
            </a:r>
            <a:endParaRPr sz="1800" b="0"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Google Shape;212;p13"/>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26" name="Google Shape;213;p13"/>
          <p:cNvSpPr txBox="1">
            <a:spLocks noGrp="1"/>
          </p:cNvSpPr>
          <p:nvPr>
            <p:ph type="body" idx="1"/>
          </p:nvPr>
        </p:nvSpPr>
        <p:spPr>
          <a:xfrm>
            <a:off x="563024" y="1900400"/>
            <a:ext cx="11499002" cy="4856701"/>
          </a:xfrm>
          <a:prstGeom prst="rect">
            <a:avLst/>
          </a:prstGeom>
        </p:spPr>
        <p:txBody>
          <a:bodyPr/>
          <a:lstStyle/>
          <a:p>
            <a:pPr marL="0" lvl="1" indent="0" defTabSz="621791">
              <a:lnSpc>
                <a:spcPct val="120000"/>
              </a:lnSpc>
              <a:spcBef>
                <a:spcPts val="0"/>
              </a:spcBef>
              <a:buSzTx/>
              <a:buNone/>
              <a:defRPr sz="2040" b="1"/>
            </a:pPr>
            <a:r>
              <a:rPr dirty="0"/>
              <a:t>John</a:t>
            </a:r>
          </a:p>
          <a:p>
            <a:pPr marL="0" lvl="1" indent="310895" defTabSz="621791">
              <a:lnSpc>
                <a:spcPct val="120000"/>
              </a:lnSpc>
              <a:spcBef>
                <a:spcPts val="0"/>
              </a:spcBef>
              <a:buSzTx/>
              <a:buNone/>
              <a:defRPr sz="1360"/>
            </a:pPr>
            <a:endParaRPr sz="1224" dirty="0"/>
          </a:p>
          <a:p>
            <a:pPr marL="0" indent="0" defTabSz="621791">
              <a:lnSpc>
                <a:spcPct val="100000"/>
              </a:lnSpc>
              <a:spcBef>
                <a:spcPts val="0"/>
              </a:spcBef>
              <a:buClrTx/>
              <a:buSzTx/>
              <a:buFontTx/>
              <a:buNone/>
              <a:defRPr sz="1360" b="1"/>
            </a:pPr>
            <a:r>
              <a:rPr lang="en-US" sz="2000" b="1" i="0" dirty="0">
                <a:solidFill>
                  <a:srgbClr val="D1D2D3"/>
                </a:solidFill>
                <a:effectLst/>
                <a:latin typeface="Slack-Lato"/>
              </a:rPr>
              <a:t>Listening</a:t>
            </a:r>
            <a:r>
              <a:rPr lang="en-US" sz="2000" b="0" i="0" dirty="0">
                <a:solidFill>
                  <a:srgbClr val="D1D2D3"/>
                </a:solidFill>
                <a:effectLst/>
                <a:latin typeface="Slack-Lato"/>
              </a:rPr>
              <a:t> - Car seat Headrest, Goose, Friendship, Wilco live</a:t>
            </a:r>
            <a:br>
              <a:rPr lang="en-US" sz="2000" b="0" i="0" dirty="0">
                <a:solidFill>
                  <a:srgbClr val="D1D2D3"/>
                </a:solidFill>
                <a:effectLst/>
                <a:latin typeface="Slack-Lato"/>
              </a:rPr>
            </a:br>
            <a:br>
              <a:rPr lang="en-US" sz="2000" dirty="0"/>
            </a:br>
            <a:r>
              <a:rPr lang="en-US" sz="2000" b="1" i="0" dirty="0">
                <a:solidFill>
                  <a:srgbClr val="D1D2D3"/>
                </a:solidFill>
                <a:effectLst/>
                <a:latin typeface="Slack-Lato"/>
              </a:rPr>
              <a:t>Purchases</a:t>
            </a:r>
            <a:r>
              <a:rPr lang="en-US" sz="2000" b="0" i="0" dirty="0">
                <a:solidFill>
                  <a:srgbClr val="D1D2D3"/>
                </a:solidFill>
                <a:effectLst/>
                <a:latin typeface="Slack-Lato"/>
              </a:rPr>
              <a:t> - New York Dolls - New York Tapes 72-73, Joy Division-Closer, Dean Wareham-That’s the price of loving me, The Lemonheads- Lemonheads in Dreamland, Morphine-Bootleg Detroit, David Bowie-Ready! Set! Go!, John Doe-Fables in a foreign land.</a:t>
            </a:r>
            <a:br>
              <a:rPr lang="en-US" sz="2000" b="0" i="0" dirty="0">
                <a:solidFill>
                  <a:srgbClr val="D1D2D3"/>
                </a:solidFill>
                <a:effectLst/>
                <a:latin typeface="Slack-Lato"/>
              </a:rPr>
            </a:br>
            <a:br>
              <a:rPr lang="en-US" sz="2000" dirty="0"/>
            </a:br>
            <a:r>
              <a:rPr lang="en-US" sz="2000" b="1" i="0" dirty="0">
                <a:solidFill>
                  <a:srgbClr val="D1D2D3"/>
                </a:solidFill>
                <a:effectLst/>
                <a:latin typeface="Slack-Lato"/>
              </a:rPr>
              <a:t>Shows </a:t>
            </a:r>
            <a:r>
              <a:rPr lang="en-US" sz="2000" b="0" i="0" dirty="0">
                <a:solidFill>
                  <a:srgbClr val="D1D2D3"/>
                </a:solidFill>
                <a:effectLst/>
                <a:latin typeface="Slack-Lato"/>
              </a:rPr>
              <a:t>- Hard Quartet, Goose, Dean Wareham, Ryan Adams, Neil Young &amp; the Chrome Hearts,</a:t>
            </a:r>
            <a:br>
              <a:rPr lang="en-US" sz="2000" dirty="0"/>
            </a:br>
            <a:r>
              <a:rPr lang="en-US" sz="2000" b="0" i="0" dirty="0">
                <a:solidFill>
                  <a:srgbClr val="D1D2D3"/>
                </a:solidFill>
                <a:effectLst/>
                <a:latin typeface="Slack-Lato"/>
              </a:rPr>
              <a:t>Beta Band</a:t>
            </a:r>
            <a:br>
              <a:rPr lang="en-US" sz="2000" b="0" i="0" dirty="0">
                <a:solidFill>
                  <a:srgbClr val="D1D2D3"/>
                </a:solidFill>
                <a:effectLst/>
                <a:latin typeface="Slack-Lato"/>
              </a:rPr>
            </a:br>
            <a:br>
              <a:rPr lang="en-US" sz="2000" dirty="0"/>
            </a:br>
            <a:r>
              <a:rPr lang="en-US" sz="2000" b="1" i="0" dirty="0">
                <a:solidFill>
                  <a:srgbClr val="D1D2D3"/>
                </a:solidFill>
                <a:effectLst/>
                <a:latin typeface="Slack-Lato"/>
              </a:rPr>
              <a:t>Books</a:t>
            </a:r>
            <a:r>
              <a:rPr lang="en-US" sz="2000" b="0" i="0" dirty="0">
                <a:solidFill>
                  <a:srgbClr val="D1D2D3"/>
                </a:solidFill>
                <a:effectLst/>
                <a:latin typeface="Slack-Lato"/>
              </a:rPr>
              <a:t> - Henry Rollins-Sic</a:t>
            </a:r>
            <a:endParaRPr sz="2000" b="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Google Shape;212;p13"/>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29" name="Google Shape;213;p13"/>
          <p:cNvSpPr txBox="1">
            <a:spLocks noGrp="1"/>
          </p:cNvSpPr>
          <p:nvPr>
            <p:ph type="body" idx="1"/>
          </p:nvPr>
        </p:nvSpPr>
        <p:spPr>
          <a:xfrm>
            <a:off x="304800" y="1854218"/>
            <a:ext cx="11718501" cy="4856701"/>
          </a:xfrm>
          <a:prstGeom prst="rect">
            <a:avLst/>
          </a:prstGeom>
        </p:spPr>
        <p:txBody>
          <a:bodyPr/>
          <a:lstStyle/>
          <a:p>
            <a:pPr marL="0" lvl="1" indent="0" defTabSz="557784">
              <a:lnSpc>
                <a:spcPct val="120000"/>
              </a:lnSpc>
              <a:spcBef>
                <a:spcPts val="0"/>
              </a:spcBef>
              <a:buSzTx/>
              <a:buNone/>
              <a:defRPr sz="1830" b="1"/>
            </a:pPr>
            <a:r>
              <a:rPr dirty="0"/>
              <a:t>Adam</a:t>
            </a:r>
          </a:p>
          <a:p>
            <a:pPr marL="0" lvl="1" indent="278892" defTabSz="557784">
              <a:lnSpc>
                <a:spcPct val="120000"/>
              </a:lnSpc>
              <a:spcBef>
                <a:spcPts val="0"/>
              </a:spcBef>
              <a:buSzTx/>
              <a:buNone/>
              <a:defRPr sz="1220"/>
            </a:pPr>
            <a:endParaRPr sz="1098" dirty="0"/>
          </a:p>
          <a:p>
            <a:pPr marL="0" indent="0" defTabSz="557784">
              <a:spcBef>
                <a:spcPts val="600"/>
              </a:spcBef>
              <a:buSzTx/>
              <a:buNone/>
              <a:defRPr sz="1281" b="1"/>
            </a:pPr>
            <a:r>
              <a:rPr lang="en-US" sz="2000" b="1" i="0" dirty="0">
                <a:solidFill>
                  <a:srgbClr val="D1D2D3"/>
                </a:solidFill>
                <a:effectLst/>
                <a:latin typeface="Slack-Lato"/>
              </a:rPr>
              <a:t>Listening: </a:t>
            </a:r>
          </a:p>
          <a:p>
            <a:pPr marL="0" indent="0" defTabSz="557784">
              <a:spcBef>
                <a:spcPts val="600"/>
              </a:spcBef>
              <a:buSzTx/>
              <a:buNone/>
              <a:defRPr sz="1281" b="1"/>
            </a:pPr>
            <a:r>
              <a:rPr lang="en-US" sz="2000" dirty="0">
                <a:solidFill>
                  <a:srgbClr val="D1D2D3"/>
                </a:solidFill>
                <a:latin typeface="Slack-Lato"/>
              </a:rPr>
              <a:t>	</a:t>
            </a:r>
            <a:r>
              <a:rPr lang="en-US" sz="2000" b="0" i="0" dirty="0">
                <a:solidFill>
                  <a:srgbClr val="D1D2D3"/>
                </a:solidFill>
                <a:effectLst/>
                <a:latin typeface="Slack-Lato"/>
              </a:rPr>
              <a:t>Jadu Heart - described as Dream Pop, Shoegaze (saw them open for Fontaines DC)</a:t>
            </a:r>
          </a:p>
          <a:p>
            <a:pPr marL="0" indent="0" defTabSz="557784">
              <a:spcBef>
                <a:spcPts val="600"/>
              </a:spcBef>
              <a:buSzTx/>
              <a:buNone/>
              <a:defRPr sz="1281" b="1"/>
            </a:pPr>
            <a:r>
              <a:rPr lang="en-US" sz="2000" dirty="0">
                <a:solidFill>
                  <a:srgbClr val="D1D2D3"/>
                </a:solidFill>
                <a:latin typeface="Slack-Lato"/>
              </a:rPr>
              <a:t>	</a:t>
            </a:r>
            <a:r>
              <a:rPr lang="en-US" sz="2000" b="0" i="0" dirty="0">
                <a:solidFill>
                  <a:srgbClr val="D1D2D3"/>
                </a:solidFill>
                <a:effectLst/>
                <a:latin typeface="Slack-Lato"/>
              </a:rPr>
              <a:t>Roscoe Tripp - It Always Starts with Something (reminds me a little of Modest Mouse)</a:t>
            </a:r>
          </a:p>
          <a:p>
            <a:pPr marL="0" indent="0" defTabSz="557784">
              <a:spcBef>
                <a:spcPts val="600"/>
              </a:spcBef>
              <a:buSzTx/>
              <a:buNone/>
              <a:defRPr sz="1281" b="1"/>
            </a:pPr>
            <a:r>
              <a:rPr lang="en-US" sz="2000" dirty="0">
                <a:solidFill>
                  <a:srgbClr val="D1D2D3"/>
                </a:solidFill>
                <a:latin typeface="Slack-Lato"/>
              </a:rPr>
              <a:t>	</a:t>
            </a:r>
            <a:r>
              <a:rPr lang="en-US" sz="2000" b="0" i="0" dirty="0">
                <a:solidFill>
                  <a:srgbClr val="D1D2D3"/>
                </a:solidFill>
                <a:effectLst/>
                <a:latin typeface="Slack-Lato"/>
              </a:rPr>
              <a:t>Umphrey’s Mcgee - Zonkey (amazing mashup album!)</a:t>
            </a:r>
          </a:p>
          <a:p>
            <a:pPr marL="0" indent="0" defTabSz="557784">
              <a:spcBef>
                <a:spcPts val="600"/>
              </a:spcBef>
              <a:buSzTx/>
              <a:buNone/>
              <a:defRPr sz="1281" b="1"/>
            </a:pPr>
            <a:r>
              <a:rPr lang="en-US" sz="2000" dirty="0">
                <a:solidFill>
                  <a:srgbClr val="D1D2D3"/>
                </a:solidFill>
                <a:latin typeface="Slack-Lato"/>
              </a:rPr>
              <a:t>	</a:t>
            </a:r>
            <a:r>
              <a:rPr lang="en-US" sz="2000" b="0" i="0" dirty="0">
                <a:solidFill>
                  <a:srgbClr val="D1D2D3"/>
                </a:solidFill>
                <a:effectLst/>
                <a:latin typeface="Slack-Lato"/>
              </a:rPr>
              <a:t>Chemtrails - The Joy of Sects (quirky garage/punk power pop from UK)</a:t>
            </a:r>
          </a:p>
          <a:p>
            <a:pPr marL="0" indent="0" defTabSz="557784">
              <a:spcBef>
                <a:spcPts val="600"/>
              </a:spcBef>
              <a:buSzTx/>
              <a:buNone/>
              <a:defRPr sz="1281" b="1"/>
            </a:pPr>
            <a:r>
              <a:rPr lang="en-US" sz="2000" dirty="0">
                <a:solidFill>
                  <a:srgbClr val="D1D2D3"/>
                </a:solidFill>
                <a:latin typeface="Slack-Lato"/>
              </a:rPr>
              <a:t>	</a:t>
            </a:r>
            <a:r>
              <a:rPr lang="en-US" sz="2000" b="0" i="0" dirty="0">
                <a:solidFill>
                  <a:srgbClr val="D1D2D3"/>
                </a:solidFill>
                <a:effectLst/>
                <a:latin typeface="Slack-Lato"/>
              </a:rPr>
              <a:t>PACKS - Melt the Honey (described as indie rock band from Toronto; honors the inventive arrangements of Guided by Voices)</a:t>
            </a:r>
            <a:br>
              <a:rPr lang="en-US" sz="2000" b="0" dirty="0"/>
            </a:br>
            <a:endParaRPr lang="en-US" sz="2000" b="0" dirty="0"/>
          </a:p>
          <a:p>
            <a:pPr marL="0" indent="0" defTabSz="557784">
              <a:spcBef>
                <a:spcPts val="600"/>
              </a:spcBef>
              <a:buSzTx/>
              <a:buNone/>
              <a:defRPr sz="1281" b="1"/>
            </a:pPr>
            <a:br>
              <a:rPr lang="en-US" dirty="0"/>
            </a:br>
            <a:endParaRPr b="0" dirty="0"/>
          </a:p>
          <a:p>
            <a:pPr marL="0" indent="0" defTabSz="557784">
              <a:spcBef>
                <a:spcPts val="600"/>
              </a:spcBef>
              <a:buSzTx/>
              <a:buNone/>
              <a:defRPr sz="1281" b="1"/>
            </a:pPr>
            <a:endParaRPr b="0" dirty="0"/>
          </a:p>
          <a:p>
            <a:pPr marL="0" indent="0" defTabSz="557784">
              <a:spcBef>
                <a:spcPts val="600"/>
              </a:spcBef>
              <a:buSzTx/>
              <a:buNone/>
              <a:defRPr sz="1281" b="1"/>
            </a:pPr>
            <a:br>
              <a:rPr b="0" dirty="0"/>
            </a:br>
            <a:endParaRPr b="0" dirty="0"/>
          </a:p>
        </p:txBody>
      </p:sp>
      <p:sp>
        <p:nvSpPr>
          <p:cNvPr id="4" name="Rectangle 3">
            <a:extLst>
              <a:ext uri="{FF2B5EF4-FFF2-40B4-BE49-F238E27FC236}">
                <a16:creationId xmlns:a16="http://schemas.microsoft.com/office/drawing/2014/main" id="{2B9D9621-E54A-12B6-15D1-AF5A0B7E3555}"/>
              </a:ext>
            </a:extLst>
          </p:cNvPr>
          <p:cNvSpPr>
            <a:spLocks noChangeArrowheads="1"/>
          </p:cNvSpPr>
          <p:nvPr/>
        </p:nvSpPr>
        <p:spPr bwMode="auto">
          <a:xfrm>
            <a:off x="0" y="437191150"/>
            <a:ext cx="52832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1D2D3"/>
                </a:solidFill>
                <a:effectLst/>
                <a:latin typeface="Slack-Lato"/>
              </a:rP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D4883087-C1EB-BE50-09FA-3179A3F35AE5}"/>
              </a:ext>
            </a:extLst>
          </p:cNvPr>
          <p:cNvSpPr>
            <a:spLocks noChangeArrowheads="1"/>
          </p:cNvSpPr>
          <p:nvPr/>
        </p:nvSpPr>
        <p:spPr bwMode="auto">
          <a:xfrm>
            <a:off x="0" y="540061150"/>
            <a:ext cx="58166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D1D2D3"/>
                </a:solidFill>
                <a:effectLst/>
                <a:latin typeface="Slack-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DC3EA2BE-2756-F815-6861-AD2B3FBC6BBF}"/>
              </a:ext>
            </a:extLst>
          </p:cNvPr>
          <p:cNvSpPr>
            <a:spLocks noChangeArrowheads="1"/>
          </p:cNvSpPr>
          <p:nvPr/>
        </p:nvSpPr>
        <p:spPr bwMode="auto">
          <a:xfrm>
            <a:off x="152400" y="437343550"/>
            <a:ext cx="52832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1D2D3"/>
                </a:solidFill>
                <a:effectLst/>
                <a:latin typeface="Slack-Lato"/>
              </a:rP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92A9B7EE-47C0-96FF-CB68-9410DE307D54}"/>
              </a:ext>
            </a:extLst>
          </p:cNvPr>
          <p:cNvSpPr>
            <a:spLocks noChangeArrowheads="1"/>
          </p:cNvSpPr>
          <p:nvPr/>
        </p:nvSpPr>
        <p:spPr bwMode="auto">
          <a:xfrm>
            <a:off x="152400" y="540213550"/>
            <a:ext cx="58166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D1D2D3"/>
                </a:solidFill>
                <a:effectLst/>
                <a:latin typeface="Slack-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65A8C634-30B2-767A-EA45-0411CFAB8786}"/>
              </a:ext>
            </a:extLst>
          </p:cNvPr>
          <p:cNvSpPr>
            <a:spLocks noChangeArrowheads="1"/>
          </p:cNvSpPr>
          <p:nvPr/>
        </p:nvSpPr>
        <p:spPr bwMode="auto">
          <a:xfrm>
            <a:off x="304800" y="437495950"/>
            <a:ext cx="52832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1D2D3"/>
                </a:solidFill>
                <a:effectLst/>
                <a:latin typeface="Slack-Lato"/>
              </a:rP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EA8C5325-7268-1C7B-987C-F65E63083A9B}"/>
              </a:ext>
            </a:extLst>
          </p:cNvPr>
          <p:cNvSpPr>
            <a:spLocks noChangeArrowheads="1"/>
          </p:cNvSpPr>
          <p:nvPr/>
        </p:nvSpPr>
        <p:spPr bwMode="auto">
          <a:xfrm>
            <a:off x="304800" y="540365950"/>
            <a:ext cx="58166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D1D2D3"/>
                </a:solidFill>
                <a:effectLst/>
                <a:latin typeface="Slack-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8AF41B62-AD4D-06AF-EBAB-98EBDC284349}"/>
              </a:ext>
            </a:extLst>
          </p:cNvPr>
          <p:cNvSpPr>
            <a:spLocks noChangeArrowheads="1"/>
          </p:cNvSpPr>
          <p:nvPr/>
        </p:nvSpPr>
        <p:spPr bwMode="auto">
          <a:xfrm>
            <a:off x="457200" y="437648350"/>
            <a:ext cx="52832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1D2D3"/>
                </a:solidFill>
                <a:effectLst/>
                <a:latin typeface="Slack-Lato"/>
              </a:rP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16D9D4BB-78B1-D1C0-0433-9689C9543E75}"/>
              </a:ext>
            </a:extLst>
          </p:cNvPr>
          <p:cNvSpPr>
            <a:spLocks noChangeArrowheads="1"/>
          </p:cNvSpPr>
          <p:nvPr/>
        </p:nvSpPr>
        <p:spPr bwMode="auto">
          <a:xfrm>
            <a:off x="457200" y="540518350"/>
            <a:ext cx="5816600" cy="0"/>
          </a:xfrm>
          <a:prstGeom prst="rect">
            <a:avLst/>
          </a:prstGeom>
          <a:solidFill>
            <a:srgbClr val="1A1D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D1D2D3"/>
                </a:solidFill>
                <a:effectLst/>
                <a:latin typeface="Slack-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Google Shape;218;p17"/>
          <p:cNvSpPr txBox="1">
            <a:spLocks noGrp="1"/>
          </p:cNvSpPr>
          <p:nvPr>
            <p:ph type="title"/>
          </p:nvPr>
        </p:nvSpPr>
        <p:spPr>
          <a:xfrm>
            <a:off x="2895600" y="764373"/>
            <a:ext cx="8610600" cy="1293028"/>
          </a:xfrm>
          <a:prstGeom prst="rect">
            <a:avLst/>
          </a:prstGeom>
        </p:spPr>
        <p:txBody>
          <a:bodyPr/>
          <a:lstStyle/>
          <a:p>
            <a:pPr defTabSz="713231">
              <a:defRPr sz="2807"/>
            </a:pPr>
            <a:r>
              <a:t>NEW BUSINESS</a:t>
            </a:r>
            <a:br/>
            <a:r>
              <a:t>New Music, Video, Books, Purchases, Concerts, etc.</a:t>
            </a:r>
          </a:p>
        </p:txBody>
      </p:sp>
      <p:sp>
        <p:nvSpPr>
          <p:cNvPr id="232" name="Google Shape;219;p17"/>
          <p:cNvSpPr txBox="1">
            <a:spLocks noGrp="1"/>
          </p:cNvSpPr>
          <p:nvPr>
            <p:ph type="body" idx="1"/>
          </p:nvPr>
        </p:nvSpPr>
        <p:spPr>
          <a:xfrm>
            <a:off x="659165" y="1947672"/>
            <a:ext cx="11174770" cy="4790479"/>
          </a:xfrm>
          <a:prstGeom prst="rect">
            <a:avLst/>
          </a:prstGeom>
        </p:spPr>
        <p:txBody>
          <a:bodyPr>
            <a:normAutofit/>
          </a:bodyPr>
          <a:lstStyle/>
          <a:p>
            <a:pPr marL="0" lvl="1" indent="0" defTabSz="649223">
              <a:lnSpc>
                <a:spcPct val="96000"/>
              </a:lnSpc>
              <a:spcBef>
                <a:spcPts val="0"/>
              </a:spcBef>
              <a:buSzTx/>
              <a:buNone/>
              <a:defRPr sz="2059" b="1"/>
            </a:pPr>
            <a:r>
              <a:rPr dirty="0"/>
              <a:t>Lucas</a:t>
            </a:r>
            <a:endParaRPr sz="2272" dirty="0"/>
          </a:p>
          <a:p>
            <a:pPr marL="0" lvl="1" indent="324611" defTabSz="649223">
              <a:lnSpc>
                <a:spcPct val="96000"/>
              </a:lnSpc>
              <a:spcBef>
                <a:spcPts val="0"/>
              </a:spcBef>
              <a:buSzTx/>
              <a:buNone/>
              <a:defRPr sz="1278"/>
            </a:pPr>
            <a:endParaRPr sz="2272" dirty="0"/>
          </a:p>
          <a:p>
            <a:pPr marL="0" lvl="1" indent="324611" defTabSz="649223">
              <a:lnSpc>
                <a:spcPct val="96000"/>
              </a:lnSpc>
              <a:spcBef>
                <a:spcPts val="0"/>
              </a:spcBef>
              <a:buSzTx/>
              <a:buNone/>
              <a:defRPr sz="1278"/>
            </a:pPr>
            <a:endParaRPr sz="2272" dirty="0"/>
          </a:p>
          <a:p>
            <a:pPr marL="0" indent="0" defTabSz="649223">
              <a:lnSpc>
                <a:spcPct val="72000"/>
              </a:lnSpc>
              <a:spcBef>
                <a:spcPts val="700"/>
              </a:spcBef>
              <a:buSzTx/>
              <a:buNone/>
              <a:defRPr sz="1633" b="1"/>
            </a:pPr>
            <a:r>
              <a:rPr sz="2000" dirty="0"/>
              <a:t>Listening: </a:t>
            </a:r>
            <a:r>
              <a:rPr lang="en-US" sz="2000" b="0" dirty="0"/>
              <a:t>MJ Lenderman, Bon Iver, Mark Pritchard/Thom Yorke, Haim, that Kanye West Hitler song but just once and I felt bad about it</a:t>
            </a:r>
            <a:endParaRPr sz="2000" dirty="0"/>
          </a:p>
          <a:p>
            <a:pPr marL="0" indent="0" defTabSz="649223">
              <a:lnSpc>
                <a:spcPct val="72000"/>
              </a:lnSpc>
              <a:spcBef>
                <a:spcPts val="700"/>
              </a:spcBef>
              <a:buSzTx/>
              <a:buNone/>
              <a:defRPr sz="1420"/>
            </a:pPr>
            <a:endParaRPr sz="2000" b="1" dirty="0"/>
          </a:p>
          <a:p>
            <a:pPr marL="0" indent="0" defTabSz="649223">
              <a:lnSpc>
                <a:spcPct val="72000"/>
              </a:lnSpc>
              <a:spcBef>
                <a:spcPts val="700"/>
              </a:spcBef>
              <a:buSzTx/>
              <a:buNone/>
              <a:defRPr sz="1633" b="1"/>
            </a:pPr>
            <a:r>
              <a:rPr sz="2000" dirty="0"/>
              <a:t>Purchases: </a:t>
            </a:r>
            <a:r>
              <a:rPr lang="en-US" sz="2000" b="0" dirty="0"/>
              <a:t>Nirvana – </a:t>
            </a:r>
            <a:r>
              <a:rPr lang="en-US" sz="2000" b="0" dirty="0" err="1"/>
              <a:t>Incesticide</a:t>
            </a:r>
            <a:r>
              <a:rPr lang="en-US" sz="2000" b="0" dirty="0"/>
              <a:t>, Manchester Orchestra – A Black Mile to the Surface, Bon Iver – For Emma, Forever Ago and Sable, </a:t>
            </a:r>
            <a:r>
              <a:rPr lang="en-US" sz="2000" b="0" dirty="0" err="1"/>
              <a:t>fAble</a:t>
            </a:r>
            <a:endParaRPr sz="2000" dirty="0"/>
          </a:p>
          <a:p>
            <a:pPr marL="0" indent="0" defTabSz="649223">
              <a:lnSpc>
                <a:spcPct val="72000"/>
              </a:lnSpc>
              <a:spcBef>
                <a:spcPts val="700"/>
              </a:spcBef>
              <a:buSzTx/>
              <a:buNone/>
              <a:defRPr sz="1633" b="1"/>
            </a:pPr>
            <a:r>
              <a:rPr sz="2000" dirty="0"/>
              <a:t>Docs/Books: </a:t>
            </a:r>
            <a:r>
              <a:rPr sz="2000" b="0" dirty="0"/>
              <a:t>None</a:t>
            </a:r>
            <a:endParaRPr sz="2000" dirty="0"/>
          </a:p>
          <a:p>
            <a:pPr marL="162305" indent="0" defTabSz="649223">
              <a:lnSpc>
                <a:spcPct val="72000"/>
              </a:lnSpc>
              <a:spcBef>
                <a:spcPts val="700"/>
              </a:spcBef>
              <a:buSzTx/>
              <a:buNone/>
              <a:defRPr sz="1420"/>
            </a:pPr>
            <a:endParaRPr sz="2000" dirty="0"/>
          </a:p>
          <a:p>
            <a:pPr marL="0" indent="0" defTabSz="649223">
              <a:lnSpc>
                <a:spcPct val="72000"/>
              </a:lnSpc>
              <a:spcBef>
                <a:spcPts val="700"/>
              </a:spcBef>
              <a:buSzTx/>
              <a:buNone/>
              <a:defRPr sz="1633" b="1"/>
            </a:pPr>
            <a:r>
              <a:rPr sz="2000" dirty="0" err="1"/>
              <a:t>Shows:</a:t>
            </a:r>
            <a:r>
              <a:rPr sz="2000" b="0" dirty="0" err="1"/>
              <a:t>MJ</a:t>
            </a:r>
            <a:r>
              <a:rPr sz="2000" b="0" dirty="0"/>
              <a:t> Lenderman (5/11 - Masonic), Bloc Party (6/7 - Fox and </a:t>
            </a:r>
            <a:r>
              <a:rPr sz="2000" b="0" strike="sngStrike" dirty="0"/>
              <a:t>6/11 - Red Rocks</a:t>
            </a:r>
            <a:r>
              <a:rPr sz="2000" b="0" dirty="0"/>
              <a:t>)</a:t>
            </a:r>
            <a:r>
              <a:rPr lang="en-US" sz="2000" b="0" dirty="0"/>
              <a:t>, LCD/TVOTR (8/13 Red Rocks), Nation of Language (9/23) Father John Misty (9/25)</a:t>
            </a:r>
            <a:endParaRPr sz="2000" b="0" dirty="0"/>
          </a:p>
          <a:p>
            <a:pPr marL="0" indent="0" defTabSz="649223">
              <a:lnSpc>
                <a:spcPct val="72000"/>
              </a:lnSpc>
              <a:spcBef>
                <a:spcPts val="700"/>
              </a:spcBef>
              <a:buSzTx/>
              <a:buNone/>
              <a:defRPr sz="1633" b="1"/>
            </a:pPr>
            <a:endParaRPr b="0" dirty="0"/>
          </a:p>
          <a:p>
            <a:pPr marL="0" indent="0" defTabSz="649223">
              <a:lnSpc>
                <a:spcPct val="72000"/>
              </a:lnSpc>
              <a:spcBef>
                <a:spcPts val="700"/>
              </a:spcBef>
              <a:buSzTx/>
              <a:buNone/>
              <a:defRPr sz="1633" b="1"/>
            </a:pPr>
            <a:endParaRPr b="0"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Google Shape;173;g323a3024ecd_0_13"/>
          <p:cNvSpPr txBox="1">
            <a:spLocks noGrp="1"/>
          </p:cNvSpPr>
          <p:nvPr>
            <p:ph type="title"/>
          </p:nvPr>
        </p:nvSpPr>
        <p:spPr>
          <a:xfrm>
            <a:off x="5876251" y="336775"/>
            <a:ext cx="5225401" cy="694501"/>
          </a:xfrm>
          <a:prstGeom prst="rect">
            <a:avLst/>
          </a:prstGeom>
        </p:spPr>
        <p:txBody>
          <a:bodyPr/>
          <a:lstStyle>
            <a:lvl1pPr>
              <a:defRPr sz="3600"/>
            </a:lvl1pPr>
          </a:lstStyle>
          <a:p>
            <a:r>
              <a:t>ALBUM TWO</a:t>
            </a:r>
          </a:p>
        </p:txBody>
      </p:sp>
      <p:sp>
        <p:nvSpPr>
          <p:cNvPr id="235" name="Google Shape;174;g323a3024ecd_0_13"/>
          <p:cNvSpPr txBox="1">
            <a:spLocks noGrp="1"/>
          </p:cNvSpPr>
          <p:nvPr>
            <p:ph type="body" sz="half" idx="1"/>
          </p:nvPr>
        </p:nvSpPr>
        <p:spPr>
          <a:xfrm>
            <a:off x="139949" y="2001603"/>
            <a:ext cx="5736302" cy="3202501"/>
          </a:xfrm>
          <a:prstGeom prst="rect">
            <a:avLst/>
          </a:prstGeom>
        </p:spPr>
        <p:txBody>
          <a:bodyPr>
            <a:normAutofit/>
          </a:bodyPr>
          <a:lstStyle/>
          <a:p>
            <a:pPr marL="0" indent="0" defTabSz="886968">
              <a:spcBef>
                <a:spcPts val="0"/>
              </a:spcBef>
              <a:buSzTx/>
              <a:buNone/>
              <a:defRPr sz="2134" b="1"/>
            </a:pPr>
            <a:r>
              <a:rPr lang="en-US" dirty="0"/>
              <a:t>Manchester Orchestra – A Black Mile to the Surface</a:t>
            </a:r>
            <a:endParaRPr dirty="0"/>
          </a:p>
          <a:p>
            <a:pPr marL="0" lvl="1" indent="443484" defTabSz="886968">
              <a:spcBef>
                <a:spcPts val="400"/>
              </a:spcBef>
              <a:buSzTx/>
              <a:buNone/>
              <a:defRPr sz="1940"/>
            </a:pPr>
            <a:endParaRPr dirty="0"/>
          </a:p>
          <a:p>
            <a:pPr marL="665226" lvl="1" indent="-221742" defTabSz="886968">
              <a:spcBef>
                <a:spcPts val="400"/>
              </a:spcBef>
              <a:buSzPts val="1900"/>
              <a:defRPr sz="1940"/>
            </a:pPr>
            <a:r>
              <a:rPr dirty="0"/>
              <a:t>Released: </a:t>
            </a:r>
            <a:r>
              <a:rPr lang="en-US" dirty="0"/>
              <a:t>July 21, 2017</a:t>
            </a:r>
          </a:p>
          <a:p>
            <a:pPr marL="665226" lvl="1" indent="-221742" defTabSz="886968">
              <a:spcBef>
                <a:spcPts val="400"/>
              </a:spcBef>
              <a:buSzPts val="1900"/>
              <a:defRPr sz="1940"/>
            </a:pPr>
            <a:r>
              <a:rPr lang="en-US" dirty="0"/>
              <a:t>Recorded: Echo Mountain Recording, Elmwood West, Favorite Gentlemen, The Village</a:t>
            </a:r>
          </a:p>
          <a:p>
            <a:pPr marL="665226" lvl="1" indent="-221742" defTabSz="886968">
              <a:spcBef>
                <a:spcPts val="400"/>
              </a:spcBef>
              <a:buSzPts val="1900"/>
              <a:defRPr sz="1940"/>
            </a:pPr>
            <a:r>
              <a:rPr dirty="0"/>
              <a:t>Label:</a:t>
            </a:r>
            <a:r>
              <a:rPr lang="en-US" dirty="0"/>
              <a:t> Loma Vista</a:t>
            </a:r>
          </a:p>
          <a:p>
            <a:pPr marL="665226" lvl="1" indent="-221742" defTabSz="886968">
              <a:spcBef>
                <a:spcPts val="400"/>
              </a:spcBef>
              <a:buSzPts val="1900"/>
              <a:defRPr sz="1940"/>
            </a:pPr>
            <a:r>
              <a:rPr lang="en-US" dirty="0"/>
              <a:t>Producer: Catherine Marks</a:t>
            </a:r>
            <a:endParaRPr dirty="0"/>
          </a:p>
        </p:txBody>
      </p:sp>
      <p:pic>
        <p:nvPicPr>
          <p:cNvPr id="4098" name="Picture 2">
            <a:extLst>
              <a:ext uri="{FF2B5EF4-FFF2-40B4-BE49-F238E27FC236}">
                <a16:creationId xmlns:a16="http://schemas.microsoft.com/office/drawing/2014/main" id="{11480FA7-B71B-EE6E-1803-ABFBF64D2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9776" y="1417320"/>
            <a:ext cx="4956048" cy="4956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Google Shape;180;g323a3024ecd_0_19"/>
          <p:cNvSpPr txBox="1">
            <a:spLocks noGrp="1"/>
          </p:cNvSpPr>
          <p:nvPr>
            <p:ph type="title"/>
          </p:nvPr>
        </p:nvSpPr>
        <p:spPr>
          <a:xfrm>
            <a:off x="5320935" y="464671"/>
            <a:ext cx="6153301" cy="694501"/>
          </a:xfrm>
          <a:prstGeom prst="rect">
            <a:avLst/>
          </a:prstGeom>
        </p:spPr>
        <p:txBody>
          <a:bodyPr/>
          <a:lstStyle>
            <a:lvl1pPr defTabSz="850391">
              <a:defRPr sz="3906"/>
            </a:lvl1pPr>
          </a:lstStyle>
          <a:p>
            <a:r>
              <a:t>ALBUM TWO</a:t>
            </a:r>
          </a:p>
        </p:txBody>
      </p:sp>
      <p:sp>
        <p:nvSpPr>
          <p:cNvPr id="239" name="Google Shape;181;g323a3024ecd_0_19"/>
          <p:cNvSpPr txBox="1">
            <a:spLocks noGrp="1"/>
          </p:cNvSpPr>
          <p:nvPr>
            <p:ph type="body" sz="half" idx="1"/>
          </p:nvPr>
        </p:nvSpPr>
        <p:spPr>
          <a:xfrm>
            <a:off x="238199" y="1926780"/>
            <a:ext cx="6965399" cy="4731900"/>
          </a:xfrm>
          <a:prstGeom prst="rect">
            <a:avLst/>
          </a:prstGeom>
        </p:spPr>
        <p:txBody>
          <a:bodyPr/>
          <a:lstStyle/>
          <a:p>
            <a:pPr marL="0" indent="0" defTabSz="667512">
              <a:lnSpc>
                <a:spcPct val="72000"/>
              </a:lnSpc>
              <a:spcBef>
                <a:spcPts val="0"/>
              </a:spcBef>
              <a:buSzTx/>
              <a:buNone/>
              <a:defRPr sz="1898" b="1"/>
            </a:pPr>
            <a:r>
              <a:rPr lang="en-US" dirty="0"/>
              <a:t>Manchester Orchestra – A Black Mile to the Surface</a:t>
            </a:r>
            <a:endParaRPr dirty="0"/>
          </a:p>
          <a:p>
            <a:pPr marL="166878" indent="0" defTabSz="667512">
              <a:lnSpc>
                <a:spcPct val="72000"/>
              </a:lnSpc>
              <a:spcBef>
                <a:spcPts val="700"/>
              </a:spcBef>
              <a:buSzTx/>
              <a:buNone/>
              <a:defRPr sz="1606"/>
            </a:pPr>
            <a:endParaRPr lang="en-US" b="1" i="1" dirty="0"/>
          </a:p>
          <a:p>
            <a:pPr marL="333756" indent="-257081" defTabSz="667512">
              <a:lnSpc>
                <a:spcPct val="72000"/>
              </a:lnSpc>
              <a:spcBef>
                <a:spcPts val="700"/>
              </a:spcBef>
              <a:buSzPts val="1600"/>
              <a:defRPr sz="1606" i="1"/>
            </a:pPr>
            <a:r>
              <a:rPr lang="en-US" dirty="0"/>
              <a:t>A Black Mile to the Surface is Manchester Orchestra’s fifth studio album. The album is setup as cohesive record the interweaves reflections on the lead singers newborn daughter with a concept around a small mining town in South Dakota. </a:t>
            </a:r>
          </a:p>
          <a:p>
            <a:pPr marL="333756" indent="-257081" defTabSz="667512">
              <a:lnSpc>
                <a:spcPct val="72000"/>
              </a:lnSpc>
              <a:spcBef>
                <a:spcPts val="700"/>
              </a:spcBef>
              <a:buSzPts val="1600"/>
              <a:defRPr sz="1606" i="1"/>
            </a:pPr>
            <a:r>
              <a:rPr lang="en-US" dirty="0"/>
              <a:t>Manchester Orchestra shifted to the concept album format after working on the soundtrack for Swiss Army Man the prior year. The concept moved the band away from the post-hardcore sounds of their prior albums and infused them with more organic, Americana sounds. </a:t>
            </a:r>
          </a:p>
          <a:p>
            <a:pPr marL="333756" indent="-257081" defTabSz="667512">
              <a:lnSpc>
                <a:spcPct val="72000"/>
              </a:lnSpc>
              <a:spcBef>
                <a:spcPts val="700"/>
              </a:spcBef>
              <a:buSzPts val="1600"/>
              <a:defRPr sz="1606" i="1"/>
            </a:pPr>
            <a:r>
              <a:rPr lang="en-US" dirty="0"/>
              <a:t>The album was generally well received by critics as positive development in Manchester Orchestra’s sound. A few critics found that this new style didn’t play to the band's strength building songs to a crescendo but appreciated the attempt to go in a new direction. </a:t>
            </a:r>
          </a:p>
        </p:txBody>
      </p:sp>
      <p:pic>
        <p:nvPicPr>
          <p:cNvPr id="3074" name="Picture 2">
            <a:extLst>
              <a:ext uri="{FF2B5EF4-FFF2-40B4-BE49-F238E27FC236}">
                <a16:creationId xmlns:a16="http://schemas.microsoft.com/office/drawing/2014/main" id="{39DD6990-25A2-3E34-1C66-F523E04E96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236" y="2011680"/>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367eecc7-9005-4cfd-bbd0-5a50605b9646.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a95592f3-c4a7-4025-a4f6-ebbfd48fb309.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20b498dc-450f-4955-9967-bce926864231.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bfa29a8f-b4fb-49a9-bbae-a9127c4983d2.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82624ea5-a122-49f2-bd95-669ab938d028.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25d132d3-6133-4f10-b840-c134e398ccef.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4b2125f9-0a98-4250-a3f1-6e4981d604b1.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4c61e77a-5534-4871-8658-78df86e8650e.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b8e14900-799a-4470-8116-9ac25cef0b8e.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015d17c6-89ff-4b47-9894-63f02b5a7f05.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a451f489-9c9a-49b6-9fb4-5dde8bd707b8.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0d216278-0543-4081-a6f2-2e51c7d9f433.jpg"/>
          <p:cNvPicPr>
            <a:picLocks noChangeAspect="1"/>
          </p:cNvPicPr>
          <p:nvPr/>
        </p:nvPicPr>
        <p:blipFill>
          <a:blip r:embed="rId3"/>
          <a:srcRect/>
          <a:stretch/>
        </p:blipFill>
        <p:spPr>
          <a:xfrm>
            <a:off x="0" y="0"/>
            <a:ext cx="12192000" cy="6858000"/>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Google Shape;238;p50"/>
          <p:cNvSpPr txBox="1">
            <a:spLocks noGrp="1"/>
          </p:cNvSpPr>
          <p:nvPr>
            <p:ph type="title"/>
          </p:nvPr>
        </p:nvSpPr>
        <p:spPr>
          <a:xfrm>
            <a:off x="8150686" y="336779"/>
            <a:ext cx="2950780" cy="694615"/>
          </a:xfrm>
          <a:prstGeom prst="rect">
            <a:avLst/>
          </a:prstGeom>
        </p:spPr>
        <p:txBody>
          <a:bodyPr/>
          <a:lstStyle>
            <a:lvl1pPr defTabSz="896111">
              <a:defRPr sz="3920"/>
            </a:lvl1pPr>
          </a:lstStyle>
          <a:p>
            <a:r>
              <a:t>HEADLINER</a:t>
            </a:r>
          </a:p>
        </p:txBody>
      </p:sp>
      <p:sp>
        <p:nvSpPr>
          <p:cNvPr id="243" name="Google Shape;239;p50"/>
          <p:cNvSpPr txBox="1">
            <a:spLocks noGrp="1"/>
          </p:cNvSpPr>
          <p:nvPr>
            <p:ph type="body" sz="half" idx="1"/>
          </p:nvPr>
        </p:nvSpPr>
        <p:spPr>
          <a:xfrm>
            <a:off x="139951" y="2763603"/>
            <a:ext cx="5736193" cy="3202483"/>
          </a:xfrm>
          <a:prstGeom prst="rect">
            <a:avLst/>
          </a:prstGeom>
        </p:spPr>
        <p:txBody>
          <a:bodyPr>
            <a:normAutofit fontScale="92500" lnSpcReduction="20000"/>
          </a:bodyPr>
          <a:lstStyle/>
          <a:p>
            <a:pPr marL="0" indent="0">
              <a:spcBef>
                <a:spcPts val="0"/>
              </a:spcBef>
              <a:buSzTx/>
              <a:buNone/>
              <a:defRPr b="1"/>
            </a:pPr>
            <a:r>
              <a:rPr lang="en-US" dirty="0"/>
              <a:t>Radiohead – In Rainbows</a:t>
            </a:r>
            <a:endParaRPr dirty="0"/>
          </a:p>
          <a:p>
            <a:pPr marL="0" lvl="1" indent="457200">
              <a:spcBef>
                <a:spcPts val="500"/>
              </a:spcBef>
              <a:buSzTx/>
              <a:buNone/>
              <a:defRPr sz="2000"/>
            </a:pPr>
            <a:endParaRPr dirty="0"/>
          </a:p>
          <a:p>
            <a:pPr marL="685800" lvl="1" indent="-228600">
              <a:spcBef>
                <a:spcPts val="500"/>
              </a:spcBef>
              <a:buSzPts val="2000"/>
              <a:defRPr sz="2000"/>
            </a:pPr>
            <a:r>
              <a:rPr dirty="0"/>
              <a:t>Released: </a:t>
            </a:r>
            <a:r>
              <a:rPr lang="en-US" dirty="0"/>
              <a:t>October 10</a:t>
            </a:r>
            <a:r>
              <a:rPr lang="en-US" baseline="30000" dirty="0"/>
              <a:t>th</a:t>
            </a:r>
            <a:r>
              <a:rPr lang="en-US" dirty="0"/>
              <a:t>, 2007</a:t>
            </a:r>
            <a:endParaRPr dirty="0"/>
          </a:p>
          <a:p>
            <a:pPr marL="685800" lvl="1" indent="-228600">
              <a:spcBef>
                <a:spcPts val="500"/>
              </a:spcBef>
              <a:buSzPts val="2000"/>
              <a:defRPr sz="2000"/>
            </a:pPr>
            <a:r>
              <a:rPr dirty="0"/>
              <a:t>Recorded: </a:t>
            </a:r>
            <a:endParaRPr lang="en-US" dirty="0"/>
          </a:p>
          <a:p>
            <a:pPr marL="1184911" lvl="2" indent="-228600">
              <a:spcBef>
                <a:spcPts val="500"/>
              </a:spcBef>
              <a:buSzPts val="2000"/>
              <a:defRPr sz="2000"/>
            </a:pPr>
            <a:r>
              <a:rPr lang="en-US" dirty="0" err="1"/>
              <a:t>Halswell</a:t>
            </a:r>
            <a:r>
              <a:rPr lang="en-US" dirty="0"/>
              <a:t> House, Somerset</a:t>
            </a:r>
          </a:p>
          <a:p>
            <a:pPr marL="1184911" lvl="2" indent="-228600">
              <a:spcBef>
                <a:spcPts val="500"/>
              </a:spcBef>
              <a:buSzPts val="2000"/>
              <a:defRPr sz="2000"/>
            </a:pPr>
            <a:r>
              <a:rPr lang="en-US" dirty="0"/>
              <a:t>Tottenham House, Wiltshire</a:t>
            </a:r>
          </a:p>
          <a:p>
            <a:pPr marL="1184911" lvl="2" indent="-228600">
              <a:spcBef>
                <a:spcPts val="500"/>
              </a:spcBef>
              <a:buSzPts val="2000"/>
              <a:defRPr sz="2000"/>
            </a:pPr>
            <a:r>
              <a:rPr lang="en-US" dirty="0"/>
              <a:t>The Hospital Club, London</a:t>
            </a:r>
          </a:p>
          <a:p>
            <a:pPr marL="1184911" lvl="2" indent="-228600">
              <a:spcBef>
                <a:spcPts val="500"/>
              </a:spcBef>
              <a:buSzPts val="2000"/>
              <a:defRPr sz="2000"/>
            </a:pPr>
            <a:r>
              <a:rPr lang="en-US" dirty="0"/>
              <a:t>Radiohead's studio, Oxfordshire</a:t>
            </a:r>
          </a:p>
          <a:p>
            <a:pPr marL="685800" lvl="1" indent="-228600">
              <a:spcBef>
                <a:spcPts val="500"/>
              </a:spcBef>
              <a:buSzPts val="2000"/>
              <a:defRPr sz="2000"/>
            </a:pPr>
            <a:r>
              <a:rPr dirty="0"/>
              <a:t>Label: </a:t>
            </a:r>
            <a:r>
              <a:rPr lang="en-US" dirty="0"/>
              <a:t>Self released through XL and TBD (North America)</a:t>
            </a:r>
            <a:endParaRPr dirty="0"/>
          </a:p>
          <a:p>
            <a:pPr marL="685800" lvl="1" indent="-228600">
              <a:spcBef>
                <a:spcPts val="500"/>
              </a:spcBef>
              <a:buSzPts val="2000"/>
              <a:defRPr sz="2000"/>
            </a:pPr>
            <a:r>
              <a:rPr dirty="0"/>
              <a:t>Producer: </a:t>
            </a:r>
            <a:r>
              <a:rPr lang="en-US" dirty="0"/>
              <a:t>Nigel </a:t>
            </a:r>
            <a:r>
              <a:rPr lang="en-US" dirty="0" err="1"/>
              <a:t>Godrich</a:t>
            </a:r>
            <a:endParaRPr dirty="0"/>
          </a:p>
        </p:txBody>
      </p:sp>
      <p:pic>
        <p:nvPicPr>
          <p:cNvPr id="5122" name="Picture 2">
            <a:extLst>
              <a:ext uri="{FF2B5EF4-FFF2-40B4-BE49-F238E27FC236}">
                <a16:creationId xmlns:a16="http://schemas.microsoft.com/office/drawing/2014/main" id="{081B08BD-F30F-CA3D-4206-6BE43F2132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6964" y="1335003"/>
            <a:ext cx="5186218" cy="51862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Google Shape;245;p51"/>
          <p:cNvSpPr txBox="1">
            <a:spLocks noGrp="1"/>
          </p:cNvSpPr>
          <p:nvPr>
            <p:ph type="title"/>
          </p:nvPr>
        </p:nvSpPr>
        <p:spPr>
          <a:xfrm>
            <a:off x="4052801" y="336775"/>
            <a:ext cx="4091700" cy="694501"/>
          </a:xfrm>
          <a:prstGeom prst="rect">
            <a:avLst/>
          </a:prstGeom>
        </p:spPr>
        <p:txBody>
          <a:bodyPr/>
          <a:lstStyle>
            <a:lvl1pPr defTabSz="850391">
              <a:defRPr sz="3906"/>
            </a:lvl1pPr>
          </a:lstStyle>
          <a:p>
            <a:r>
              <a:t>HEADLINER</a:t>
            </a:r>
          </a:p>
        </p:txBody>
      </p:sp>
      <p:sp>
        <p:nvSpPr>
          <p:cNvPr id="247" name="Google Shape;246;p51"/>
          <p:cNvSpPr txBox="1">
            <a:spLocks noGrp="1"/>
          </p:cNvSpPr>
          <p:nvPr>
            <p:ph type="body" sz="half" idx="1"/>
          </p:nvPr>
        </p:nvSpPr>
        <p:spPr>
          <a:xfrm>
            <a:off x="238199" y="1926780"/>
            <a:ext cx="6965385" cy="4731769"/>
          </a:xfrm>
          <a:prstGeom prst="rect">
            <a:avLst/>
          </a:prstGeom>
        </p:spPr>
        <p:txBody>
          <a:bodyPr>
            <a:normAutofit lnSpcReduction="10000"/>
          </a:bodyPr>
          <a:lstStyle/>
          <a:p>
            <a:pPr marL="0" indent="0">
              <a:lnSpc>
                <a:spcPct val="72000"/>
              </a:lnSpc>
              <a:spcBef>
                <a:spcPts val="0"/>
              </a:spcBef>
              <a:buSzTx/>
              <a:buNone/>
              <a:defRPr sz="2400" b="1"/>
            </a:pPr>
            <a:r>
              <a:rPr lang="en-US" dirty="0"/>
              <a:t>Radiohead – In Rainbows</a:t>
            </a:r>
          </a:p>
          <a:p>
            <a:pPr marL="0" indent="0">
              <a:lnSpc>
                <a:spcPct val="72000"/>
              </a:lnSpc>
              <a:spcBef>
                <a:spcPts val="0"/>
              </a:spcBef>
              <a:buSzTx/>
              <a:buNone/>
              <a:defRPr sz="2400" b="1"/>
            </a:pPr>
            <a:endParaRPr lang="en-US" sz="2600" dirty="0"/>
          </a:p>
          <a:p>
            <a:pPr marL="571500" indent="-228600">
              <a:lnSpc>
                <a:spcPct val="70000"/>
              </a:lnSpc>
              <a:spcBef>
                <a:spcPts val="500"/>
              </a:spcBef>
              <a:buSzPts val="2000"/>
              <a:defRPr sz="2000"/>
            </a:pPr>
            <a:r>
              <a:rPr lang="en-US" sz="1900" dirty="0"/>
              <a:t>In Rainbows is Radiohead’s seventh studio album. It was self released without prior notice and was available under a Pay-What-You-Want model to allow for greater access to the music. </a:t>
            </a:r>
          </a:p>
          <a:p>
            <a:pPr marL="571500" indent="-228600">
              <a:lnSpc>
                <a:spcPct val="70000"/>
              </a:lnSpc>
              <a:spcBef>
                <a:spcPts val="500"/>
              </a:spcBef>
              <a:buSzPts val="2000"/>
              <a:defRPr sz="2000"/>
            </a:pPr>
            <a:r>
              <a:rPr lang="en-US" sz="1900" dirty="0"/>
              <a:t>The album was released after a three year hiatus following the Hail to the Thief tour. The band returned to the studio in 2005 but progress was slow with Yorks stating that the band felt like they were wasting time. </a:t>
            </a:r>
          </a:p>
          <a:p>
            <a:pPr marL="571500" indent="-228600">
              <a:lnSpc>
                <a:spcPct val="70000"/>
              </a:lnSpc>
              <a:spcBef>
                <a:spcPts val="500"/>
              </a:spcBef>
              <a:buSzPts val="2000"/>
              <a:defRPr sz="2000"/>
            </a:pPr>
            <a:r>
              <a:rPr lang="en-US" sz="1900" dirty="0"/>
              <a:t>After a failed attempt to create an album with producer Spike Stent, Radiohead’s management suggested the band break-up. The band instead toured, which applied pressure on them to finish the new material. </a:t>
            </a:r>
          </a:p>
          <a:p>
            <a:pPr marL="571500" indent="-228600">
              <a:lnSpc>
                <a:spcPct val="70000"/>
              </a:lnSpc>
              <a:spcBef>
                <a:spcPts val="500"/>
              </a:spcBef>
              <a:buSzPts val="2000"/>
              <a:defRPr sz="2000"/>
            </a:pPr>
            <a:r>
              <a:rPr lang="en-US" sz="1900" dirty="0"/>
              <a:t>After touring, the band started working with Nigel Goodrich and recorded the album at several studios across England over the end of 2006. </a:t>
            </a:r>
          </a:p>
          <a:p>
            <a:pPr marL="571500" indent="-228600">
              <a:lnSpc>
                <a:spcPct val="70000"/>
              </a:lnSpc>
              <a:spcBef>
                <a:spcPts val="500"/>
              </a:spcBef>
              <a:buSzPts val="2000"/>
              <a:defRPr sz="2000"/>
            </a:pPr>
            <a:r>
              <a:rPr lang="en-US" sz="1900" dirty="0"/>
              <a:t>The album itself continues the layering and electronic influence of Kid A and Amnesiac but with more warmth and less dystopian lyrical content. </a:t>
            </a:r>
            <a:endParaRPr sz="1900" dirty="0"/>
          </a:p>
          <a:p>
            <a:pPr marL="228600" indent="0">
              <a:lnSpc>
                <a:spcPct val="72000"/>
              </a:lnSpc>
              <a:buSzTx/>
              <a:buNone/>
              <a:defRPr sz="2000"/>
            </a:pPr>
            <a:endParaRPr b="1" i="1" dirty="0"/>
          </a:p>
        </p:txBody>
      </p:sp>
      <p:pic>
        <p:nvPicPr>
          <p:cNvPr id="6146" name="Picture 2">
            <a:extLst>
              <a:ext uri="{FF2B5EF4-FFF2-40B4-BE49-F238E27FC236}">
                <a16:creationId xmlns:a16="http://schemas.microsoft.com/office/drawing/2014/main" id="{909D85D6-7A02-3B15-18AB-531F881BAA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0745" y="1926780"/>
            <a:ext cx="4114800" cy="411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30"/>
          <p:cNvSpPr txBox="1">
            <a:spLocks noGrp="1"/>
          </p:cNvSpPr>
          <p:nvPr>
            <p:ph type="title"/>
          </p:nvPr>
        </p:nvSpPr>
        <p:spPr>
          <a:xfrm>
            <a:off x="2895600" y="764373"/>
            <a:ext cx="8610600" cy="1293028"/>
          </a:xfrm>
          <a:prstGeom prst="rect">
            <a:avLst/>
          </a:prstGeom>
        </p:spPr>
        <p:txBody>
          <a:bodyPr/>
          <a:lstStyle/>
          <a:p>
            <a:r>
              <a:t>ROTATION</a:t>
            </a:r>
          </a:p>
        </p:txBody>
      </p:sp>
      <p:sp>
        <p:nvSpPr>
          <p:cNvPr id="270" name="Google Shape;290;p30"/>
          <p:cNvSpPr txBox="1">
            <a:spLocks noGrp="1"/>
          </p:cNvSpPr>
          <p:nvPr>
            <p:ph type="body" idx="1"/>
          </p:nvPr>
        </p:nvSpPr>
        <p:spPr>
          <a:prstGeom prst="rect">
            <a:avLst/>
          </a:prstGeom>
        </p:spPr>
        <p:txBody>
          <a:bodyPr/>
          <a:lstStyle/>
          <a:p>
            <a:pPr marL="228600" indent="-228600">
              <a:spcBef>
                <a:spcPts val="0"/>
              </a:spcBef>
            </a:pPr>
            <a:r>
              <a:t>Chris</a:t>
            </a:r>
          </a:p>
          <a:p>
            <a:pPr marL="228600" indent="-228600"/>
            <a:r>
              <a:t>Joe</a:t>
            </a:r>
          </a:p>
          <a:p>
            <a:pPr marL="228600" indent="-228600"/>
            <a:r>
              <a:t>John</a:t>
            </a:r>
          </a:p>
          <a:p>
            <a:pPr marL="228600" indent="-228600"/>
            <a:r>
              <a:t>Adam</a:t>
            </a:r>
          </a:p>
          <a:p>
            <a:pPr marL="228600" indent="-228600"/>
            <a:r>
              <a:t>Lucas</a:t>
            </a:r>
          </a:p>
          <a:p>
            <a:pPr marL="88900" indent="50800">
              <a:buSzTx/>
              <a:buNone/>
            </a:pPr>
            <a:endParaRPr/>
          </a:p>
          <a:p>
            <a:pPr marL="228600" indent="-228600"/>
            <a:r>
              <a:t>Whoever is MC, they have music and booze, whoever is on deck, they have notes and food.</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Google Shape;301;p23"/>
          <p:cNvSpPr txBox="1">
            <a:spLocks noGrp="1"/>
          </p:cNvSpPr>
          <p:nvPr>
            <p:ph type="title"/>
          </p:nvPr>
        </p:nvSpPr>
        <p:spPr>
          <a:xfrm>
            <a:off x="2895600" y="764373"/>
            <a:ext cx="8610600" cy="1293028"/>
          </a:xfrm>
          <a:prstGeom prst="rect">
            <a:avLst/>
          </a:prstGeom>
        </p:spPr>
        <p:txBody>
          <a:bodyPr/>
          <a:lstStyle/>
          <a:p>
            <a:r>
              <a:t>WRAP UP</a:t>
            </a:r>
          </a:p>
        </p:txBody>
      </p:sp>
      <p:sp>
        <p:nvSpPr>
          <p:cNvPr id="276" name="Google Shape;302;p23"/>
          <p:cNvSpPr txBox="1">
            <a:spLocks noGrp="1"/>
          </p:cNvSpPr>
          <p:nvPr>
            <p:ph type="body" idx="1"/>
          </p:nvPr>
        </p:nvSpPr>
        <p:spPr>
          <a:prstGeom prst="rect">
            <a:avLst/>
          </a:prstGeom>
        </p:spPr>
        <p:txBody>
          <a:bodyPr/>
          <a:lstStyle/>
          <a:p>
            <a:pPr marL="228600" indent="-228600">
              <a:spcBef>
                <a:spcPts val="0"/>
              </a:spcBef>
            </a:pPr>
            <a:r>
              <a:rPr dirty="0"/>
              <a:t>Next Meeting</a:t>
            </a:r>
          </a:p>
          <a:p>
            <a:pPr marL="685800" lvl="1" indent="-228600">
              <a:spcBef>
                <a:spcPts val="500"/>
              </a:spcBef>
              <a:buSzPts val="2000"/>
              <a:defRPr sz="2000"/>
            </a:pPr>
            <a:r>
              <a:rPr dirty="0"/>
              <a:t>Date:  </a:t>
            </a:r>
            <a:r>
              <a:rPr lang="en-US" dirty="0"/>
              <a:t>June 12</a:t>
            </a:r>
            <a:r>
              <a:rPr dirty="0"/>
              <a:t>, 2025 </a:t>
            </a:r>
            <a:endParaRPr lang="en-US" dirty="0"/>
          </a:p>
          <a:p>
            <a:pPr marL="685800" lvl="1" indent="-228600">
              <a:spcBef>
                <a:spcPts val="500"/>
              </a:spcBef>
              <a:buSzPts val="2000"/>
              <a:defRPr sz="2000"/>
            </a:pPr>
            <a:r>
              <a:rPr dirty="0"/>
              <a:t>Host – Music &amp; Cocktails</a:t>
            </a:r>
            <a:r>
              <a:rPr lang="en-US" dirty="0"/>
              <a:t>: Chris</a:t>
            </a:r>
            <a:endParaRPr dirty="0"/>
          </a:p>
          <a:p>
            <a:pPr marL="685800" lvl="1" indent="-228600">
              <a:spcBef>
                <a:spcPts val="500"/>
              </a:spcBef>
              <a:buSzPts val="2000"/>
              <a:defRPr sz="2000"/>
            </a:pPr>
            <a:r>
              <a:rPr dirty="0"/>
              <a:t>Notes &amp; Food: </a:t>
            </a:r>
            <a:r>
              <a:rPr lang="en-US" dirty="0"/>
              <a:t>Joe</a:t>
            </a:r>
            <a:endParaRPr dirty="0"/>
          </a:p>
          <a:p>
            <a:pPr marL="685800" lvl="1" indent="-228600">
              <a:spcBef>
                <a:spcPts val="500"/>
              </a:spcBef>
              <a:buSzPts val="2000"/>
              <a:defRPr sz="2000"/>
            </a:pPr>
            <a:r>
              <a:rPr dirty="0"/>
              <a:t>Final Thoughts</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307;p57"/>
          <p:cNvSpPr txBox="1">
            <a:spLocks noGrp="1"/>
          </p:cNvSpPr>
          <p:nvPr>
            <p:ph type="title"/>
          </p:nvPr>
        </p:nvSpPr>
        <p:spPr>
          <a:xfrm>
            <a:off x="822433" y="2109366"/>
            <a:ext cx="10820401" cy="2801937"/>
          </a:xfrm>
          <a:prstGeom prst="rect">
            <a:avLst/>
          </a:prstGeom>
        </p:spPr>
        <p:txBody>
          <a:bodyPr/>
          <a:lstStyle/>
          <a:p>
            <a:r>
              <a:t>APPENDICES</a:t>
            </a:r>
          </a:p>
        </p:txBody>
      </p:sp>
      <p:sp>
        <p:nvSpPr>
          <p:cNvPr id="279" name="Google Shape;308;p57"/>
          <p:cNvSpPr txBox="1">
            <a:spLocks noGrp="1"/>
          </p:cNvSpPr>
          <p:nvPr>
            <p:ph type="body" sz="quarter" idx="1"/>
          </p:nvPr>
        </p:nvSpPr>
        <p:spPr>
          <a:xfrm>
            <a:off x="1161101" y="4997560"/>
            <a:ext cx="10490201" cy="955677"/>
          </a:xfrm>
          <a:prstGeom prst="rect">
            <a:avLst/>
          </a:prstGeom>
        </p:spPr>
        <p:txBody>
          <a:bodyPr/>
          <a:lstStyle>
            <a:lvl1pPr marL="0">
              <a:spcBef>
                <a:spcPts val="0"/>
              </a:spcBef>
            </a:lvl1pPr>
          </a:lstStyle>
          <a:p>
            <a:r>
              <a:t>For reference only</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t>HISTORY</a:t>
            </a:r>
          </a:p>
        </p:txBody>
      </p:sp>
      <p:graphicFrame>
        <p:nvGraphicFramePr>
          <p:cNvPr id="270" name="Google Shape;290;p58"/>
          <p:cNvGraphicFramePr/>
          <p:nvPr/>
        </p:nvGraphicFramePr>
        <p:xfrm>
          <a:off x="756550" y="1331016"/>
          <a:ext cx="10678899" cy="4229190"/>
        </p:xfrm>
        <a:graphic>
          <a:graphicData uri="http://schemas.openxmlformats.org/drawingml/2006/table">
            <a:tbl>
              <a:tblPr firstRow="1" bandRow="1">
                <a:tableStyleId>{4C3C2611-4C71-4FC5-86AE-919BDF0F9419}</a:tableStyleId>
              </a:tblPr>
              <a:tblGrid>
                <a:gridCol w="382500">
                  <a:extLst>
                    <a:ext uri="{9D8B030D-6E8A-4147-A177-3AD203B41FA5}">
                      <a16:colId xmlns:a16="http://schemas.microsoft.com/office/drawing/2014/main" val="20000"/>
                    </a:ext>
                  </a:extLst>
                </a:gridCol>
                <a:gridCol w="1769574">
                  <a:extLst>
                    <a:ext uri="{9D8B030D-6E8A-4147-A177-3AD203B41FA5}">
                      <a16:colId xmlns:a16="http://schemas.microsoft.com/office/drawing/2014/main" val="20001"/>
                    </a:ext>
                  </a:extLst>
                </a:gridCol>
                <a:gridCol w="890075">
                  <a:extLst>
                    <a:ext uri="{9D8B030D-6E8A-4147-A177-3AD203B41FA5}">
                      <a16:colId xmlns:a16="http://schemas.microsoft.com/office/drawing/2014/main" val="20002"/>
                    </a:ext>
                  </a:extLst>
                </a:gridCol>
                <a:gridCol w="2070675">
                  <a:extLst>
                    <a:ext uri="{9D8B030D-6E8A-4147-A177-3AD203B41FA5}">
                      <a16:colId xmlns:a16="http://schemas.microsoft.com/office/drawing/2014/main" val="20003"/>
                    </a:ext>
                  </a:extLst>
                </a:gridCol>
                <a:gridCol w="5566075">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dirty="0">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1</a:t>
                      </a:r>
                    </a:p>
                  </a:txBody>
                  <a:tcPr marL="9525" marR="9525" marT="9525" marB="9525" anchor="b" horzOverflow="overflow"/>
                </a:tc>
                <a:tc>
                  <a:txBody>
                    <a:bodyPr/>
                    <a:lstStyle/>
                    <a:p>
                      <a:pPr algn="ctr">
                        <a:defRPr sz="1800"/>
                      </a:pPr>
                      <a:r>
                        <a:rPr sz="1400">
                          <a:solidFill>
                            <a:srgbClr val="FFFFFF"/>
                          </a:solidFill>
                          <a:sym typeface="Arial"/>
                        </a:rPr>
                        <a:t>1/22/2015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Sazerac</a:t>
                      </a:r>
                    </a:p>
                  </a:txBody>
                  <a:tcPr marL="9525" marR="9525" marT="9525" marB="9525" anchor="b" horzOverflow="overflow"/>
                </a:tc>
                <a:tc>
                  <a:txBody>
                    <a:bodyPr/>
                    <a:lstStyle/>
                    <a:p>
                      <a:pPr algn="l">
                        <a:defRPr sz="1800"/>
                      </a:pPr>
                      <a:r>
                        <a:rPr sz="1400">
                          <a:solidFill>
                            <a:srgbClr val="FFFFFF"/>
                          </a:solidFill>
                          <a:sym typeface="Arial"/>
                        </a:rPr>
                        <a:t>King Crimson In the Court of the Crimson King</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2</a:t>
                      </a:r>
                    </a:p>
                  </a:txBody>
                  <a:tcPr marL="9525" marR="9525" marT="9525" marB="9525" anchor="b" horzOverflow="overflow"/>
                </a:tc>
                <a:tc>
                  <a:txBody>
                    <a:bodyPr/>
                    <a:lstStyle/>
                    <a:p>
                      <a:pPr algn="ctr">
                        <a:defRPr sz="1800"/>
                      </a:pPr>
                      <a:r>
                        <a:rPr sz="1400">
                          <a:solidFill>
                            <a:srgbClr val="FFFFFF"/>
                          </a:solidFill>
                          <a:sym typeface="Arial"/>
                        </a:rPr>
                        <a:t>2/26/2015</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Sidecar</a:t>
                      </a:r>
                    </a:p>
                  </a:txBody>
                  <a:tcPr marL="9525" marR="9525" marT="9525" marB="9525" anchor="b" horzOverflow="overflow"/>
                </a:tc>
                <a:tc>
                  <a:txBody>
                    <a:bodyPr/>
                    <a:lstStyle/>
                    <a:p>
                      <a:pPr algn="l">
                        <a:defRPr sz="1800"/>
                      </a:pPr>
                      <a:r>
                        <a:rPr sz="1400">
                          <a:solidFill>
                            <a:srgbClr val="FFFFFF"/>
                          </a:solidFill>
                          <a:sym typeface="Arial"/>
                        </a:rPr>
                        <a:t>Mountain Nantucket Sleighride</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3</a:t>
                      </a:r>
                    </a:p>
                  </a:txBody>
                  <a:tcPr marL="9525" marR="9525" marT="9525" marB="9525" anchor="b" horzOverflow="overflow"/>
                </a:tc>
                <a:tc>
                  <a:txBody>
                    <a:bodyPr/>
                    <a:lstStyle/>
                    <a:p>
                      <a:pPr algn="ctr">
                        <a:defRPr sz="1800"/>
                      </a:pPr>
                      <a:r>
                        <a:rPr sz="1400">
                          <a:solidFill>
                            <a:srgbClr val="FFFFFF"/>
                          </a:solidFill>
                          <a:sym typeface="Arial"/>
                        </a:rPr>
                        <a:t>3/27/2015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Rusty Nail</a:t>
                      </a:r>
                    </a:p>
                  </a:txBody>
                  <a:tcPr marL="9525" marR="9525" marT="9525" marB="9525" anchor="b" horzOverflow="overflow"/>
                </a:tc>
                <a:tc>
                  <a:txBody>
                    <a:bodyPr/>
                    <a:lstStyle/>
                    <a:p>
                      <a:pPr algn="l">
                        <a:defRPr sz="1800"/>
                      </a:pPr>
                      <a:r>
                        <a:rPr sz="1400">
                          <a:solidFill>
                            <a:srgbClr val="FFFFFF"/>
                          </a:solidFill>
                          <a:sym typeface="Arial"/>
                        </a:rPr>
                        <a:t>Sebado, Yo La Tengo, Ben Lee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4</a:t>
                      </a:r>
                    </a:p>
                  </a:txBody>
                  <a:tcPr marL="9525" marR="9525" marT="9525" marB="9525" anchor="b" horzOverflow="overflow"/>
                </a:tc>
                <a:tc>
                  <a:txBody>
                    <a:bodyPr/>
                    <a:lstStyle/>
                    <a:p>
                      <a:pPr algn="ctr">
                        <a:defRPr sz="1800"/>
                      </a:pPr>
                      <a:r>
                        <a:rPr sz="1400">
                          <a:solidFill>
                            <a:srgbClr val="FFFFFF"/>
                          </a:solidFill>
                          <a:sym typeface="Arial"/>
                        </a:rPr>
                        <a:t>4/23/2015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Harvey Wallbanger</a:t>
                      </a:r>
                    </a:p>
                  </a:txBody>
                  <a:tcPr marL="9525" marR="9525" marT="9525" marB="9525" anchor="b" horzOverflow="overflow"/>
                </a:tc>
                <a:tc>
                  <a:txBody>
                    <a:bodyPr/>
                    <a:lstStyle/>
                    <a:p>
                      <a:pPr algn="l">
                        <a:defRPr sz="1800"/>
                      </a:pPr>
                      <a:r>
                        <a:rPr sz="1400" dirty="0">
                          <a:solidFill>
                            <a:srgbClr val="FFFFFF"/>
                          </a:solidFill>
                          <a:sym typeface="Arial"/>
                        </a:rPr>
                        <a:t>The Knife Silent Shout</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5</a:t>
                      </a:r>
                    </a:p>
                  </a:txBody>
                  <a:tcPr marL="9525" marR="9525" marT="9525" marB="9525" anchor="b" horzOverflow="overflow"/>
                </a:tc>
                <a:tc>
                  <a:txBody>
                    <a:bodyPr/>
                    <a:lstStyle/>
                    <a:p>
                      <a:pPr algn="ctr">
                        <a:defRPr sz="1800"/>
                      </a:pPr>
                      <a:r>
                        <a:rPr sz="1400">
                          <a:solidFill>
                            <a:srgbClr val="FFFFFF"/>
                          </a:solidFill>
                          <a:sym typeface="Arial"/>
                        </a:rPr>
                        <a:t>7/29/2015</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Rum Ball</a:t>
                      </a:r>
                    </a:p>
                  </a:txBody>
                  <a:tcPr marL="9525" marR="9525" marT="9525" marB="9525" anchor="b" horzOverflow="overflow"/>
                </a:tc>
                <a:tc>
                  <a:txBody>
                    <a:bodyPr/>
                    <a:lstStyle/>
                    <a:p>
                      <a:pPr algn="l">
                        <a:defRPr sz="1800"/>
                      </a:pPr>
                      <a:r>
                        <a:rPr sz="1400">
                          <a:solidFill>
                            <a:srgbClr val="FFFFFF"/>
                          </a:solidFill>
                          <a:sym typeface="Arial"/>
                        </a:rPr>
                        <a:t>Jefferson Airplane Surrealistic Pillow, Talking Heads Talking Heads:77</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6</a:t>
                      </a:r>
                    </a:p>
                  </a:txBody>
                  <a:tcPr marL="9525" marR="9525" marT="9525" marB="9525" anchor="b" horzOverflow="overflow"/>
                </a:tc>
                <a:tc>
                  <a:txBody>
                    <a:bodyPr/>
                    <a:lstStyle/>
                    <a:p>
                      <a:pPr algn="ctr">
                        <a:defRPr sz="1800"/>
                      </a:pPr>
                      <a:r>
                        <a:rPr sz="1400">
                          <a:solidFill>
                            <a:srgbClr val="FFFFFF"/>
                          </a:solidFill>
                          <a:sym typeface="Arial"/>
                        </a:rPr>
                        <a:t>11/5/2015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Old Fashion</a:t>
                      </a:r>
                    </a:p>
                  </a:txBody>
                  <a:tcPr marL="9525" marR="9525" marT="9525" marB="9525" anchor="b" horzOverflow="overflow"/>
                </a:tc>
                <a:tc>
                  <a:txBody>
                    <a:bodyPr/>
                    <a:lstStyle/>
                    <a:p>
                      <a:pPr algn="l">
                        <a:defRPr sz="1800"/>
                      </a:pPr>
                      <a:r>
                        <a:rPr sz="1400">
                          <a:solidFill>
                            <a:srgbClr val="FFFFFF"/>
                          </a:solidFill>
                          <a:sym typeface="Arial"/>
                        </a:rPr>
                        <a:t>The Afghan Whigs Black Love</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7</a:t>
                      </a:r>
                    </a:p>
                  </a:txBody>
                  <a:tcPr marL="9525" marR="9525" marT="9525" marB="9525" anchor="b" horzOverflow="overflow"/>
                </a:tc>
                <a:tc>
                  <a:txBody>
                    <a:bodyPr/>
                    <a:lstStyle/>
                    <a:p>
                      <a:pPr algn="ctr">
                        <a:defRPr sz="1800"/>
                      </a:pPr>
                      <a:r>
                        <a:rPr sz="1400">
                          <a:solidFill>
                            <a:srgbClr val="FFFFFF"/>
                          </a:solidFill>
                          <a:sym typeface="Arial"/>
                        </a:rPr>
                        <a:t>12/17/2015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Between the Sheets</a:t>
                      </a:r>
                    </a:p>
                  </a:txBody>
                  <a:tcPr marL="9525" marR="9525" marT="9525" marB="9525" anchor="b" horzOverflow="overflow"/>
                </a:tc>
                <a:tc>
                  <a:txBody>
                    <a:bodyPr/>
                    <a:lstStyle/>
                    <a:p>
                      <a:pPr algn="l">
                        <a:defRPr sz="1800"/>
                      </a:pPr>
                      <a:r>
                        <a:rPr sz="1400">
                          <a:solidFill>
                            <a:srgbClr val="FFFFFF"/>
                          </a:solidFill>
                          <a:sym typeface="Arial"/>
                        </a:rPr>
                        <a:t>The Stooges Raw Power</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8</a:t>
                      </a:r>
                    </a:p>
                  </a:txBody>
                  <a:tcPr marL="9525" marR="9525" marT="9525" marB="9525" anchor="b" horzOverflow="overflow"/>
                </a:tc>
                <a:tc>
                  <a:txBody>
                    <a:bodyPr/>
                    <a:lstStyle/>
                    <a:p>
                      <a:pPr algn="ctr">
                        <a:defRPr sz="1800"/>
                      </a:pPr>
                      <a:r>
                        <a:rPr sz="1400">
                          <a:solidFill>
                            <a:srgbClr val="FFFFFF"/>
                          </a:solidFill>
                          <a:sym typeface="Arial"/>
                        </a:rPr>
                        <a:t>1/26/2016</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Whiskey Sour</a:t>
                      </a:r>
                    </a:p>
                  </a:txBody>
                  <a:tcPr marL="9525" marR="9525" marT="9525" marB="9525" anchor="b" horzOverflow="overflow"/>
                </a:tc>
                <a:tc>
                  <a:txBody>
                    <a:bodyPr/>
                    <a:lstStyle/>
                    <a:p>
                      <a:pPr algn="l">
                        <a:defRPr sz="1800"/>
                      </a:pPr>
                      <a:r>
                        <a:rPr sz="1400">
                          <a:solidFill>
                            <a:srgbClr val="FFFFFF"/>
                          </a:solidFill>
                          <a:sym typeface="Arial"/>
                        </a:rPr>
                        <a:t>James Brown Say it Loud, David Bowie tribute</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9</a:t>
                      </a:r>
                    </a:p>
                  </a:txBody>
                  <a:tcPr marL="9525" marR="9525" marT="9525" marB="9525" anchor="b" horzOverflow="overflow"/>
                </a:tc>
                <a:tc>
                  <a:txBody>
                    <a:bodyPr/>
                    <a:lstStyle/>
                    <a:p>
                      <a:pPr algn="ctr">
                        <a:defRPr sz="1800"/>
                      </a:pPr>
                      <a:r>
                        <a:rPr sz="1400">
                          <a:solidFill>
                            <a:srgbClr val="FFFFFF"/>
                          </a:solidFill>
                          <a:sym typeface="Arial"/>
                        </a:rPr>
                        <a:t>3/25/2016</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Negroni</a:t>
                      </a:r>
                    </a:p>
                  </a:txBody>
                  <a:tcPr marL="9525" marR="9525" marT="9525" marB="9525" anchor="b" horzOverflow="overflow"/>
                </a:tc>
                <a:tc>
                  <a:txBody>
                    <a:bodyPr/>
                    <a:lstStyle/>
                    <a:p>
                      <a:pPr algn="l">
                        <a:defRPr sz="1800"/>
                      </a:pPr>
                      <a:r>
                        <a:rPr sz="1400">
                          <a:solidFill>
                            <a:srgbClr val="FFFFFF"/>
                          </a:solidFill>
                          <a:sym typeface="Arial"/>
                        </a:rPr>
                        <a:t>Paul Simon Graceland, Arcade Fire Funeral, Vampire Weekend Vampire Weekend</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10</a:t>
                      </a:r>
                    </a:p>
                  </a:txBody>
                  <a:tcPr marL="9525" marR="9525" marT="9525" marB="9525" anchor="b" horzOverflow="overflow"/>
                </a:tc>
                <a:tc>
                  <a:txBody>
                    <a:bodyPr/>
                    <a:lstStyle/>
                    <a:p>
                      <a:pPr algn="ctr">
                        <a:defRPr sz="1800"/>
                      </a:pPr>
                      <a:r>
                        <a:rPr sz="1400">
                          <a:solidFill>
                            <a:srgbClr val="FFFFFF"/>
                          </a:solidFill>
                          <a:sym typeface="Arial"/>
                        </a:rPr>
                        <a:t>5/26/2016</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Bloody Mary</a:t>
                      </a:r>
                    </a:p>
                  </a:txBody>
                  <a:tcPr marL="9525" marR="9525" marT="9525" marB="9525" anchor="b" horzOverflow="overflow"/>
                </a:tc>
                <a:tc>
                  <a:txBody>
                    <a:bodyPr/>
                    <a:lstStyle/>
                    <a:p>
                      <a:pPr algn="l">
                        <a:defRPr sz="1800"/>
                      </a:pPr>
                      <a:r>
                        <a:rPr sz="1400">
                          <a:solidFill>
                            <a:srgbClr val="FFFFFF"/>
                          </a:solidFill>
                          <a:sym typeface="Arial"/>
                        </a:rPr>
                        <a:t>The Replacements Pleased to Meet You, The Jam Setting Sons, Big Star #1 Record</a:t>
                      </a:r>
                    </a:p>
                  </a:txBody>
                  <a:tcPr marL="9525" marR="9525" marT="9525" marB="9525" anchor="b" horzOverflow="overflow"/>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4364540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Google Shape;295;p59"/>
          <p:cNvSpPr txBox="1">
            <a:spLocks noGrp="1"/>
          </p:cNvSpPr>
          <p:nvPr>
            <p:ph type="title"/>
          </p:nvPr>
        </p:nvSpPr>
        <p:spPr>
          <a:xfrm>
            <a:off x="2753982" y="160737"/>
            <a:ext cx="8609796" cy="802195"/>
          </a:xfrm>
          <a:prstGeom prst="rect">
            <a:avLst/>
          </a:prstGeom>
        </p:spPr>
        <p:txBody>
          <a:bodyPr/>
          <a:lstStyle/>
          <a:p>
            <a:r>
              <a:t>HISTORY</a:t>
            </a:r>
          </a:p>
        </p:txBody>
      </p:sp>
      <p:graphicFrame>
        <p:nvGraphicFramePr>
          <p:cNvPr id="273" name="Google Shape;296;p59"/>
          <p:cNvGraphicFramePr/>
          <p:nvPr/>
        </p:nvGraphicFramePr>
        <p:xfrm>
          <a:off x="723887" y="1229932"/>
          <a:ext cx="10744225" cy="4678710"/>
        </p:xfrm>
        <a:graphic>
          <a:graphicData uri="http://schemas.openxmlformats.org/drawingml/2006/table">
            <a:tbl>
              <a:tblPr firstRow="1" bandRow="1">
                <a:tableStyleId>{4C3C2611-4C71-4FC5-86AE-919BDF0F9419}</a:tableStyleId>
              </a:tblPr>
              <a:tblGrid>
                <a:gridCol w="391550">
                  <a:extLst>
                    <a:ext uri="{9D8B030D-6E8A-4147-A177-3AD203B41FA5}">
                      <a16:colId xmlns:a16="http://schemas.microsoft.com/office/drawing/2014/main" val="20000"/>
                    </a:ext>
                  </a:extLst>
                </a:gridCol>
                <a:gridCol w="1485800">
                  <a:extLst>
                    <a:ext uri="{9D8B030D-6E8A-4147-A177-3AD203B41FA5}">
                      <a16:colId xmlns:a16="http://schemas.microsoft.com/office/drawing/2014/main" val="20001"/>
                    </a:ext>
                  </a:extLst>
                </a:gridCol>
                <a:gridCol w="629200">
                  <a:extLst>
                    <a:ext uri="{9D8B030D-6E8A-4147-A177-3AD203B41FA5}">
                      <a16:colId xmlns:a16="http://schemas.microsoft.com/office/drawing/2014/main" val="20002"/>
                    </a:ext>
                  </a:extLst>
                </a:gridCol>
                <a:gridCol w="1996400">
                  <a:extLst>
                    <a:ext uri="{9D8B030D-6E8A-4147-A177-3AD203B41FA5}">
                      <a16:colId xmlns:a16="http://schemas.microsoft.com/office/drawing/2014/main" val="20003"/>
                    </a:ext>
                  </a:extLst>
                </a:gridCol>
                <a:gridCol w="6241275">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dirty="0">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11</a:t>
                      </a:r>
                    </a:p>
                  </a:txBody>
                  <a:tcPr marL="9525" marR="9525" marT="9525" marB="9525" anchor="b" horzOverflow="overflow"/>
                </a:tc>
                <a:tc>
                  <a:txBody>
                    <a:bodyPr/>
                    <a:lstStyle/>
                    <a:p>
                      <a:pPr algn="ctr">
                        <a:defRPr sz="1800"/>
                      </a:pPr>
                      <a:r>
                        <a:rPr sz="1400">
                          <a:solidFill>
                            <a:srgbClr val="FFFFFF"/>
                          </a:solidFill>
                          <a:sym typeface="Arial"/>
                        </a:rPr>
                        <a:t>8/10/2016</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dirty="0">
                          <a:solidFill>
                            <a:srgbClr val="FFFFFF"/>
                          </a:solidFill>
                          <a:sym typeface="Arial"/>
                        </a:rPr>
                        <a:t>Stinger</a:t>
                      </a:r>
                    </a:p>
                  </a:txBody>
                  <a:tcPr marL="9525" marR="9525" marT="9525" marB="9525" anchor="b" horzOverflow="overflow"/>
                </a:tc>
                <a:tc>
                  <a:txBody>
                    <a:bodyPr/>
                    <a:lstStyle/>
                    <a:p>
                      <a:pPr algn="l">
                        <a:defRPr sz="1800"/>
                      </a:pPr>
                      <a:r>
                        <a:rPr sz="1400" dirty="0">
                          <a:solidFill>
                            <a:srgbClr val="FFFFFF"/>
                          </a:solidFill>
                          <a:sym typeface="Arial"/>
                        </a:rPr>
                        <a:t>Joy Division Unknown Pleasures, Genesis Selling England by the Pound, Radiohead A Moon Shaped Pool</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12</a:t>
                      </a:r>
                    </a:p>
                  </a:txBody>
                  <a:tcPr marL="9525" marR="9525" marT="9525" marB="9525" anchor="b" horzOverflow="overflow"/>
                </a:tc>
                <a:tc>
                  <a:txBody>
                    <a:bodyPr/>
                    <a:lstStyle/>
                    <a:p>
                      <a:pPr algn="ctr">
                        <a:defRPr sz="1800"/>
                      </a:pPr>
                      <a:r>
                        <a:rPr sz="1400">
                          <a:solidFill>
                            <a:srgbClr val="FFFFFF"/>
                          </a:solidFill>
                          <a:sym typeface="Arial"/>
                        </a:rPr>
                        <a:t>9/29/2016</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Soft Wink</a:t>
                      </a:r>
                    </a:p>
                  </a:txBody>
                  <a:tcPr marL="9525" marR="9525" marT="9525" marB="9525" anchor="b" horzOverflow="overflow"/>
                </a:tc>
                <a:tc>
                  <a:txBody>
                    <a:bodyPr/>
                    <a:lstStyle/>
                    <a:p>
                      <a:pPr algn="l">
                        <a:defRPr sz="1800"/>
                      </a:pPr>
                      <a:r>
                        <a:rPr sz="1400">
                          <a:solidFill>
                            <a:srgbClr val="FFFFFF"/>
                          </a:solidFill>
                          <a:sym typeface="Arial"/>
                        </a:rPr>
                        <a:t>Adrian Belew Young Lions, Robin Trower Bridge of Sighs, Santana Moonflower</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13</a:t>
                      </a:r>
                    </a:p>
                  </a:txBody>
                  <a:tcPr marL="9525" marR="9525" marT="9525" marB="9525" anchor="b" horzOverflow="overflow"/>
                </a:tc>
                <a:tc>
                  <a:txBody>
                    <a:bodyPr/>
                    <a:lstStyle/>
                    <a:p>
                      <a:pPr algn="ctr">
                        <a:defRPr sz="1800"/>
                      </a:pPr>
                      <a:r>
                        <a:rPr sz="1400">
                          <a:solidFill>
                            <a:srgbClr val="FFFFFF"/>
                          </a:solidFill>
                          <a:sym typeface="Arial"/>
                        </a:rPr>
                        <a:t>12/8/2016</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Magnificent Bastard</a:t>
                      </a:r>
                    </a:p>
                  </a:txBody>
                  <a:tcPr marL="9525" marR="9525" marT="9525" marB="9525" anchor="b" horzOverflow="overflow"/>
                </a:tc>
                <a:tc>
                  <a:txBody>
                    <a:bodyPr/>
                    <a:lstStyle/>
                    <a:p>
                      <a:pPr algn="l">
                        <a:defRPr sz="1800"/>
                      </a:pPr>
                      <a:r>
                        <a:rPr sz="1400">
                          <a:solidFill>
                            <a:srgbClr val="FFFFFF"/>
                          </a:solidFill>
                          <a:sym typeface="Arial"/>
                        </a:rPr>
                        <a:t>Frightened Rabbits Midnight Organ Fight, Leonard Cohen Personal Problems, Bob Dylan Blood on the Tracks</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14</a:t>
                      </a:r>
                    </a:p>
                  </a:txBody>
                  <a:tcPr marL="9525" marR="9525" marT="9525" marB="9525" anchor="b" horzOverflow="overflow"/>
                </a:tc>
                <a:tc>
                  <a:txBody>
                    <a:bodyPr/>
                    <a:lstStyle/>
                    <a:p>
                      <a:pPr algn="ctr">
                        <a:defRPr sz="1800"/>
                      </a:pPr>
                      <a:r>
                        <a:rPr sz="1400">
                          <a:solidFill>
                            <a:srgbClr val="FFFFFF"/>
                          </a:solidFill>
                          <a:sym typeface="Arial"/>
                        </a:rPr>
                        <a:t>1/26/2017</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Manhattan</a:t>
                      </a:r>
                    </a:p>
                  </a:txBody>
                  <a:tcPr marL="9525" marR="9525" marT="9525" marB="9525" anchor="b" horzOverflow="overflow"/>
                </a:tc>
                <a:tc>
                  <a:txBody>
                    <a:bodyPr/>
                    <a:lstStyle/>
                    <a:p>
                      <a:pPr algn="l">
                        <a:defRPr sz="1800"/>
                      </a:pPr>
                      <a:r>
                        <a:rPr sz="1400">
                          <a:solidFill>
                            <a:srgbClr val="FFFFFF"/>
                          </a:solidFill>
                          <a:sym typeface="Arial"/>
                        </a:rPr>
                        <a:t>Galaxie 500 On Fire, Morphine Cure for Pain, Built to Spill Perfect from Now On</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15</a:t>
                      </a:r>
                    </a:p>
                  </a:txBody>
                  <a:tcPr marL="9525" marR="9525" marT="9525" marB="9525" anchor="b" horzOverflow="overflow"/>
                </a:tc>
                <a:tc>
                  <a:txBody>
                    <a:bodyPr/>
                    <a:lstStyle/>
                    <a:p>
                      <a:pPr algn="ctr">
                        <a:defRPr sz="1800"/>
                      </a:pPr>
                      <a:r>
                        <a:rPr sz="1400">
                          <a:solidFill>
                            <a:srgbClr val="FFFFFF"/>
                          </a:solidFill>
                          <a:sym typeface="Arial"/>
                        </a:rPr>
                        <a:t>3/9/2017</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Vieux Carre</a:t>
                      </a:r>
                    </a:p>
                  </a:txBody>
                  <a:tcPr marL="9525" marR="9525" marT="9525" marB="9525" anchor="b" horzOverflow="overflow"/>
                </a:tc>
                <a:tc>
                  <a:txBody>
                    <a:bodyPr/>
                    <a:lstStyle/>
                    <a:p>
                      <a:pPr algn="l">
                        <a:defRPr sz="1800"/>
                      </a:pPr>
                      <a:r>
                        <a:rPr sz="1400">
                          <a:solidFill>
                            <a:srgbClr val="FFFFFF"/>
                          </a:solidFill>
                          <a:sym typeface="Arial"/>
                        </a:rPr>
                        <a:t>MC5 Kick Out the Jams, Mastodon Crack the Skye, Black Sabbath Black Sabbath Vol 4</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16</a:t>
                      </a:r>
                    </a:p>
                  </a:txBody>
                  <a:tcPr marL="9525" marR="9525" marT="9525" marB="9525" anchor="b" horzOverflow="overflow"/>
                </a:tc>
                <a:tc>
                  <a:txBody>
                    <a:bodyPr/>
                    <a:lstStyle/>
                    <a:p>
                      <a:pPr algn="ctr">
                        <a:defRPr sz="1800"/>
                      </a:pPr>
                      <a:r>
                        <a:rPr sz="1400">
                          <a:solidFill>
                            <a:srgbClr val="FFFFFF"/>
                          </a:solidFill>
                          <a:sym typeface="Arial"/>
                        </a:rPr>
                        <a:t>5/4/2017</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Vodka Martini (Kangaroo)</a:t>
                      </a:r>
                    </a:p>
                  </a:txBody>
                  <a:tcPr marL="9525" marR="9525" marT="9525" marB="9525" anchor="b" horzOverflow="overflow"/>
                </a:tc>
                <a:tc>
                  <a:txBody>
                    <a:bodyPr/>
                    <a:lstStyle/>
                    <a:p>
                      <a:pPr algn="l">
                        <a:defRPr sz="1800"/>
                      </a:pPr>
                      <a:r>
                        <a:rPr sz="1400">
                          <a:solidFill>
                            <a:srgbClr val="FFFFFF"/>
                          </a:solidFill>
                          <a:sym typeface="Arial"/>
                        </a:rPr>
                        <a:t>Live Mental Jewelry, Kansas Leftoverture, Allman Brothers At Fillmore East</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17</a:t>
                      </a:r>
                    </a:p>
                  </a:txBody>
                  <a:tcPr marL="9525" marR="9525" marT="9525" marB="9525" anchor="b" horzOverflow="overflow"/>
                </a:tc>
                <a:tc>
                  <a:txBody>
                    <a:bodyPr/>
                    <a:lstStyle/>
                    <a:p>
                      <a:pPr algn="ctr">
                        <a:defRPr sz="1800"/>
                      </a:pPr>
                      <a:r>
                        <a:rPr sz="1400">
                          <a:solidFill>
                            <a:srgbClr val="FFFFFF"/>
                          </a:solidFill>
                          <a:sym typeface="Arial"/>
                        </a:rPr>
                        <a:t>8/10/2017</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Sun Also Sets</a:t>
                      </a:r>
                    </a:p>
                  </a:txBody>
                  <a:tcPr marL="9525" marR="9525" marT="9525" marB="9525" anchor="b" horzOverflow="overflow"/>
                </a:tc>
                <a:tc>
                  <a:txBody>
                    <a:bodyPr/>
                    <a:lstStyle/>
                    <a:p>
                      <a:pPr algn="l">
                        <a:defRPr sz="1800"/>
                      </a:pPr>
                      <a:r>
                        <a:rPr sz="1400">
                          <a:solidFill>
                            <a:srgbClr val="FFFFFF"/>
                          </a:solidFill>
                          <a:sym typeface="Arial"/>
                        </a:rPr>
                        <a:t>Interpol Turn On The Bright Lights, Serge Gainsbourg &amp; Jane Burkin Jane Burkin/Serge Gainsbourg, Modest Mouse The Moon &amp; Antarctica</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18</a:t>
                      </a:r>
                    </a:p>
                  </a:txBody>
                  <a:tcPr marL="9525" marR="9525" marT="9525" marB="9525" anchor="b" horzOverflow="overflow"/>
                </a:tc>
                <a:tc>
                  <a:txBody>
                    <a:bodyPr/>
                    <a:lstStyle/>
                    <a:p>
                      <a:pPr algn="ctr">
                        <a:defRPr sz="1800"/>
                      </a:pPr>
                      <a:r>
                        <a:rPr sz="1400">
                          <a:solidFill>
                            <a:srgbClr val="FFFFFF"/>
                          </a:solidFill>
                          <a:sym typeface="Arial"/>
                        </a:rPr>
                        <a:t>9/14/2017</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Moscow Mule</a:t>
                      </a:r>
                    </a:p>
                  </a:txBody>
                  <a:tcPr marL="9525" marR="9525" marT="9525" marB="9525" anchor="b" horzOverflow="overflow"/>
                </a:tc>
                <a:tc>
                  <a:txBody>
                    <a:bodyPr/>
                    <a:lstStyle/>
                    <a:p>
                      <a:pPr algn="l">
                        <a:defRPr sz="1800"/>
                      </a:pPr>
                      <a:r>
                        <a:rPr sz="1400">
                          <a:solidFill>
                            <a:srgbClr val="FFFFFF"/>
                          </a:solidFill>
                          <a:sym typeface="Arial"/>
                        </a:rPr>
                        <a:t>David Bowie Pinups, Steve Earle Townes: The Basics, Kurt Vile Believe I’m Going Down, (also played*John Mayer – Where the Light Is, Steely Dan – Aja)</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19</a:t>
                      </a:r>
                    </a:p>
                  </a:txBody>
                  <a:tcPr marL="9525" marR="9525" marT="9525" marB="9525" anchor="b" horzOverflow="overflow"/>
                </a:tc>
                <a:tc>
                  <a:txBody>
                    <a:bodyPr/>
                    <a:lstStyle/>
                    <a:p>
                      <a:pPr algn="ctr">
                        <a:defRPr sz="1800"/>
                      </a:pPr>
                      <a:r>
                        <a:rPr sz="1400">
                          <a:solidFill>
                            <a:srgbClr val="FFFFFF"/>
                          </a:solidFill>
                          <a:sym typeface="Arial"/>
                        </a:rPr>
                        <a:t>10/26/2017</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The Aviation</a:t>
                      </a:r>
                    </a:p>
                  </a:txBody>
                  <a:tcPr marL="9525" marR="9525" marT="9525" marB="9525" anchor="b" horzOverflow="overflow"/>
                </a:tc>
                <a:tc>
                  <a:txBody>
                    <a:bodyPr/>
                    <a:lstStyle/>
                    <a:p>
                      <a:pPr algn="l">
                        <a:defRPr sz="1800"/>
                      </a:pPr>
                      <a:r>
                        <a:rPr sz="1400">
                          <a:solidFill>
                            <a:srgbClr val="FFFFFF"/>
                          </a:solidFill>
                          <a:sym typeface="Arial"/>
                        </a:rPr>
                        <a:t>Spoon Ga Ga Ga Ga Ga, Fleetwood Mac Rumours, R.E.M. Murmur</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20</a:t>
                      </a:r>
                    </a:p>
                  </a:txBody>
                  <a:tcPr marL="9525" marR="9525" marT="9525" marB="9525" anchor="b" horzOverflow="overflow"/>
                </a:tc>
                <a:tc>
                  <a:txBody>
                    <a:bodyPr/>
                    <a:lstStyle/>
                    <a:p>
                      <a:pPr algn="ctr">
                        <a:defRPr sz="1800"/>
                      </a:pPr>
                      <a:r>
                        <a:rPr sz="1400">
                          <a:solidFill>
                            <a:srgbClr val="FFFFFF"/>
                          </a:solidFill>
                          <a:sym typeface="Arial"/>
                        </a:rPr>
                        <a:t>1/25/2018</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Black Russian</a:t>
                      </a:r>
                    </a:p>
                  </a:txBody>
                  <a:tcPr marL="9525" marR="9525" marT="9525" marB="9525" anchor="b" horzOverflow="overflow"/>
                </a:tc>
                <a:tc>
                  <a:txBody>
                    <a:bodyPr/>
                    <a:lstStyle/>
                    <a:p>
                      <a:pPr algn="l">
                        <a:defRPr sz="1800"/>
                      </a:pPr>
                      <a:r>
                        <a:rPr sz="1400">
                          <a:solidFill>
                            <a:srgbClr val="FFFFFF"/>
                          </a:solidFill>
                          <a:sym typeface="Arial"/>
                        </a:rPr>
                        <a:t>Widespread Panic - VCL Mix Edition, J. Geils - The Morning After, Jethro Tull - Thick As A Brick</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Google Shape;301;p60"/>
          <p:cNvSpPr txBox="1">
            <a:spLocks noGrp="1"/>
          </p:cNvSpPr>
          <p:nvPr>
            <p:ph type="title"/>
          </p:nvPr>
        </p:nvSpPr>
        <p:spPr>
          <a:xfrm>
            <a:off x="2895600" y="220482"/>
            <a:ext cx="8610600" cy="800183"/>
          </a:xfrm>
          <a:prstGeom prst="rect">
            <a:avLst/>
          </a:prstGeom>
        </p:spPr>
        <p:txBody>
          <a:bodyPr/>
          <a:lstStyle/>
          <a:p>
            <a:r>
              <a:t>HISTORY</a:t>
            </a:r>
          </a:p>
        </p:txBody>
      </p:sp>
      <p:graphicFrame>
        <p:nvGraphicFramePr>
          <p:cNvPr id="276" name="Google Shape;302;p60"/>
          <p:cNvGraphicFramePr/>
          <p:nvPr/>
        </p:nvGraphicFramePr>
        <p:xfrm>
          <a:off x="723887" y="1272708"/>
          <a:ext cx="10744225" cy="4379030"/>
        </p:xfrm>
        <a:graphic>
          <a:graphicData uri="http://schemas.openxmlformats.org/drawingml/2006/table">
            <a:tbl>
              <a:tblPr firstRow="1" bandRow="1">
                <a:tableStyleId>{4C3C2611-4C71-4FC5-86AE-919BDF0F9419}</a:tableStyleId>
              </a:tblPr>
              <a:tblGrid>
                <a:gridCol w="382500">
                  <a:extLst>
                    <a:ext uri="{9D8B030D-6E8A-4147-A177-3AD203B41FA5}">
                      <a16:colId xmlns:a16="http://schemas.microsoft.com/office/drawing/2014/main" val="20000"/>
                    </a:ext>
                  </a:extLst>
                </a:gridCol>
                <a:gridCol w="1295375">
                  <a:extLst>
                    <a:ext uri="{9D8B030D-6E8A-4147-A177-3AD203B41FA5}">
                      <a16:colId xmlns:a16="http://schemas.microsoft.com/office/drawing/2014/main" val="20001"/>
                    </a:ext>
                  </a:extLst>
                </a:gridCol>
                <a:gridCol w="630175">
                  <a:extLst>
                    <a:ext uri="{9D8B030D-6E8A-4147-A177-3AD203B41FA5}">
                      <a16:colId xmlns:a16="http://schemas.microsoft.com/office/drawing/2014/main" val="20002"/>
                    </a:ext>
                  </a:extLst>
                </a:gridCol>
                <a:gridCol w="2252325">
                  <a:extLst>
                    <a:ext uri="{9D8B030D-6E8A-4147-A177-3AD203B41FA5}">
                      <a16:colId xmlns:a16="http://schemas.microsoft.com/office/drawing/2014/main" val="20003"/>
                    </a:ext>
                  </a:extLst>
                </a:gridCol>
                <a:gridCol w="618385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 </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21</a:t>
                      </a:r>
                    </a:p>
                  </a:txBody>
                  <a:tcPr marL="9525" marR="9525" marT="9525" marB="9525" anchor="b" horzOverflow="overflow"/>
                </a:tc>
                <a:tc>
                  <a:txBody>
                    <a:bodyPr/>
                    <a:lstStyle/>
                    <a:p>
                      <a:pPr algn="ctr">
                        <a:defRPr sz="1800"/>
                      </a:pPr>
                      <a:r>
                        <a:rPr sz="1400">
                          <a:solidFill>
                            <a:srgbClr val="FFFFFF"/>
                          </a:solidFill>
                          <a:sym typeface="Arial"/>
                        </a:rPr>
                        <a:t>3/8/2018</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Black Ginger</a:t>
                      </a:r>
                    </a:p>
                  </a:txBody>
                  <a:tcPr marL="9525" marR="9525" marT="9525" marB="9525" anchor="b" horzOverflow="overflow"/>
                </a:tc>
                <a:tc>
                  <a:txBody>
                    <a:bodyPr/>
                    <a:lstStyle/>
                    <a:p>
                      <a:pPr algn="l">
                        <a:defRPr sz="1800"/>
                      </a:pPr>
                      <a:r>
                        <a:rPr sz="1400">
                          <a:solidFill>
                            <a:srgbClr val="FFFFFF"/>
                          </a:solidFill>
                          <a:sym typeface="Arial"/>
                        </a:rPr>
                        <a:t>Stone Roses The Stone Roses, Grouplove Never Trust a Happy Song, The Wombats Beautiful People Will Ruin Your Life</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22</a:t>
                      </a:r>
                    </a:p>
                  </a:txBody>
                  <a:tcPr marL="9525" marR="9525" marT="9525" marB="9525" anchor="b" horzOverflow="overflow"/>
                </a:tc>
                <a:tc>
                  <a:txBody>
                    <a:bodyPr/>
                    <a:lstStyle/>
                    <a:p>
                      <a:pPr algn="ctr">
                        <a:defRPr sz="1800"/>
                      </a:pPr>
                      <a:r>
                        <a:rPr sz="1400">
                          <a:solidFill>
                            <a:srgbClr val="FFFFFF"/>
                          </a:solidFill>
                          <a:sym typeface="Arial"/>
                        </a:rPr>
                        <a:t>5/10/2018</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Old Pal</a:t>
                      </a:r>
                    </a:p>
                  </a:txBody>
                  <a:tcPr marL="9525" marR="9525" marT="9525" marB="9525" anchor="b" horzOverflow="overflow"/>
                </a:tc>
                <a:tc>
                  <a:txBody>
                    <a:bodyPr/>
                    <a:lstStyle/>
                    <a:p>
                      <a:pPr algn="l">
                        <a:defRPr sz="1800"/>
                      </a:pPr>
                      <a:r>
                        <a:rPr sz="1400">
                          <a:solidFill>
                            <a:srgbClr val="FFFFFF"/>
                          </a:solidFill>
                          <a:sym typeface="Arial"/>
                        </a:rPr>
                        <a:t>Wilco Yankee Hotel Foxtrot, Pavement Slanted and Enchanted, Sonic Youth Daydream Nation</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23</a:t>
                      </a:r>
                    </a:p>
                  </a:txBody>
                  <a:tcPr marL="9525" marR="9525" marT="9525" marB="9525" anchor="b" horzOverflow="overflow"/>
                </a:tc>
                <a:tc>
                  <a:txBody>
                    <a:bodyPr/>
                    <a:lstStyle/>
                    <a:p>
                      <a:pPr algn="ctr">
                        <a:defRPr sz="1800"/>
                      </a:pPr>
                      <a:r>
                        <a:rPr sz="1400">
                          <a:solidFill>
                            <a:srgbClr val="FFFFFF"/>
                          </a:solidFill>
                          <a:sym typeface="Arial"/>
                        </a:rPr>
                        <a:t>8/9/2018</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Hemingway Daiquiri</a:t>
                      </a:r>
                    </a:p>
                  </a:txBody>
                  <a:tcPr marL="9525" marR="9525" marT="9525" marB="9525" anchor="b" horzOverflow="overflow"/>
                </a:tc>
                <a:tc>
                  <a:txBody>
                    <a:bodyPr/>
                    <a:lstStyle/>
                    <a:p>
                      <a:pPr algn="l">
                        <a:defRPr sz="1800"/>
                      </a:pPr>
                      <a:r>
                        <a:rPr sz="1400">
                          <a:solidFill>
                            <a:srgbClr val="FFFFFF"/>
                          </a:solidFill>
                          <a:sym typeface="Arial"/>
                        </a:rPr>
                        <a:t>The Orwells Discgraceland, Sleater Kinney Dig Me Out, Pixies Doolittle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24</a:t>
                      </a:r>
                    </a:p>
                  </a:txBody>
                  <a:tcPr marL="9525" marR="9525" marT="9525" marB="9525" anchor="b" horzOverflow="overflow"/>
                </a:tc>
                <a:tc>
                  <a:txBody>
                    <a:bodyPr/>
                    <a:lstStyle/>
                    <a:p>
                      <a:pPr algn="ctr">
                        <a:defRPr sz="1800"/>
                      </a:pPr>
                      <a:r>
                        <a:rPr sz="1400">
                          <a:solidFill>
                            <a:srgbClr val="FFFFFF"/>
                          </a:solidFill>
                          <a:sym typeface="Arial"/>
                        </a:rPr>
                        <a:t>11/1/2018</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Packie</a:t>
                      </a:r>
                    </a:p>
                  </a:txBody>
                  <a:tcPr marL="9525" marR="9525" marT="9525" marB="9525" anchor="b" horzOverflow="overflow"/>
                </a:tc>
                <a:tc>
                  <a:txBody>
                    <a:bodyPr/>
                    <a:lstStyle/>
                    <a:p>
                      <a:pPr algn="l">
                        <a:defRPr sz="1800"/>
                      </a:pPr>
                      <a:r>
                        <a:rPr sz="1400">
                          <a:solidFill>
                            <a:srgbClr val="FFFFFF"/>
                          </a:solidFill>
                          <a:sym typeface="Arial"/>
                        </a:rPr>
                        <a:t>Los Campesinos No Blues, John Prine Bruised Orange</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25</a:t>
                      </a:r>
                    </a:p>
                  </a:txBody>
                  <a:tcPr marL="9525" marR="9525" marT="9525" marB="9525" anchor="b" horzOverflow="overflow"/>
                </a:tc>
                <a:tc>
                  <a:txBody>
                    <a:bodyPr/>
                    <a:lstStyle/>
                    <a:p>
                      <a:pPr algn="ctr">
                        <a:defRPr sz="1800"/>
                      </a:pPr>
                      <a:r>
                        <a:rPr sz="1400">
                          <a:solidFill>
                            <a:srgbClr val="FFFFFF"/>
                          </a:solidFill>
                          <a:sym typeface="Arial"/>
                        </a:rPr>
                        <a:t>1/24/2019</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The Scofflaw</a:t>
                      </a:r>
                    </a:p>
                  </a:txBody>
                  <a:tcPr marL="9525" marR="9525" marT="9525" marB="9525" anchor="b" horzOverflow="overflow"/>
                </a:tc>
                <a:tc>
                  <a:txBody>
                    <a:bodyPr/>
                    <a:lstStyle/>
                    <a:p>
                      <a:pPr algn="l">
                        <a:defRPr sz="1800"/>
                      </a:pPr>
                      <a:r>
                        <a:rPr sz="1400">
                          <a:solidFill>
                            <a:srgbClr val="FFFFFF"/>
                          </a:solidFill>
                          <a:sym typeface="Arial"/>
                        </a:rPr>
                        <a:t>Led Zeppelin Led Zeppelin I, Led Zeppelin Led Zeppelin II</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26</a:t>
                      </a:r>
                    </a:p>
                  </a:txBody>
                  <a:tcPr marL="9525" marR="9525" marT="9525" marB="9525" anchor="b" horzOverflow="overflow"/>
                </a:tc>
                <a:tc>
                  <a:txBody>
                    <a:bodyPr/>
                    <a:lstStyle/>
                    <a:p>
                      <a:pPr algn="ctr">
                        <a:defRPr sz="1800"/>
                      </a:pPr>
                      <a:r>
                        <a:rPr sz="1400">
                          <a:solidFill>
                            <a:srgbClr val="FFFFFF"/>
                          </a:solidFill>
                          <a:sym typeface="Arial"/>
                        </a:rPr>
                        <a:t>3/7/2019</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Hurricane</a:t>
                      </a:r>
                    </a:p>
                  </a:txBody>
                  <a:tcPr marL="9525" marR="9525" marT="9525" marB="9525" anchor="b" horzOverflow="overflow"/>
                </a:tc>
                <a:tc>
                  <a:txBody>
                    <a:bodyPr/>
                    <a:lstStyle/>
                    <a:p>
                      <a:pPr algn="l">
                        <a:defRPr sz="1800"/>
                      </a:pPr>
                      <a:r>
                        <a:rPr sz="1400">
                          <a:solidFill>
                            <a:srgbClr val="FFFFFF"/>
                          </a:solidFill>
                          <a:sym typeface="Arial"/>
                        </a:rPr>
                        <a:t>Mott The Hoople All The Young Dudes, Roy Buchanan That’s What I Am Here For</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27</a:t>
                      </a:r>
                    </a:p>
                  </a:txBody>
                  <a:tcPr marL="9525" marR="9525" marT="9525" marB="9525" anchor="b" horzOverflow="overflow"/>
                </a:tc>
                <a:tc>
                  <a:txBody>
                    <a:bodyPr/>
                    <a:lstStyle/>
                    <a:p>
                      <a:pPr algn="ctr">
                        <a:defRPr sz="1800"/>
                      </a:pPr>
                      <a:r>
                        <a:rPr sz="1400">
                          <a:solidFill>
                            <a:srgbClr val="FFFFFF"/>
                          </a:solidFill>
                          <a:sym typeface="Arial"/>
                        </a:rPr>
                        <a:t>5/2/2019</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Dark &amp; Stormy</a:t>
                      </a:r>
                    </a:p>
                  </a:txBody>
                  <a:tcPr marL="9525" marR="9525" marT="9525" marB="9525" anchor="b" horzOverflow="overflow"/>
                </a:tc>
                <a:tc>
                  <a:txBody>
                    <a:bodyPr/>
                    <a:lstStyle/>
                    <a:p>
                      <a:pPr algn="l">
                        <a:defRPr sz="1800"/>
                      </a:pPr>
                      <a:r>
                        <a:rPr sz="1400">
                          <a:solidFill>
                            <a:srgbClr val="FFFFFF"/>
                          </a:solidFill>
                          <a:sym typeface="Arial"/>
                        </a:rPr>
                        <a:t>Tears for Fears Elemental, Beck Guero</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28</a:t>
                      </a:r>
                    </a:p>
                  </a:txBody>
                  <a:tcPr marL="9525" marR="9525" marT="9525" marB="9525" anchor="b" horzOverflow="overflow"/>
                </a:tc>
                <a:tc>
                  <a:txBody>
                    <a:bodyPr/>
                    <a:lstStyle/>
                    <a:p>
                      <a:pPr algn="ctr">
                        <a:defRPr sz="1800"/>
                      </a:pPr>
                      <a:r>
                        <a:rPr sz="1400">
                          <a:solidFill>
                            <a:srgbClr val="FFFFFF"/>
                          </a:solidFill>
                          <a:sym typeface="Arial"/>
                        </a:rPr>
                        <a:t>9/5/2019</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The Kentucky Buck</a:t>
                      </a:r>
                    </a:p>
                  </a:txBody>
                  <a:tcPr marL="9525" marR="9525" marT="9525" marB="9525" anchor="b" horzOverflow="overflow"/>
                </a:tc>
                <a:tc>
                  <a:txBody>
                    <a:bodyPr/>
                    <a:lstStyle/>
                    <a:p>
                      <a:pPr algn="l">
                        <a:defRPr sz="1800"/>
                      </a:pPr>
                      <a:r>
                        <a:rPr sz="1400">
                          <a:solidFill>
                            <a:srgbClr val="FFFFFF"/>
                          </a:solidFill>
                          <a:sym typeface="Arial"/>
                        </a:rPr>
                        <a:t>Dinosaur Jr You’re Living All Over Me, J. Mascis Elastic Days</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29</a:t>
                      </a:r>
                    </a:p>
                  </a:txBody>
                  <a:tcPr marL="9525" marR="9525" marT="9525" marB="9525" anchor="b" horzOverflow="overflow"/>
                </a:tc>
                <a:tc>
                  <a:txBody>
                    <a:bodyPr/>
                    <a:lstStyle/>
                    <a:p>
                      <a:pPr algn="ctr">
                        <a:defRPr sz="1800"/>
                      </a:pPr>
                      <a:r>
                        <a:rPr sz="1400">
                          <a:solidFill>
                            <a:srgbClr val="FFFFFF"/>
                          </a:solidFill>
                          <a:sym typeface="Arial"/>
                        </a:rPr>
                        <a:t>10/7/2019</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Harvest Moon Old-Fashioned</a:t>
                      </a:r>
                    </a:p>
                  </a:txBody>
                  <a:tcPr marL="9525" marR="9525" marT="9525" marB="9525" anchor="b" horzOverflow="overflow"/>
                </a:tc>
                <a:tc>
                  <a:txBody>
                    <a:bodyPr/>
                    <a:lstStyle/>
                    <a:p>
                      <a:pPr algn="l">
                        <a:defRPr sz="1800"/>
                      </a:pPr>
                      <a:r>
                        <a:rPr sz="1400">
                          <a:solidFill>
                            <a:srgbClr val="FFFFFF"/>
                          </a:solidFill>
                          <a:sym typeface="Arial"/>
                        </a:rPr>
                        <a:t>Japandroids Celebration Rock, Arcade Fire Funeral</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30</a:t>
                      </a:r>
                    </a:p>
                  </a:txBody>
                  <a:tcPr marL="9525" marR="9525" marT="9525" marB="9525" anchor="b" horzOverflow="overflow"/>
                </a:tc>
                <a:tc>
                  <a:txBody>
                    <a:bodyPr/>
                    <a:lstStyle/>
                    <a:p>
                      <a:pPr algn="ctr">
                        <a:defRPr sz="1800"/>
                      </a:pPr>
                      <a:r>
                        <a:rPr sz="1400">
                          <a:solidFill>
                            <a:srgbClr val="FFFFFF"/>
                          </a:solidFill>
                          <a:sym typeface="Arial"/>
                        </a:rPr>
                        <a:t>1/23/2020</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French 75 </a:t>
                      </a:r>
                    </a:p>
                  </a:txBody>
                  <a:tcPr marL="9525" marR="9525" marT="9525" marB="9525" anchor="b" horzOverflow="overflow"/>
                </a:tc>
                <a:tc>
                  <a:txBody>
                    <a:bodyPr/>
                    <a:lstStyle/>
                    <a:p>
                      <a:pPr algn="l">
                        <a:defRPr sz="1800"/>
                      </a:pPr>
                      <a:r>
                        <a:rPr sz="1400">
                          <a:solidFill>
                            <a:srgbClr val="FFFFFF"/>
                          </a:solidFill>
                          <a:sym typeface="Arial"/>
                        </a:rPr>
                        <a:t>Father John Misty Fear Fun, Van Morrison Astral Weeks</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307;p61"/>
          <p:cNvSpPr txBox="1">
            <a:spLocks noGrp="1"/>
          </p:cNvSpPr>
          <p:nvPr>
            <p:ph type="title"/>
          </p:nvPr>
        </p:nvSpPr>
        <p:spPr>
          <a:xfrm>
            <a:off x="2845829" y="207336"/>
            <a:ext cx="8610601" cy="802547"/>
          </a:xfrm>
          <a:prstGeom prst="rect">
            <a:avLst/>
          </a:prstGeom>
        </p:spPr>
        <p:txBody>
          <a:bodyPr/>
          <a:lstStyle/>
          <a:p>
            <a:r>
              <a:t>HISTORY</a:t>
            </a:r>
          </a:p>
        </p:txBody>
      </p:sp>
      <p:graphicFrame>
        <p:nvGraphicFramePr>
          <p:cNvPr id="279" name="Google Shape;308;p61"/>
          <p:cNvGraphicFramePr/>
          <p:nvPr/>
        </p:nvGraphicFramePr>
        <p:xfrm>
          <a:off x="723875" y="1339738"/>
          <a:ext cx="10744250" cy="4922550"/>
        </p:xfrm>
        <a:graphic>
          <a:graphicData uri="http://schemas.openxmlformats.org/drawingml/2006/table">
            <a:tbl>
              <a:tblPr firstRow="1" bandRow="1">
                <a:tableStyleId>{4C3C2611-4C71-4FC5-86AE-919BDF0F9419}</a:tableStyleId>
              </a:tblPr>
              <a:tblGrid>
                <a:gridCol w="446650">
                  <a:extLst>
                    <a:ext uri="{9D8B030D-6E8A-4147-A177-3AD203B41FA5}">
                      <a16:colId xmlns:a16="http://schemas.microsoft.com/office/drawing/2014/main" val="20000"/>
                    </a:ext>
                  </a:extLst>
                </a:gridCol>
                <a:gridCol w="1409675">
                  <a:extLst>
                    <a:ext uri="{9D8B030D-6E8A-4147-A177-3AD203B41FA5}">
                      <a16:colId xmlns:a16="http://schemas.microsoft.com/office/drawing/2014/main" val="20001"/>
                    </a:ext>
                  </a:extLst>
                </a:gridCol>
                <a:gridCol w="604050">
                  <a:extLst>
                    <a:ext uri="{9D8B030D-6E8A-4147-A177-3AD203B41FA5}">
                      <a16:colId xmlns:a16="http://schemas.microsoft.com/office/drawing/2014/main" val="20002"/>
                    </a:ext>
                  </a:extLst>
                </a:gridCol>
                <a:gridCol w="2594225">
                  <a:extLst>
                    <a:ext uri="{9D8B030D-6E8A-4147-A177-3AD203B41FA5}">
                      <a16:colId xmlns:a16="http://schemas.microsoft.com/office/drawing/2014/main" val="20003"/>
                    </a:ext>
                  </a:extLst>
                </a:gridCol>
                <a:gridCol w="568965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300">
                          <a:solidFill>
                            <a:srgbClr val="FFFFFF"/>
                          </a:solidFill>
                          <a:sym typeface="Arial"/>
                        </a:rPr>
                        <a:t>31</a:t>
                      </a:r>
                    </a:p>
                  </a:txBody>
                  <a:tcPr marL="9525" marR="9525" marT="9525" marB="9525" anchor="b" horzOverflow="overflow"/>
                </a:tc>
                <a:tc>
                  <a:txBody>
                    <a:bodyPr/>
                    <a:lstStyle/>
                    <a:p>
                      <a:pPr algn="ctr">
                        <a:defRPr sz="1800"/>
                      </a:pPr>
                      <a:r>
                        <a:rPr sz="1300">
                          <a:solidFill>
                            <a:srgbClr val="FFFFFF"/>
                          </a:solidFill>
                          <a:sym typeface="Arial"/>
                        </a:rPr>
                        <a:t>6/11/2020</a:t>
                      </a:r>
                    </a:p>
                  </a:txBody>
                  <a:tcPr marL="9525" marR="9525" marT="9525" marB="9525" anchor="b" horzOverflow="overflow"/>
                </a:tc>
                <a:tc>
                  <a:txBody>
                    <a:bodyPr/>
                    <a:lstStyle/>
                    <a:p>
                      <a:pPr algn="ctr">
                        <a:defRPr sz="1800"/>
                      </a:pPr>
                      <a:r>
                        <a:rPr sz="1300">
                          <a:solidFill>
                            <a:srgbClr val="FFFFFF"/>
                          </a:solidFill>
                          <a:sym typeface="Arial"/>
                        </a:rPr>
                        <a:t>Chris</a:t>
                      </a:r>
                    </a:p>
                  </a:txBody>
                  <a:tcPr marL="9525" marR="9525" marT="9525" marB="9525" anchor="b" horzOverflow="overflow"/>
                </a:tc>
                <a:tc>
                  <a:txBody>
                    <a:bodyPr/>
                    <a:lstStyle/>
                    <a:p>
                      <a:pPr algn="l">
                        <a:defRPr sz="1800"/>
                      </a:pPr>
                      <a:r>
                        <a:rPr sz="1300">
                          <a:solidFill>
                            <a:srgbClr val="FFFFFF"/>
                          </a:solidFill>
                          <a:sym typeface="Arial"/>
                        </a:rPr>
                        <a:t>Ward 8</a:t>
                      </a:r>
                    </a:p>
                  </a:txBody>
                  <a:tcPr marL="9525" marR="9525" marT="9525" marB="9525" anchor="b" horzOverflow="overflow"/>
                </a:tc>
                <a:tc>
                  <a:txBody>
                    <a:bodyPr/>
                    <a:lstStyle/>
                    <a:p>
                      <a:pPr algn="l">
                        <a:defRPr sz="1800"/>
                      </a:pPr>
                      <a:r>
                        <a:rPr sz="1300">
                          <a:solidFill>
                            <a:srgbClr val="FFFFFF"/>
                          </a:solidFill>
                          <a:sym typeface="Arial"/>
                        </a:rPr>
                        <a:t>Band of Horses – Everything All the Time; Brand New – The Devil and God Are Raging Inside Me; TV on the Radio – Return to Cookie Mountain</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300">
                          <a:solidFill>
                            <a:srgbClr val="FFFFFF"/>
                          </a:solidFill>
                          <a:sym typeface="Arial"/>
                        </a:rPr>
                        <a:t>32</a:t>
                      </a:r>
                    </a:p>
                  </a:txBody>
                  <a:tcPr marL="9525" marR="9525" marT="9525" marB="9525" anchor="b" horzOverflow="overflow"/>
                </a:tc>
                <a:tc>
                  <a:txBody>
                    <a:bodyPr/>
                    <a:lstStyle/>
                    <a:p>
                      <a:pPr algn="ctr">
                        <a:defRPr sz="1800"/>
                      </a:pPr>
                      <a:r>
                        <a:rPr sz="1300">
                          <a:solidFill>
                            <a:srgbClr val="FFFFFF"/>
                          </a:solidFill>
                          <a:sym typeface="Arial"/>
                        </a:rPr>
                        <a:t>8/6/2020</a:t>
                      </a:r>
                    </a:p>
                  </a:txBody>
                  <a:tcPr marL="9525" marR="9525" marT="9525" marB="9525" anchor="b" horzOverflow="overflow"/>
                </a:tc>
                <a:tc>
                  <a:txBody>
                    <a:bodyPr/>
                    <a:lstStyle/>
                    <a:p>
                      <a:pPr algn="ctr">
                        <a:defRPr sz="1800"/>
                      </a:pPr>
                      <a:r>
                        <a:rPr sz="1300">
                          <a:solidFill>
                            <a:srgbClr val="FFFFFF"/>
                          </a:solidFill>
                          <a:sym typeface="Arial"/>
                        </a:rPr>
                        <a:t>Joe</a:t>
                      </a:r>
                    </a:p>
                  </a:txBody>
                  <a:tcPr marL="9525" marR="9525" marT="9525" marB="9525" anchor="b" horzOverflow="overflow"/>
                </a:tc>
                <a:tc>
                  <a:txBody>
                    <a:bodyPr/>
                    <a:lstStyle/>
                    <a:p>
                      <a:pPr algn="l">
                        <a:defRPr sz="1800"/>
                      </a:pPr>
                      <a:r>
                        <a:rPr sz="1300" dirty="0">
                          <a:solidFill>
                            <a:srgbClr val="FFFFFF"/>
                          </a:solidFill>
                          <a:sym typeface="Arial"/>
                        </a:rPr>
                        <a:t>Bourbon Tasting – Beam’s Choice Collector's Edition</a:t>
                      </a:r>
                      <a:r>
                        <a:rPr lang="en-US" sz="1300" dirty="0">
                          <a:solidFill>
                            <a:srgbClr val="FFFFFF"/>
                          </a:solidFill>
                          <a:sym typeface="Arial"/>
                        </a:rPr>
                        <a:t> 50+</a:t>
                      </a:r>
                      <a:r>
                        <a:rPr sz="1300" dirty="0">
                          <a:solidFill>
                            <a:srgbClr val="FFFFFF"/>
                          </a:solidFill>
                          <a:sym typeface="Arial"/>
                        </a:rPr>
                        <a:t>; Carleton Tower</a:t>
                      </a:r>
                      <a:r>
                        <a:rPr lang="en-US" sz="1300" dirty="0">
                          <a:solidFill>
                            <a:srgbClr val="FFFFFF"/>
                          </a:solidFill>
                          <a:sym typeface="Arial"/>
                        </a:rPr>
                        <a:t> 50+</a:t>
                      </a:r>
                      <a:r>
                        <a:rPr sz="1300" dirty="0">
                          <a:solidFill>
                            <a:srgbClr val="FFFFFF"/>
                          </a:solidFill>
                          <a:sym typeface="Arial"/>
                        </a:rPr>
                        <a:t>; Woodford Reserve Double Oaked</a:t>
                      </a:r>
                    </a:p>
                  </a:txBody>
                  <a:tcPr marL="9525" marR="9525" marT="9525" marB="9525" anchor="b" horzOverflow="overflow"/>
                </a:tc>
                <a:tc>
                  <a:txBody>
                    <a:bodyPr/>
                    <a:lstStyle/>
                    <a:p>
                      <a:pPr algn="l">
                        <a:defRPr sz="1800"/>
                      </a:pPr>
                      <a:r>
                        <a:rPr sz="1300">
                          <a:solidFill>
                            <a:srgbClr val="FFFFFF"/>
                          </a:solidFill>
                          <a:sym typeface="Arial"/>
                        </a:rPr>
                        <a:t>Arc Angels – Arc Angels; Yes – Close to the Edge; Good Night Lights – Biggest Fears</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300">
                          <a:solidFill>
                            <a:srgbClr val="FFFFFF"/>
                          </a:solidFill>
                          <a:sym typeface="Arial"/>
                        </a:rPr>
                        <a:t>33</a:t>
                      </a:r>
                    </a:p>
                  </a:txBody>
                  <a:tcPr marL="9525" marR="9525" marT="9525" marB="9525" anchor="b" horzOverflow="overflow"/>
                </a:tc>
                <a:tc>
                  <a:txBody>
                    <a:bodyPr/>
                    <a:lstStyle/>
                    <a:p>
                      <a:pPr algn="ctr">
                        <a:defRPr sz="1800"/>
                      </a:pPr>
                      <a:r>
                        <a:rPr sz="1300">
                          <a:solidFill>
                            <a:srgbClr val="FFFFFF"/>
                          </a:solidFill>
                          <a:sym typeface="Arial"/>
                        </a:rPr>
                        <a:t>9/24/2020</a:t>
                      </a:r>
                    </a:p>
                  </a:txBody>
                  <a:tcPr marL="9525" marR="9525" marT="9525" marB="9525" anchor="b" horzOverflow="overflow"/>
                </a:tc>
                <a:tc>
                  <a:txBody>
                    <a:bodyPr/>
                    <a:lstStyle/>
                    <a:p>
                      <a:pPr algn="ctr">
                        <a:defRPr sz="1800"/>
                      </a:pPr>
                      <a:r>
                        <a:rPr sz="1300">
                          <a:solidFill>
                            <a:srgbClr val="FFFFFF"/>
                          </a:solidFill>
                          <a:sym typeface="Arial"/>
                        </a:rPr>
                        <a:t>John</a:t>
                      </a:r>
                    </a:p>
                  </a:txBody>
                  <a:tcPr marL="9525" marR="9525" marT="9525" marB="9525" anchor="b" horzOverflow="overflow"/>
                </a:tc>
                <a:tc>
                  <a:txBody>
                    <a:bodyPr/>
                    <a:lstStyle/>
                    <a:p>
                      <a:pPr algn="l">
                        <a:defRPr sz="1800"/>
                      </a:pPr>
                      <a:r>
                        <a:rPr sz="1300">
                          <a:solidFill>
                            <a:srgbClr val="FFFFFF"/>
                          </a:solidFill>
                          <a:sym typeface="Arial"/>
                        </a:rPr>
                        <a:t>Vieux Carre</a:t>
                      </a:r>
                    </a:p>
                  </a:txBody>
                  <a:tcPr marL="9525" marR="9525" marT="9525" marB="9525" anchor="b" horzOverflow="overflow"/>
                </a:tc>
                <a:tc>
                  <a:txBody>
                    <a:bodyPr/>
                    <a:lstStyle/>
                    <a:p>
                      <a:pPr algn="l">
                        <a:defRPr sz="1800"/>
                      </a:pPr>
                      <a:r>
                        <a:rPr sz="1300">
                          <a:solidFill>
                            <a:srgbClr val="FFFFFF"/>
                          </a:solidFill>
                          <a:sym typeface="Arial"/>
                        </a:rPr>
                        <a:t>The Church – Starfish; Treepeople – Something Vicious for Tomorrow / Time Whore; Joe Strummer + The Mescaleros - Streetcore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300">
                          <a:solidFill>
                            <a:srgbClr val="FFFFFF"/>
                          </a:solidFill>
                          <a:sym typeface="Arial"/>
                        </a:rPr>
                        <a:t>34</a:t>
                      </a:r>
                    </a:p>
                  </a:txBody>
                  <a:tcPr marL="9525" marR="9525" marT="9525" marB="9525" anchor="b" horzOverflow="overflow"/>
                </a:tc>
                <a:tc>
                  <a:txBody>
                    <a:bodyPr/>
                    <a:lstStyle/>
                    <a:p>
                      <a:pPr algn="ctr">
                        <a:defRPr sz="1800"/>
                      </a:pPr>
                      <a:r>
                        <a:rPr sz="1300">
                          <a:solidFill>
                            <a:srgbClr val="FFFFFF"/>
                          </a:solidFill>
                          <a:sym typeface="Arial"/>
                        </a:rPr>
                        <a:t>11/19/2020</a:t>
                      </a:r>
                    </a:p>
                  </a:txBody>
                  <a:tcPr marL="9525" marR="9525" marT="9525" marB="9525" anchor="b" horzOverflow="overflow"/>
                </a:tc>
                <a:tc>
                  <a:txBody>
                    <a:bodyPr/>
                    <a:lstStyle/>
                    <a:p>
                      <a:pPr algn="ctr">
                        <a:defRPr sz="1800"/>
                      </a:pPr>
                      <a:r>
                        <a:rPr sz="1300">
                          <a:solidFill>
                            <a:srgbClr val="FFFFFF"/>
                          </a:solidFill>
                          <a:sym typeface="Arial"/>
                        </a:rPr>
                        <a:t>Eric</a:t>
                      </a:r>
                    </a:p>
                  </a:txBody>
                  <a:tcPr marL="9525" marR="9525" marT="9525" marB="9525" anchor="b" horzOverflow="overflow"/>
                </a:tc>
                <a:tc>
                  <a:txBody>
                    <a:bodyPr/>
                    <a:lstStyle/>
                    <a:p>
                      <a:pPr algn="l">
                        <a:defRPr sz="1800"/>
                      </a:pPr>
                      <a:r>
                        <a:rPr sz="1300">
                          <a:solidFill>
                            <a:srgbClr val="FFFFFF"/>
                          </a:solidFill>
                          <a:sym typeface="Arial"/>
                        </a:rPr>
                        <a:t>Balvenie 14 Year Old Caribbean Cask Single Malt Scotch</a:t>
                      </a:r>
                    </a:p>
                  </a:txBody>
                  <a:tcPr marL="9525" marR="9525" marT="9525" marB="9525" anchor="b" horzOverflow="overflow"/>
                </a:tc>
                <a:tc>
                  <a:txBody>
                    <a:bodyPr/>
                    <a:lstStyle/>
                    <a:p>
                      <a:pPr algn="l">
                        <a:defRPr sz="1800"/>
                      </a:pPr>
                      <a:r>
                        <a:rPr sz="1300">
                          <a:solidFill>
                            <a:srgbClr val="FFFFFF"/>
                          </a:solidFill>
                          <a:sym typeface="Arial"/>
                        </a:rPr>
                        <a:t>Van Halen – 1984; Haim – Days Are Gone; The Smiths – Louder Than Bombs</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300">
                          <a:solidFill>
                            <a:srgbClr val="FFFFFF"/>
                          </a:solidFill>
                          <a:sym typeface="Arial"/>
                        </a:rPr>
                        <a:t>35</a:t>
                      </a:r>
                    </a:p>
                  </a:txBody>
                  <a:tcPr marL="9525" marR="9525" marT="9525" marB="9525" anchor="b" horzOverflow="overflow"/>
                </a:tc>
                <a:tc>
                  <a:txBody>
                    <a:bodyPr/>
                    <a:lstStyle/>
                    <a:p>
                      <a:pPr algn="ctr">
                        <a:defRPr sz="1800"/>
                      </a:pPr>
                      <a:r>
                        <a:rPr sz="1300">
                          <a:solidFill>
                            <a:srgbClr val="FFFFFF"/>
                          </a:solidFill>
                          <a:sym typeface="Arial"/>
                        </a:rPr>
                        <a:t>3/11/2021</a:t>
                      </a:r>
                    </a:p>
                  </a:txBody>
                  <a:tcPr marL="9525" marR="9525" marT="9525" marB="9525" anchor="b" horzOverflow="overflow"/>
                </a:tc>
                <a:tc>
                  <a:txBody>
                    <a:bodyPr/>
                    <a:lstStyle/>
                    <a:p>
                      <a:pPr algn="ctr">
                        <a:defRPr sz="1800"/>
                      </a:pPr>
                      <a:r>
                        <a:rPr sz="1300">
                          <a:solidFill>
                            <a:srgbClr val="FFFFFF"/>
                          </a:solidFill>
                          <a:sym typeface="Arial"/>
                        </a:rPr>
                        <a:t>Adam</a:t>
                      </a:r>
                    </a:p>
                  </a:txBody>
                  <a:tcPr marL="9525" marR="9525" marT="9525" marB="9525" anchor="b" horzOverflow="overflow"/>
                </a:tc>
                <a:tc>
                  <a:txBody>
                    <a:bodyPr/>
                    <a:lstStyle/>
                    <a:p>
                      <a:pPr algn="l">
                        <a:defRPr sz="1800"/>
                      </a:pPr>
                      <a:r>
                        <a:rPr sz="1300">
                          <a:solidFill>
                            <a:srgbClr val="FFFFFF"/>
                          </a:solidFill>
                          <a:sym typeface="Arial"/>
                        </a:rPr>
                        <a:t>Martinez</a:t>
                      </a:r>
                    </a:p>
                  </a:txBody>
                  <a:tcPr marL="9525" marR="9525" marT="9525" marB="9525" anchor="b" horzOverflow="overflow"/>
                </a:tc>
                <a:tc>
                  <a:txBody>
                    <a:bodyPr/>
                    <a:lstStyle/>
                    <a:p>
                      <a:pPr algn="l">
                        <a:defRPr sz="1800"/>
                      </a:pPr>
                      <a:r>
                        <a:rPr sz="1300">
                          <a:solidFill>
                            <a:srgbClr val="FFFFFF"/>
                          </a:solidFill>
                          <a:sym typeface="Arial"/>
                        </a:rPr>
                        <a:t>Nehiyawak – nipiy, Miles Cane – Coup de Grace, Afghan Whigs – Up In It</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800"/>
                      </a:pPr>
                      <a:r>
                        <a:rPr sz="1300">
                          <a:solidFill>
                            <a:srgbClr val="FFFFFF"/>
                          </a:solidFill>
                          <a:sym typeface="Arial"/>
                        </a:rPr>
                        <a:t>0</a:t>
                      </a:r>
                    </a:p>
                  </a:txBody>
                  <a:tcPr marL="9525" marR="9525" marT="9525" marB="9525" anchor="b" horzOverflow="overflow"/>
                </a:tc>
                <a:tc>
                  <a:txBody>
                    <a:bodyPr/>
                    <a:lstStyle/>
                    <a:p>
                      <a:pPr algn="ctr">
                        <a:defRPr sz="1800"/>
                      </a:pPr>
                      <a:r>
                        <a:rPr sz="1300">
                          <a:solidFill>
                            <a:srgbClr val="FFFFFF"/>
                          </a:solidFill>
                          <a:sym typeface="Arial"/>
                        </a:rPr>
                        <a:t>Lucas</a:t>
                      </a:r>
                    </a:p>
                  </a:txBody>
                  <a:tcPr marL="9525" marR="9525" marT="9525" marB="9525" anchor="b" horzOverflow="overflow"/>
                </a:tc>
                <a:tc>
                  <a:txBody>
                    <a:bodyPr/>
                    <a:lstStyle/>
                    <a:p>
                      <a:pPr algn="l">
                        <a:defRPr sz="1800"/>
                      </a:pPr>
                      <a:r>
                        <a:rPr sz="1300">
                          <a:solidFill>
                            <a:srgbClr val="FFFFFF"/>
                          </a:solidFill>
                          <a:sym typeface="Arial"/>
                        </a:rPr>
                        <a:t>0</a:t>
                      </a:r>
                    </a:p>
                  </a:txBody>
                  <a:tcPr marL="9525" marR="9525" marT="9525" marB="9525" anchor="b" horzOverflow="overflow"/>
                </a:tc>
                <a:tc>
                  <a:txBody>
                    <a:bodyPr/>
                    <a:lstStyle/>
                    <a:p>
                      <a:pPr algn="l">
                        <a:defRPr sz="1800"/>
                      </a:pPr>
                      <a:r>
                        <a:rPr sz="1300">
                          <a:solidFill>
                            <a:srgbClr val="FFFFFF"/>
                          </a:solidFill>
                          <a:sym typeface="Arial"/>
                        </a:rPr>
                        <a:t>0</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300">
                          <a:solidFill>
                            <a:srgbClr val="FFFFFF"/>
                          </a:solidFill>
                          <a:sym typeface="Arial"/>
                        </a:rPr>
                        <a:t>36</a:t>
                      </a:r>
                    </a:p>
                  </a:txBody>
                  <a:tcPr marL="9525" marR="9525" marT="9525" marB="9525" anchor="b" horzOverflow="overflow"/>
                </a:tc>
                <a:tc>
                  <a:txBody>
                    <a:bodyPr/>
                    <a:lstStyle/>
                    <a:p>
                      <a:pPr algn="ctr">
                        <a:defRPr sz="1800"/>
                      </a:pPr>
                      <a:r>
                        <a:rPr sz="1300">
                          <a:solidFill>
                            <a:srgbClr val="FFFFFF"/>
                          </a:solidFill>
                          <a:sym typeface="Arial"/>
                        </a:rPr>
                        <a:t>5/13/2021</a:t>
                      </a:r>
                    </a:p>
                  </a:txBody>
                  <a:tcPr marL="9525" marR="9525" marT="9525" marB="9525" anchor="b" horzOverflow="overflow"/>
                </a:tc>
                <a:tc>
                  <a:txBody>
                    <a:bodyPr/>
                    <a:lstStyle/>
                    <a:p>
                      <a:pPr algn="ctr">
                        <a:defRPr sz="1800"/>
                      </a:pPr>
                      <a:r>
                        <a:rPr sz="1300">
                          <a:solidFill>
                            <a:srgbClr val="FFFFFF"/>
                          </a:solidFill>
                          <a:sym typeface="Arial"/>
                        </a:rPr>
                        <a:t>Chris</a:t>
                      </a:r>
                    </a:p>
                  </a:txBody>
                  <a:tcPr marL="9525" marR="9525" marT="9525" marB="9525" anchor="b" horzOverflow="overflow"/>
                </a:tc>
                <a:tc>
                  <a:txBody>
                    <a:bodyPr/>
                    <a:lstStyle/>
                    <a:p>
                      <a:pPr algn="l">
                        <a:defRPr sz="1800"/>
                      </a:pPr>
                      <a:r>
                        <a:rPr sz="1300">
                          <a:solidFill>
                            <a:srgbClr val="FFFFFF"/>
                          </a:solidFill>
                          <a:sym typeface="Arial"/>
                        </a:rPr>
                        <a:t>El Presidente</a:t>
                      </a:r>
                    </a:p>
                  </a:txBody>
                  <a:tcPr marL="9525" marR="9525" marT="9525" marB="9525" anchor="b" horzOverflow="overflow"/>
                </a:tc>
                <a:tc>
                  <a:txBody>
                    <a:bodyPr/>
                    <a:lstStyle/>
                    <a:p>
                      <a:pPr algn="l">
                        <a:defRPr sz="1800"/>
                      </a:pPr>
                      <a:r>
                        <a:rPr sz="1300">
                          <a:solidFill>
                            <a:srgbClr val="FFFFFF"/>
                          </a:solidFill>
                          <a:sym typeface="Arial"/>
                        </a:rPr>
                        <a:t>Television – Marquee Moon, Devo – Q: Are We Not Men? A: We Are Devo; The Clash – London Calling</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37</a:t>
                      </a:r>
                    </a:p>
                  </a:txBody>
                  <a:tcPr marL="9525" marR="9525" marT="9525" marB="9525" anchor="b" horzOverflow="overflow"/>
                </a:tc>
                <a:tc>
                  <a:txBody>
                    <a:bodyPr/>
                    <a:lstStyle/>
                    <a:p>
                      <a:pPr algn="ctr">
                        <a:defRPr sz="1800"/>
                      </a:pPr>
                      <a:r>
                        <a:rPr sz="1400">
                          <a:solidFill>
                            <a:srgbClr val="FFFFFF"/>
                          </a:solidFill>
                          <a:sym typeface="Arial"/>
                        </a:rPr>
                        <a:t>6/10/2021</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The Penicillin</a:t>
                      </a:r>
                    </a:p>
                  </a:txBody>
                  <a:tcPr marL="9525" marR="9525" marT="9525" marB="9525" anchor="b" horzOverflow="overflow"/>
                </a:tc>
                <a:tc>
                  <a:txBody>
                    <a:bodyPr/>
                    <a:lstStyle/>
                    <a:p>
                      <a:pPr algn="l">
                        <a:defRPr sz="1800"/>
                      </a:pPr>
                      <a:r>
                        <a:rPr sz="1400">
                          <a:solidFill>
                            <a:srgbClr val="FFFFFF"/>
                          </a:solidFill>
                          <a:sym typeface="Arial"/>
                        </a:rPr>
                        <a:t>Leon Bridges – Coming Home; Billie Eilish – When We all Fall Asleep, Where Do We Go; Harry Styles – Fine Line</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38</a:t>
                      </a:r>
                    </a:p>
                  </a:txBody>
                  <a:tcPr marL="9525" marR="9525" marT="9525" marB="9525" anchor="b" horzOverflow="overflow"/>
                </a:tc>
                <a:tc>
                  <a:txBody>
                    <a:bodyPr/>
                    <a:lstStyle/>
                    <a:p>
                      <a:pPr algn="ctr">
                        <a:defRPr sz="1800"/>
                      </a:pPr>
                      <a:r>
                        <a:rPr sz="1400">
                          <a:solidFill>
                            <a:srgbClr val="FFFFFF"/>
                          </a:solidFill>
                          <a:sym typeface="Arial"/>
                        </a:rPr>
                        <a:t>9/7/2021</a:t>
                      </a:r>
                    </a:p>
                  </a:txBody>
                  <a:tcPr marL="9525" marR="9525" marT="9525" marB="9525" anchor="b" horzOverflow="overflow"/>
                </a:tc>
                <a:tc>
                  <a:txBody>
                    <a:bodyPr/>
                    <a:lstStyle/>
                    <a:p>
                      <a:pPr algn="ctr">
                        <a:defRPr sz="1800"/>
                      </a:pPr>
                      <a:r>
                        <a:rPr sz="1400">
                          <a:solidFill>
                            <a:srgbClr val="FFFFFF"/>
                          </a:solidFill>
                          <a:sym typeface="Arial"/>
                        </a:rPr>
                        <a:t> Eric</a:t>
                      </a:r>
                    </a:p>
                  </a:txBody>
                  <a:tcPr marL="9525" marR="9525" marT="9525" marB="9525" anchor="b" horzOverflow="overflow"/>
                </a:tc>
                <a:tc>
                  <a:txBody>
                    <a:bodyPr/>
                    <a:lstStyle/>
                    <a:p>
                      <a:pPr algn="l">
                        <a:defRPr sz="1800"/>
                      </a:pPr>
                      <a:r>
                        <a:rPr sz="1400">
                          <a:solidFill>
                            <a:srgbClr val="FFFFFF"/>
                          </a:solidFill>
                          <a:sym typeface="Arial"/>
                        </a:rPr>
                        <a:t>Blood + Sand</a:t>
                      </a:r>
                    </a:p>
                  </a:txBody>
                  <a:tcPr marL="9525" marR="9525" marT="9525" marB="9525" anchor="b" horzOverflow="overflow"/>
                </a:tc>
                <a:tc>
                  <a:txBody>
                    <a:bodyPr/>
                    <a:lstStyle/>
                    <a:p>
                      <a:pPr algn="l">
                        <a:defRPr sz="1800"/>
                      </a:pPr>
                      <a:r>
                        <a:rPr sz="1400">
                          <a:solidFill>
                            <a:srgbClr val="FFFFFF"/>
                          </a:solidFill>
                          <a:sym typeface="Arial"/>
                        </a:rPr>
                        <a:t>William Orbit – My Oracle Lives Uptown; The Connells – Steadman’s Wake; The Stranglers – Dark Matters</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39</a:t>
                      </a:r>
                    </a:p>
                  </a:txBody>
                  <a:tcPr marL="9525" marR="9525" marT="9525" marB="9525" anchor="b" horzOverflow="overflow"/>
                </a:tc>
                <a:tc>
                  <a:txBody>
                    <a:bodyPr/>
                    <a:lstStyle/>
                    <a:p>
                      <a:pPr algn="ctr">
                        <a:defRPr sz="1800"/>
                      </a:pPr>
                      <a:r>
                        <a:rPr sz="1400">
                          <a:solidFill>
                            <a:srgbClr val="FFFFFF"/>
                          </a:solidFill>
                          <a:sym typeface="Arial"/>
                        </a:rPr>
                        <a:t>11/23/2021</a:t>
                      </a:r>
                    </a:p>
                  </a:txBody>
                  <a:tcPr marL="9525" marR="9525" marT="9525" marB="9525" anchor="b" horzOverflow="overflow"/>
                </a:tc>
                <a:tc>
                  <a:txBody>
                    <a:bodyPr/>
                    <a:lstStyle/>
                    <a:p>
                      <a:pPr algn="ctr">
                        <a:defRPr sz="1800"/>
                      </a:pPr>
                      <a:r>
                        <a:rPr sz="1400">
                          <a:solidFill>
                            <a:srgbClr val="FFFFFF"/>
                          </a:solidFill>
                          <a:sym typeface="Arial"/>
                        </a:rPr>
                        <a:t> John</a:t>
                      </a:r>
                    </a:p>
                  </a:txBody>
                  <a:tcPr marL="9525" marR="9525" marT="9525" marB="9525" anchor="b" horzOverflow="overflow"/>
                </a:tc>
                <a:tc>
                  <a:txBody>
                    <a:bodyPr/>
                    <a:lstStyle/>
                    <a:p>
                      <a:pPr algn="l">
                        <a:defRPr sz="1800"/>
                      </a:pPr>
                      <a:r>
                        <a:rPr sz="1400">
                          <a:solidFill>
                            <a:srgbClr val="FFFFFF"/>
                          </a:solidFill>
                          <a:sym typeface="Arial"/>
                        </a:rPr>
                        <a:t> 81 Old Fashion</a:t>
                      </a:r>
                    </a:p>
                  </a:txBody>
                  <a:tcPr marL="9525" marR="9525" marT="9525" marB="9525" anchor="b" horzOverflow="overflow"/>
                </a:tc>
                <a:tc>
                  <a:txBody>
                    <a:bodyPr/>
                    <a:lstStyle/>
                    <a:p>
                      <a:pPr algn="l">
                        <a:defRPr sz="1800"/>
                      </a:pPr>
                      <a:r>
                        <a:rPr sz="1400" dirty="0">
                          <a:solidFill>
                            <a:srgbClr val="FFFFFF"/>
                          </a:solidFill>
                          <a:sym typeface="Arial"/>
                        </a:rPr>
                        <a:t>Dry Cleaning – New Long Leg; The War on Drugs – I Don’t Live Here Anymore; My Morning Jacket – My Morning Jacket</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Google Shape;313;p62"/>
          <p:cNvSpPr txBox="1">
            <a:spLocks noGrp="1"/>
          </p:cNvSpPr>
          <p:nvPr>
            <p:ph type="title"/>
          </p:nvPr>
        </p:nvSpPr>
        <p:spPr>
          <a:xfrm>
            <a:off x="2895600" y="159279"/>
            <a:ext cx="8610600" cy="800786"/>
          </a:xfrm>
          <a:prstGeom prst="rect">
            <a:avLst/>
          </a:prstGeom>
        </p:spPr>
        <p:txBody>
          <a:bodyPr/>
          <a:lstStyle/>
          <a:p>
            <a:r>
              <a:t>HISTORY</a:t>
            </a:r>
          </a:p>
        </p:txBody>
      </p:sp>
      <p:graphicFrame>
        <p:nvGraphicFramePr>
          <p:cNvPr id="282" name="Google Shape;314;p62"/>
          <p:cNvGraphicFramePr/>
          <p:nvPr/>
        </p:nvGraphicFramePr>
        <p:xfrm>
          <a:off x="723887" y="1282233"/>
          <a:ext cx="10744225" cy="4359980"/>
        </p:xfrm>
        <a:graphic>
          <a:graphicData uri="http://schemas.openxmlformats.org/drawingml/2006/table">
            <a:tbl>
              <a:tblPr firstRow="1" bandRow="1">
                <a:tableStyleId>{4C3C2611-4C71-4FC5-86AE-919BDF0F9419}</a:tableStyleId>
              </a:tblPr>
              <a:tblGrid>
                <a:gridCol w="464000">
                  <a:extLst>
                    <a:ext uri="{9D8B030D-6E8A-4147-A177-3AD203B41FA5}">
                      <a16:colId xmlns:a16="http://schemas.microsoft.com/office/drawing/2014/main" val="20000"/>
                    </a:ext>
                  </a:extLst>
                </a:gridCol>
                <a:gridCol w="1370725">
                  <a:extLst>
                    <a:ext uri="{9D8B030D-6E8A-4147-A177-3AD203B41FA5}">
                      <a16:colId xmlns:a16="http://schemas.microsoft.com/office/drawing/2014/main" val="20001"/>
                    </a:ext>
                  </a:extLst>
                </a:gridCol>
                <a:gridCol w="681300">
                  <a:extLst>
                    <a:ext uri="{9D8B030D-6E8A-4147-A177-3AD203B41FA5}">
                      <a16:colId xmlns:a16="http://schemas.microsoft.com/office/drawing/2014/main" val="20002"/>
                    </a:ext>
                  </a:extLst>
                </a:gridCol>
                <a:gridCol w="1516750">
                  <a:extLst>
                    <a:ext uri="{9D8B030D-6E8A-4147-A177-3AD203B41FA5}">
                      <a16:colId xmlns:a16="http://schemas.microsoft.com/office/drawing/2014/main" val="20003"/>
                    </a:ext>
                  </a:extLst>
                </a:gridCol>
                <a:gridCol w="6711450">
                  <a:extLst>
                    <a:ext uri="{9D8B030D-6E8A-4147-A177-3AD203B41FA5}">
                      <a16:colId xmlns:a16="http://schemas.microsoft.com/office/drawing/2014/main" val="20004"/>
                    </a:ext>
                  </a:extLst>
                </a:gridCol>
              </a:tblGrid>
              <a:tr h="370850">
                <a:tc>
                  <a:txBody>
                    <a:bodyPr/>
                    <a:lstStyle/>
                    <a:p>
                      <a:pPr algn="ctr">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40</a:t>
                      </a:r>
                    </a:p>
                  </a:txBody>
                  <a:tcPr marL="9525" marR="9525" marT="9525" marB="9525" anchor="b" horzOverflow="overflow"/>
                </a:tc>
                <a:tc>
                  <a:txBody>
                    <a:bodyPr/>
                    <a:lstStyle/>
                    <a:p>
                      <a:pPr algn="ctr">
                        <a:defRPr sz="1800"/>
                      </a:pPr>
                      <a:r>
                        <a:rPr sz="1400">
                          <a:solidFill>
                            <a:srgbClr val="FFFFFF"/>
                          </a:solidFill>
                          <a:sym typeface="Arial"/>
                        </a:rPr>
                        <a:t> 04/14/2022</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Toronto</a:t>
                      </a:r>
                    </a:p>
                  </a:txBody>
                  <a:tcPr marL="9525" marR="9525" marT="9525" marB="9525" anchor="b" horzOverflow="overflow"/>
                </a:tc>
                <a:tc>
                  <a:txBody>
                    <a:bodyPr/>
                    <a:lstStyle/>
                    <a:p>
                      <a:pPr algn="l">
                        <a:defRPr sz="1400">
                          <a:solidFill>
                            <a:srgbClr val="FFFFFF"/>
                          </a:solidFill>
                          <a:sym typeface="Arial"/>
                        </a:defRPr>
                      </a:pPr>
                      <a:r>
                        <a:t>The Charlatans UK – Between 10</a:t>
                      </a:r>
                      <a:r>
                        <a:rPr baseline="30000"/>
                        <a:t>th</a:t>
                      </a:r>
                      <a:r>
                        <a:t> + 11</a:t>
                      </a:r>
                      <a:r>
                        <a:rPr baseline="30000"/>
                        <a:t>th</a:t>
                      </a:r>
                      <a:r>
                        <a:t>, Gomez – Bring It On, IDLES - CRAWLER</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800"/>
                      </a:pPr>
                      <a:r>
                        <a:rPr sz="1400">
                          <a:solidFill>
                            <a:srgbClr val="FFFFFF"/>
                          </a:solidFill>
                          <a:sym typeface="Arial"/>
                        </a:rPr>
                        <a:t>0</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0</a:t>
                      </a:r>
                    </a:p>
                  </a:txBody>
                  <a:tcPr marL="9525" marR="9525" marT="9525" marB="9525" anchor="b" horzOverflow="overflow"/>
                </a:tc>
                <a:tc>
                  <a:txBody>
                    <a:bodyPr/>
                    <a:lstStyle/>
                    <a:p>
                      <a:pPr algn="l">
                        <a:defRPr sz="1800"/>
                      </a:pPr>
                      <a:r>
                        <a:rPr sz="1400">
                          <a:solidFill>
                            <a:srgbClr val="FFFFFF"/>
                          </a:solidFill>
                          <a:sym typeface="Arial"/>
                        </a:rPr>
                        <a:t>0</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41</a:t>
                      </a:r>
                    </a:p>
                  </a:txBody>
                  <a:tcPr marL="9525" marR="9525" marT="9525" marB="9525" anchor="b" horzOverflow="overflow"/>
                </a:tc>
                <a:tc>
                  <a:txBody>
                    <a:bodyPr/>
                    <a:lstStyle/>
                    <a:p>
                      <a:pPr algn="ctr">
                        <a:defRPr sz="1800"/>
                      </a:pPr>
                      <a:r>
                        <a:rPr sz="1400">
                          <a:solidFill>
                            <a:srgbClr val="FFFFFF"/>
                          </a:solidFill>
                          <a:sym typeface="Arial"/>
                        </a:rPr>
                        <a:t>6/9/2022</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Tuxedo No. 2</a:t>
                      </a:r>
                    </a:p>
                  </a:txBody>
                  <a:tcPr marL="9525" marR="9525" marT="9525" marB="9525" anchor="b" horzOverflow="overflow"/>
                </a:tc>
                <a:tc>
                  <a:txBody>
                    <a:bodyPr/>
                    <a:lstStyle/>
                    <a:p>
                      <a:pPr algn="l">
                        <a:defRPr sz="1800"/>
                      </a:pPr>
                      <a:r>
                        <a:rPr sz="1400">
                          <a:solidFill>
                            <a:srgbClr val="FFFFFF"/>
                          </a:solidFill>
                          <a:sym typeface="Arial"/>
                        </a:rPr>
                        <a:t>Depeche Mode – Speak &amp; Spell; Kraftwerk – Computer World; The Police – Ghost in the Machine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42</a:t>
                      </a:r>
                    </a:p>
                  </a:txBody>
                  <a:tcPr marL="9525" marR="9525" marT="9525" marB="9525" anchor="b" horzOverflow="overflow"/>
                </a:tc>
                <a:tc>
                  <a:txBody>
                    <a:bodyPr/>
                    <a:lstStyle/>
                    <a:p>
                      <a:pPr algn="ctr">
                        <a:defRPr sz="1800"/>
                      </a:pPr>
                      <a:r>
                        <a:rPr sz="1400">
                          <a:solidFill>
                            <a:srgbClr val="FFFFFF"/>
                          </a:solidFill>
                          <a:sym typeface="Arial"/>
                        </a:rPr>
                        <a:t>7/14/2022</a:t>
                      </a:r>
                    </a:p>
                  </a:txBody>
                  <a:tcPr marL="9525" marR="9525" marT="9525" marB="9525" anchor="b" horzOverflow="overflow"/>
                </a:tc>
                <a:tc>
                  <a:txBody>
                    <a:bodyPr/>
                    <a:lstStyle/>
                    <a:p>
                      <a:pPr algn="ctr">
                        <a:defRPr sz="1800"/>
                      </a:pPr>
                      <a:r>
                        <a:rPr sz="1400">
                          <a:solidFill>
                            <a:srgbClr val="FFFFFF"/>
                          </a:solidFill>
                          <a:sym typeface="Arial"/>
                        </a:rPr>
                        <a:t>Joe </a:t>
                      </a:r>
                    </a:p>
                  </a:txBody>
                  <a:tcPr marL="9525" marR="9525" marT="9525" marB="9525" anchor="b" horzOverflow="overflow"/>
                </a:tc>
                <a:tc>
                  <a:txBody>
                    <a:bodyPr/>
                    <a:lstStyle/>
                    <a:p>
                      <a:pPr algn="l">
                        <a:defRPr sz="1800"/>
                      </a:pPr>
                      <a:r>
                        <a:rPr sz="1400">
                          <a:solidFill>
                            <a:srgbClr val="FFFFFF"/>
                          </a:solidFill>
                          <a:sym typeface="Arial"/>
                        </a:rPr>
                        <a:t>Brown Derby</a:t>
                      </a:r>
                    </a:p>
                  </a:txBody>
                  <a:tcPr marL="9525" marR="9525" marT="9525" marB="9525" anchor="b" horzOverflow="overflow"/>
                </a:tc>
                <a:tc>
                  <a:txBody>
                    <a:bodyPr/>
                    <a:lstStyle/>
                    <a:p>
                      <a:pPr algn="l">
                        <a:defRPr sz="1800"/>
                      </a:pPr>
                      <a:r>
                        <a:rPr sz="1400">
                          <a:solidFill>
                            <a:srgbClr val="FFFFFF"/>
                          </a:solidFill>
                          <a:sym typeface="Arial"/>
                        </a:rPr>
                        <a:t>Beautiful Bob Seger – Live Bullet; Gil Scott-Heron – Pieces of a Man; Tears for Fears – Tipping Point</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43</a:t>
                      </a:r>
                    </a:p>
                  </a:txBody>
                  <a:tcPr marL="9525" marR="9525" marT="9525" marB="9525" anchor="b" horzOverflow="overflow"/>
                </a:tc>
                <a:tc>
                  <a:txBody>
                    <a:bodyPr/>
                    <a:lstStyle/>
                    <a:p>
                      <a:pPr algn="ctr">
                        <a:defRPr sz="1800"/>
                      </a:pPr>
                      <a:r>
                        <a:rPr sz="1400">
                          <a:solidFill>
                            <a:srgbClr val="FFFFFF"/>
                          </a:solidFill>
                          <a:sym typeface="Arial"/>
                        </a:rPr>
                        <a:t>8/11/2022</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Painkiller</a:t>
                      </a:r>
                    </a:p>
                  </a:txBody>
                  <a:tcPr marL="9525" marR="9525" marT="9525" marB="9525" anchor="b" horzOverflow="overflow"/>
                </a:tc>
                <a:tc>
                  <a:txBody>
                    <a:bodyPr/>
                    <a:lstStyle/>
                    <a:p>
                      <a:pPr algn="l">
                        <a:defRPr sz="1800"/>
                      </a:pPr>
                      <a:r>
                        <a:rPr sz="1400">
                          <a:solidFill>
                            <a:srgbClr val="FFFFFF"/>
                          </a:solidFill>
                          <a:sym typeface="Arial"/>
                        </a:rPr>
                        <a:t>Echo &amp; the bunnymen - Evergreen; Twenty One Pilots - Vessel;  Metric - The Art of Doubt</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44</a:t>
                      </a:r>
                    </a:p>
                  </a:txBody>
                  <a:tcPr marL="9525" marR="9525" marT="9525" marB="9525" anchor="b" horzOverflow="overflow"/>
                </a:tc>
                <a:tc>
                  <a:txBody>
                    <a:bodyPr/>
                    <a:lstStyle/>
                    <a:p>
                      <a:pPr algn="ctr">
                        <a:defRPr sz="1800"/>
                      </a:pPr>
                      <a:r>
                        <a:rPr sz="1400">
                          <a:solidFill>
                            <a:srgbClr val="FFFFFF"/>
                          </a:solidFill>
                          <a:sym typeface="Arial"/>
                        </a:rPr>
                        <a:t>9/15/2022</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Stone Fence</a:t>
                      </a:r>
                    </a:p>
                  </a:txBody>
                  <a:tcPr marL="9525" marR="9525" marT="9525" marB="9525" anchor="b" horzOverflow="overflow"/>
                </a:tc>
                <a:tc>
                  <a:txBody>
                    <a:bodyPr/>
                    <a:lstStyle/>
                    <a:p>
                      <a:pPr algn="l">
                        <a:defRPr sz="1800"/>
                      </a:pPr>
                      <a:r>
                        <a:rPr sz="1400">
                          <a:solidFill>
                            <a:srgbClr val="FFFFFF"/>
                          </a:solidFill>
                          <a:sym typeface="Arial"/>
                        </a:rPr>
                        <a:t>The Doors – The Doors; The Strokes – This is It</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45</a:t>
                      </a:r>
                    </a:p>
                  </a:txBody>
                  <a:tcPr marL="9525" marR="9525" marT="9525" marB="9525" anchor="b" horzOverflow="overflow"/>
                </a:tc>
                <a:tc>
                  <a:txBody>
                    <a:bodyPr/>
                    <a:lstStyle/>
                    <a:p>
                      <a:pPr algn="ctr">
                        <a:defRPr sz="1800"/>
                      </a:pPr>
                      <a:r>
                        <a:rPr sz="1400">
                          <a:solidFill>
                            <a:srgbClr val="FFFFFF"/>
                          </a:solidFill>
                          <a:sym typeface="Arial"/>
                        </a:rPr>
                        <a:t>11/17/2022</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Cynar Flip</a:t>
                      </a:r>
                    </a:p>
                  </a:txBody>
                  <a:tcPr marL="9525" marR="9525" marT="9525" marB="9525" anchor="b" horzOverflow="overflow"/>
                </a:tc>
                <a:tc>
                  <a:txBody>
                    <a:bodyPr/>
                    <a:lstStyle/>
                    <a:p>
                      <a:pPr algn="l">
                        <a:defRPr sz="1800"/>
                      </a:pPr>
                      <a:r>
                        <a:rPr sz="1400">
                          <a:solidFill>
                            <a:srgbClr val="FFFFFF"/>
                          </a:solidFill>
                          <a:sym typeface="Arial"/>
                        </a:rPr>
                        <a:t>Ron Gallo - HEAVY META; The Foo Fighters – The Colour and the Shape </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46</a:t>
                      </a:r>
                    </a:p>
                  </a:txBody>
                  <a:tcPr marL="0" marR="0" marT="0" marB="0" anchor="b" horzOverflow="overflow"/>
                </a:tc>
                <a:tc>
                  <a:txBody>
                    <a:bodyPr/>
                    <a:lstStyle/>
                    <a:p>
                      <a:pPr>
                        <a:defRPr sz="1800"/>
                      </a:pPr>
                      <a:r>
                        <a:rPr sz="1400">
                          <a:solidFill>
                            <a:srgbClr val="FFFFFF"/>
                          </a:solidFill>
                          <a:sym typeface="Arial"/>
                        </a:rPr>
                        <a:t>1/12/2023</a:t>
                      </a:r>
                    </a:p>
                  </a:txBody>
                  <a:tcPr marL="0" marR="0" marT="0" marB="0" anchor="b" horzOverflow="overflow"/>
                </a:tc>
                <a:tc>
                  <a:txBody>
                    <a:bodyPr/>
                    <a:lstStyle/>
                    <a:p>
                      <a:pPr algn="ctr">
                        <a:defRPr sz="1800"/>
                      </a:pPr>
                      <a:r>
                        <a:rPr sz="1400">
                          <a:solidFill>
                            <a:srgbClr val="FFFFFF"/>
                          </a:solidFill>
                          <a:sym typeface="Arial"/>
                        </a:rPr>
                        <a:t>Lucas</a:t>
                      </a:r>
                    </a:p>
                  </a:txBody>
                  <a:tcPr marL="0" marR="0" marT="0" marB="0" anchor="b" horzOverflow="overflow"/>
                </a:tc>
                <a:tc>
                  <a:txBody>
                    <a:bodyPr/>
                    <a:lstStyle/>
                    <a:p>
                      <a:pPr algn="l">
                        <a:defRPr sz="1800"/>
                      </a:pPr>
                      <a:r>
                        <a:rPr sz="1400">
                          <a:solidFill>
                            <a:srgbClr val="FFFFFF"/>
                          </a:solidFill>
                          <a:sym typeface="Arial"/>
                        </a:rPr>
                        <a:t>Paloma</a:t>
                      </a:r>
                    </a:p>
                  </a:txBody>
                  <a:tcPr marL="0" marR="0" marT="0" marB="0" anchor="b" horzOverflow="overflow"/>
                </a:tc>
                <a:tc>
                  <a:txBody>
                    <a:bodyPr/>
                    <a:lstStyle/>
                    <a:p>
                      <a:pPr algn="l">
                        <a:defRPr sz="1800"/>
                      </a:pPr>
                      <a:r>
                        <a:rPr sz="1400">
                          <a:solidFill>
                            <a:srgbClr val="FFFFFF"/>
                          </a:solidFill>
                          <a:sym typeface="Arial"/>
                        </a:rPr>
                        <a:t>Sky Perriera – Night Time, My Time; Bloc Party – Silent Alarm</a:t>
                      </a:r>
                    </a:p>
                  </a:txBody>
                  <a:tcPr marL="0" marR="0" marT="0" marB="0"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47</a:t>
                      </a:r>
                    </a:p>
                  </a:txBody>
                  <a:tcPr marL="0" marR="0" marT="0" marB="0" anchor="b" horzOverflow="overflow"/>
                </a:tc>
                <a:tc>
                  <a:txBody>
                    <a:bodyPr/>
                    <a:lstStyle/>
                    <a:p>
                      <a:pPr>
                        <a:defRPr sz="1800"/>
                      </a:pPr>
                      <a:r>
                        <a:rPr sz="1400">
                          <a:solidFill>
                            <a:srgbClr val="FFFFFF"/>
                          </a:solidFill>
                          <a:sym typeface="Arial"/>
                        </a:rPr>
                        <a:t>3/9/2023</a:t>
                      </a:r>
                    </a:p>
                  </a:txBody>
                  <a:tcPr marL="0" marR="0" marT="0" marB="0" anchor="b" horzOverflow="overflow"/>
                </a:tc>
                <a:tc>
                  <a:txBody>
                    <a:bodyPr/>
                    <a:lstStyle/>
                    <a:p>
                      <a:pPr algn="ctr">
                        <a:defRPr sz="1800"/>
                      </a:pPr>
                      <a:r>
                        <a:rPr sz="1400">
                          <a:solidFill>
                            <a:srgbClr val="FFFFFF"/>
                          </a:solidFill>
                          <a:sym typeface="Arial"/>
                        </a:rPr>
                        <a:t>Chris</a:t>
                      </a:r>
                    </a:p>
                  </a:txBody>
                  <a:tcPr marL="0" marR="0" marT="0" marB="0" anchor="b" horzOverflow="overflow"/>
                </a:tc>
                <a:tc>
                  <a:txBody>
                    <a:bodyPr/>
                    <a:lstStyle/>
                    <a:p>
                      <a:pPr algn="l">
                        <a:defRPr sz="1800"/>
                      </a:pPr>
                      <a:r>
                        <a:rPr sz="1400">
                          <a:solidFill>
                            <a:srgbClr val="FFFFFF"/>
                          </a:solidFill>
                          <a:sym typeface="Arial"/>
                        </a:rPr>
                        <a:t>The Clover Club</a:t>
                      </a:r>
                    </a:p>
                  </a:txBody>
                  <a:tcPr marL="0" marR="0" marT="0" marB="0" anchor="b" horzOverflow="overflow"/>
                </a:tc>
                <a:tc>
                  <a:txBody>
                    <a:bodyPr/>
                    <a:lstStyle/>
                    <a:p>
                      <a:pPr algn="l">
                        <a:defRPr sz="1800"/>
                      </a:pPr>
                      <a:r>
                        <a:rPr sz="1400">
                          <a:solidFill>
                            <a:srgbClr val="FFFFFF"/>
                          </a:solidFill>
                          <a:sym typeface="Arial"/>
                        </a:rPr>
                        <a:t>Cut/Copy – In Ghost Colours; The Cure – Kiss Me, Kiss Me, Kiss Me</a:t>
                      </a:r>
                    </a:p>
                  </a:txBody>
                  <a:tcPr marL="0" marR="0" marT="0" marB="0"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48</a:t>
                      </a:r>
                    </a:p>
                  </a:txBody>
                  <a:tcPr marL="0" marR="0" marT="0" marB="0" anchor="b" horzOverflow="overflow"/>
                </a:tc>
                <a:tc>
                  <a:txBody>
                    <a:bodyPr/>
                    <a:lstStyle/>
                    <a:p>
                      <a:pPr>
                        <a:defRPr sz="1800"/>
                      </a:pPr>
                      <a:r>
                        <a:rPr sz="1400">
                          <a:solidFill>
                            <a:srgbClr val="FFFFFF"/>
                          </a:solidFill>
                          <a:sym typeface="Arial"/>
                        </a:rPr>
                        <a:t>4/20/2023</a:t>
                      </a:r>
                    </a:p>
                  </a:txBody>
                  <a:tcPr marL="0" marR="0" marT="0" marB="0" anchor="b" horzOverflow="overflow"/>
                </a:tc>
                <a:tc>
                  <a:txBody>
                    <a:bodyPr/>
                    <a:lstStyle/>
                    <a:p>
                      <a:pPr algn="ctr">
                        <a:defRPr sz="1800"/>
                      </a:pPr>
                      <a:r>
                        <a:rPr sz="1400">
                          <a:solidFill>
                            <a:srgbClr val="FFFFFF"/>
                          </a:solidFill>
                          <a:sym typeface="Arial"/>
                        </a:rPr>
                        <a:t>Joe</a:t>
                      </a:r>
                    </a:p>
                  </a:txBody>
                  <a:tcPr marL="0" marR="0" marT="0" marB="0" anchor="b" horzOverflow="overflow"/>
                </a:tc>
                <a:tc>
                  <a:txBody>
                    <a:bodyPr/>
                    <a:lstStyle/>
                    <a:p>
                      <a:pPr algn="l">
                        <a:defRPr sz="1800"/>
                      </a:pPr>
                      <a:r>
                        <a:rPr sz="1400">
                          <a:solidFill>
                            <a:srgbClr val="FFFFFF"/>
                          </a:solidFill>
                          <a:sym typeface="Arial"/>
                        </a:rPr>
                        <a:t>The New Fashioned</a:t>
                      </a:r>
                    </a:p>
                  </a:txBody>
                  <a:tcPr marL="0" marR="0" marT="0" marB="0" anchor="b" horzOverflow="overflow"/>
                </a:tc>
                <a:tc>
                  <a:txBody>
                    <a:bodyPr/>
                    <a:lstStyle/>
                    <a:p>
                      <a:pPr algn="l">
                        <a:defRPr sz="1800"/>
                      </a:pPr>
                      <a:r>
                        <a:rPr sz="1400">
                          <a:solidFill>
                            <a:srgbClr val="FFFFFF"/>
                          </a:solidFill>
                          <a:sym typeface="Arial"/>
                        </a:rPr>
                        <a:t>Supertramp – Crime of the Century; St. Paul &amp; The Broken Bones – The Alien Coast; Sharon Jones &amp; The Dap Kings – 100 Days 100 Nights</a:t>
                      </a:r>
                    </a:p>
                  </a:txBody>
                  <a:tcPr marL="0" marR="0" marT="0" marB="0"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Google Shape;319;p63"/>
          <p:cNvSpPr txBox="1">
            <a:spLocks noGrp="1"/>
          </p:cNvSpPr>
          <p:nvPr>
            <p:ph type="title"/>
          </p:nvPr>
        </p:nvSpPr>
        <p:spPr>
          <a:xfrm>
            <a:off x="2779730" y="236525"/>
            <a:ext cx="8610601" cy="929027"/>
          </a:xfrm>
          <a:prstGeom prst="rect">
            <a:avLst/>
          </a:prstGeom>
        </p:spPr>
        <p:txBody>
          <a:bodyPr/>
          <a:lstStyle/>
          <a:p>
            <a:r>
              <a:t>HISTORY</a:t>
            </a:r>
          </a:p>
        </p:txBody>
      </p:sp>
      <p:graphicFrame>
        <p:nvGraphicFramePr>
          <p:cNvPr id="285" name="Google Shape;320;p63"/>
          <p:cNvGraphicFramePr/>
          <p:nvPr/>
        </p:nvGraphicFramePr>
        <p:xfrm>
          <a:off x="723887" y="1279846"/>
          <a:ext cx="10744224" cy="4828550"/>
        </p:xfrm>
        <a:graphic>
          <a:graphicData uri="http://schemas.openxmlformats.org/drawingml/2006/table">
            <a:tbl>
              <a:tblPr firstRow="1" bandRow="1">
                <a:tableStyleId>{4C3C2611-4C71-4FC5-86AE-919BDF0F9419}</a:tableStyleId>
              </a:tblPr>
              <a:tblGrid>
                <a:gridCol w="436824">
                  <a:extLst>
                    <a:ext uri="{9D8B030D-6E8A-4147-A177-3AD203B41FA5}">
                      <a16:colId xmlns:a16="http://schemas.microsoft.com/office/drawing/2014/main" val="20000"/>
                    </a:ext>
                  </a:extLst>
                </a:gridCol>
                <a:gridCol w="1424600">
                  <a:extLst>
                    <a:ext uri="{9D8B030D-6E8A-4147-A177-3AD203B41FA5}">
                      <a16:colId xmlns:a16="http://schemas.microsoft.com/office/drawing/2014/main" val="20001"/>
                    </a:ext>
                  </a:extLst>
                </a:gridCol>
                <a:gridCol w="673850">
                  <a:extLst>
                    <a:ext uri="{9D8B030D-6E8A-4147-A177-3AD203B41FA5}">
                      <a16:colId xmlns:a16="http://schemas.microsoft.com/office/drawing/2014/main" val="20002"/>
                    </a:ext>
                  </a:extLst>
                </a:gridCol>
                <a:gridCol w="2129750">
                  <a:extLst>
                    <a:ext uri="{9D8B030D-6E8A-4147-A177-3AD203B41FA5}">
                      <a16:colId xmlns:a16="http://schemas.microsoft.com/office/drawing/2014/main" val="20003"/>
                    </a:ext>
                  </a:extLst>
                </a:gridCol>
                <a:gridCol w="607920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dirty="0">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49</a:t>
                      </a:r>
                    </a:p>
                  </a:txBody>
                  <a:tcPr marL="9525" marR="9525" marT="9525" marB="9525" anchor="b" horzOverflow="overflow"/>
                </a:tc>
                <a:tc>
                  <a:txBody>
                    <a:bodyPr/>
                    <a:lstStyle/>
                    <a:p>
                      <a:pPr algn="ctr">
                        <a:defRPr sz="1800"/>
                      </a:pPr>
                      <a:r>
                        <a:rPr sz="1400">
                          <a:solidFill>
                            <a:srgbClr val="FFFFFF"/>
                          </a:solidFill>
                          <a:sym typeface="Arial"/>
                        </a:rPr>
                        <a:t>6/8/2023</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Eric’s Fancy</a:t>
                      </a:r>
                    </a:p>
                  </a:txBody>
                  <a:tcPr marL="9525" marR="9525" marT="9525" marB="9525" anchor="b" horzOverflow="overflow"/>
                </a:tc>
                <a:tc>
                  <a:txBody>
                    <a:bodyPr/>
                    <a:lstStyle/>
                    <a:p>
                      <a:pPr algn="l">
                        <a:defRPr sz="1800"/>
                      </a:pPr>
                      <a:r>
                        <a:rPr sz="1400">
                          <a:solidFill>
                            <a:srgbClr val="FFFFFF"/>
                          </a:solidFill>
                          <a:sym typeface="Arial"/>
                        </a:rPr>
                        <a:t> The Police - Zenyatta Mondatta; INXS – The Swing; Jackson Browne – Late For The Sky</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50</a:t>
                      </a:r>
                    </a:p>
                  </a:txBody>
                  <a:tcPr marL="9525" marR="9525" marT="9525" marB="9525" anchor="b" horzOverflow="overflow"/>
                </a:tc>
                <a:tc>
                  <a:txBody>
                    <a:bodyPr/>
                    <a:lstStyle/>
                    <a:p>
                      <a:pPr algn="ctr">
                        <a:defRPr sz="1800"/>
                      </a:pPr>
                      <a:r>
                        <a:rPr sz="1400">
                          <a:solidFill>
                            <a:srgbClr val="FFFFFF"/>
                          </a:solidFill>
                          <a:sym typeface="Arial"/>
                        </a:rPr>
                        <a:t>7/13/2023</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El Diablo</a:t>
                      </a:r>
                    </a:p>
                  </a:txBody>
                  <a:tcPr marL="9525" marR="9525" marT="9525" marB="9525" anchor="b" horzOverflow="overflow"/>
                </a:tc>
                <a:tc>
                  <a:txBody>
                    <a:bodyPr/>
                    <a:lstStyle/>
                    <a:p>
                      <a:pPr algn="l">
                        <a:defRPr sz="1800"/>
                      </a:pPr>
                      <a:r>
                        <a:rPr sz="1400">
                          <a:solidFill>
                            <a:srgbClr val="FFFFFF"/>
                          </a:solidFill>
                          <a:sym typeface="Arial"/>
                        </a:rPr>
                        <a:t>Todd Rundgren - A Wizard / A True Star; Pink Floyd - Animals; Yo La Tengo - This Stupid World</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51</a:t>
                      </a:r>
                    </a:p>
                  </a:txBody>
                  <a:tcPr marL="9525" marR="9525" marT="9525" marB="9525" anchor="b" horzOverflow="overflow"/>
                </a:tc>
                <a:tc>
                  <a:txBody>
                    <a:bodyPr/>
                    <a:lstStyle/>
                    <a:p>
                      <a:pPr algn="ctr">
                        <a:defRPr sz="1800"/>
                      </a:pPr>
                      <a:r>
                        <a:rPr sz="1400">
                          <a:solidFill>
                            <a:srgbClr val="FFFFFF"/>
                          </a:solidFill>
                          <a:sym typeface="Arial"/>
                        </a:rPr>
                        <a:t>9/21/2023</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Ginger Pear Bourbon</a:t>
                      </a:r>
                    </a:p>
                  </a:txBody>
                  <a:tcPr marL="9525" marR="9525" marT="9525" marB="9525" anchor="b" horzOverflow="overflow"/>
                </a:tc>
                <a:tc>
                  <a:txBody>
                    <a:bodyPr/>
                    <a:lstStyle/>
                    <a:p>
                      <a:pPr algn="l">
                        <a:defRPr sz="1800"/>
                      </a:pPr>
                      <a:r>
                        <a:rPr sz="1400">
                          <a:solidFill>
                            <a:srgbClr val="FFFFFF"/>
                          </a:solidFill>
                          <a:sym typeface="Arial"/>
                        </a:rPr>
                        <a:t>Nilüfer Yanya - PAINLESS, PJ Harvey - Stories from the City, Stories from the Sea; Yeah Yeah Yeahs - Fever to Tell</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52</a:t>
                      </a:r>
                    </a:p>
                  </a:txBody>
                  <a:tcPr marL="9525" marR="9525" marT="9525" marB="9525" anchor="b" horzOverflow="overflow"/>
                </a:tc>
                <a:tc>
                  <a:txBody>
                    <a:bodyPr/>
                    <a:lstStyle/>
                    <a:p>
                      <a:pPr algn="ctr">
                        <a:defRPr sz="1800"/>
                      </a:pPr>
                      <a:r>
                        <a:rPr sz="1400">
                          <a:solidFill>
                            <a:srgbClr val="FFFFFF"/>
                          </a:solidFill>
                          <a:sym typeface="Arial"/>
                        </a:rPr>
                        <a:t>10/19/2023</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Late Night Flight</a:t>
                      </a:r>
                    </a:p>
                  </a:txBody>
                  <a:tcPr marL="9525" marR="9525" marT="9525" marB="9525" anchor="b" horzOverflow="overflow"/>
                </a:tc>
                <a:tc>
                  <a:txBody>
                    <a:bodyPr/>
                    <a:lstStyle/>
                    <a:p>
                      <a:pPr algn="l">
                        <a:defRPr sz="1800"/>
                      </a:pPr>
                      <a:r>
                        <a:rPr sz="1400">
                          <a:solidFill>
                            <a:srgbClr val="FFFFFF"/>
                          </a:solidFill>
                          <a:sym typeface="Arial"/>
                        </a:rPr>
                        <a:t>Fall Out Boy – From Under the Cork Tree, Blink-182 – Blink-182, Taking Back Sunday – Tell All Your Friends</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53</a:t>
                      </a:r>
                    </a:p>
                  </a:txBody>
                  <a:tcPr marL="9525" marR="9525" marT="9525" marB="9525" anchor="b" horzOverflow="overflow"/>
                </a:tc>
                <a:tc>
                  <a:txBody>
                    <a:bodyPr/>
                    <a:lstStyle/>
                    <a:p>
                      <a:pPr algn="ctr">
                        <a:defRPr sz="1800"/>
                      </a:pPr>
                      <a:r>
                        <a:rPr sz="1400">
                          <a:solidFill>
                            <a:srgbClr val="FFFFFF"/>
                          </a:solidFill>
                          <a:sym typeface="Arial"/>
                        </a:rPr>
                        <a:t>11/9/2023</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Turf Club</a:t>
                      </a:r>
                    </a:p>
                  </a:txBody>
                  <a:tcPr marL="9525" marR="9525" marT="9525" marB="9525" anchor="b" horzOverflow="overflow"/>
                </a:tc>
                <a:tc>
                  <a:txBody>
                    <a:bodyPr/>
                    <a:lstStyle/>
                    <a:p>
                      <a:pPr algn="l">
                        <a:defRPr sz="1800"/>
                      </a:pPr>
                      <a:r>
                        <a:rPr sz="1400">
                          <a:solidFill>
                            <a:srgbClr val="FFFFFF"/>
                          </a:solidFill>
                          <a:sym typeface="Arial"/>
                        </a:rPr>
                        <a:t>Killing Joke – Killing Joke; Tubeway Army – Tubeway Army; Nine Inch Nails – The Fragile</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54</a:t>
                      </a:r>
                    </a:p>
                  </a:txBody>
                  <a:tcPr marL="9525" marR="9525" marT="9525" marB="9525" anchor="b" horzOverflow="overflow"/>
                </a:tc>
                <a:tc>
                  <a:txBody>
                    <a:bodyPr/>
                    <a:lstStyle/>
                    <a:p>
                      <a:pPr algn="ctr">
                        <a:defRPr sz="1800"/>
                      </a:pPr>
                      <a:r>
                        <a:rPr sz="1400">
                          <a:solidFill>
                            <a:srgbClr val="FFFFFF"/>
                          </a:solidFill>
                          <a:sym typeface="Arial"/>
                        </a:rPr>
                        <a:t>1/10/2024</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The Cape Codder</a:t>
                      </a:r>
                    </a:p>
                  </a:txBody>
                  <a:tcPr marL="9525" marR="9525" marT="9525" marB="9525" anchor="b" horzOverflow="overflow"/>
                </a:tc>
                <a:tc>
                  <a:txBody>
                    <a:bodyPr/>
                    <a:lstStyle/>
                    <a:p>
                      <a:pPr algn="l">
                        <a:defRPr sz="1800"/>
                      </a:pPr>
                      <a:r>
                        <a:rPr sz="1400" dirty="0">
                          <a:solidFill>
                            <a:srgbClr val="FFFFFF"/>
                          </a:solidFill>
                          <a:sym typeface="Arial"/>
                        </a:rPr>
                        <a:t>Neil Young &amp; Crazy Horse at The Fillmore 1970; First Ever Film Presentation: The Last Waltz</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55</a:t>
                      </a:r>
                    </a:p>
                  </a:txBody>
                  <a:tcPr marL="9525" marR="9525" marT="9525" marB="9525" anchor="b" horzOverflow="overflow"/>
                </a:tc>
                <a:tc>
                  <a:txBody>
                    <a:bodyPr/>
                    <a:lstStyle/>
                    <a:p>
                      <a:pPr algn="ctr">
                        <a:defRPr sz="1800"/>
                      </a:pPr>
                      <a:r>
                        <a:rPr sz="1400">
                          <a:solidFill>
                            <a:srgbClr val="FFFFFF"/>
                          </a:solidFill>
                          <a:sym typeface="Arial"/>
                        </a:rPr>
                        <a:t>3/14/2024</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Gold Rush</a:t>
                      </a:r>
                    </a:p>
                  </a:txBody>
                  <a:tcPr marL="9525" marR="9525" marT="9525" marB="9525" anchor="b" horzOverflow="overflow"/>
                </a:tc>
                <a:tc>
                  <a:txBody>
                    <a:bodyPr/>
                    <a:lstStyle/>
                    <a:p>
                      <a:pPr algn="l">
                        <a:defRPr sz="1800"/>
                      </a:pPr>
                      <a:r>
                        <a:rPr sz="1400">
                          <a:solidFill>
                            <a:srgbClr val="FFFFFF"/>
                          </a:solidFill>
                          <a:sym typeface="Arial"/>
                        </a:rPr>
                        <a:t>Johnny Marr + the Healers – Boomslang; Morrissey – Viva Hate; The Smiths – Hatful of Hollow</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56</a:t>
                      </a:r>
                    </a:p>
                  </a:txBody>
                  <a:tcPr marL="9525" marR="9525" marT="9525" marB="9525" anchor="b" horzOverflow="overflow"/>
                </a:tc>
                <a:tc>
                  <a:txBody>
                    <a:bodyPr/>
                    <a:lstStyle/>
                    <a:p>
                      <a:pPr algn="ctr">
                        <a:defRPr sz="1800"/>
                      </a:pPr>
                      <a:r>
                        <a:rPr sz="1400">
                          <a:solidFill>
                            <a:srgbClr val="FFFFFF"/>
                          </a:solidFill>
                          <a:sym typeface="Arial"/>
                        </a:rPr>
                        <a:t>4/11/2024</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Godfather</a:t>
                      </a:r>
                    </a:p>
                  </a:txBody>
                  <a:tcPr marL="9525" marR="9525" marT="9525" marB="9525" anchor="b" horzOverflow="overflow"/>
                </a:tc>
                <a:tc>
                  <a:txBody>
                    <a:bodyPr/>
                    <a:lstStyle/>
                    <a:p>
                      <a:pPr algn="l">
                        <a:defRPr sz="1800"/>
                      </a:pPr>
                      <a:r>
                        <a:rPr sz="1400">
                          <a:solidFill>
                            <a:srgbClr val="FFFFFF"/>
                          </a:solidFill>
                          <a:sym typeface="Arial"/>
                        </a:rPr>
                        <a:t>Woods - Perennial; King Gizzard &amp; the Lizard Wizard - Ice, Death, Planets, Lungs, Mushrooms and Lava; Neil Young - Chrome Dreams</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57</a:t>
                      </a:r>
                    </a:p>
                  </a:txBody>
                  <a:tcPr marL="9525" marR="9525" marT="9525" marB="9525" anchor="b" horzOverflow="overflow"/>
                </a:tc>
                <a:tc>
                  <a:txBody>
                    <a:bodyPr/>
                    <a:lstStyle/>
                    <a:p>
                      <a:pPr algn="ctr">
                        <a:defRPr sz="1800"/>
                      </a:pPr>
                      <a:r>
                        <a:rPr sz="1400">
                          <a:solidFill>
                            <a:srgbClr val="FFFFFF"/>
                          </a:solidFill>
                          <a:sym typeface="Arial"/>
                        </a:rPr>
                        <a:t>5/9/2024</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Oaxaca Old Fashioned</a:t>
                      </a:r>
                    </a:p>
                  </a:txBody>
                  <a:tcPr marL="9525" marR="9525" marT="9525" marB="9525" anchor="b" horzOverflow="overflow"/>
                </a:tc>
                <a:tc>
                  <a:txBody>
                    <a:bodyPr/>
                    <a:lstStyle/>
                    <a:p>
                      <a:pPr algn="l">
                        <a:defRPr sz="1800"/>
                      </a:pPr>
                      <a:r>
                        <a:rPr sz="1400">
                          <a:solidFill>
                            <a:srgbClr val="FFFFFF"/>
                          </a:solidFill>
                          <a:sym typeface="Arial"/>
                        </a:rPr>
                        <a:t>Pet Fox - A Face in Your Life; Momma - Household Name; Shame - Songs of Praise</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400">
                          <a:solidFill>
                            <a:srgbClr val="FFFFFF"/>
                          </a:solidFill>
                          <a:sym typeface="Arial"/>
                        </a:defRPr>
                      </a:pPr>
                      <a:r>
                        <a:rPr lang="en-US" dirty="0"/>
                        <a:t>58</a:t>
                      </a:r>
                      <a:endParaRPr dirty="0"/>
                    </a:p>
                  </a:txBody>
                  <a:tcPr marL="9525" marR="9525" marT="9525" marB="9525" anchor="b" horzOverflow="overflow"/>
                </a:tc>
                <a:tc>
                  <a:txBody>
                    <a:bodyPr/>
                    <a:lstStyle/>
                    <a:p>
                      <a:pPr algn="ctr">
                        <a:defRPr sz="1400">
                          <a:solidFill>
                            <a:srgbClr val="FFFFFF"/>
                          </a:solidFill>
                          <a:sym typeface="Arial"/>
                        </a:defRPr>
                      </a:pPr>
                      <a:r>
                        <a:rPr lang="en-US" dirty="0"/>
                        <a:t>9/12/2024</a:t>
                      </a:r>
                      <a:endParaRPr dirty="0"/>
                    </a:p>
                  </a:txBody>
                  <a:tcPr marL="9525" marR="9525" marT="9525" marB="9525" anchor="b" horzOverflow="overflow"/>
                </a:tc>
                <a:tc>
                  <a:txBody>
                    <a:bodyPr/>
                    <a:lstStyle/>
                    <a:p>
                      <a:pPr algn="ctr">
                        <a:defRPr sz="1400">
                          <a:solidFill>
                            <a:srgbClr val="FFFFFF"/>
                          </a:solidFill>
                          <a:sym typeface="Arial"/>
                        </a:defRPr>
                      </a:pPr>
                      <a:r>
                        <a:rPr lang="en-US" dirty="0"/>
                        <a:t>Lucas</a:t>
                      </a:r>
                      <a:endParaRPr dirty="0"/>
                    </a:p>
                  </a:txBody>
                  <a:tcPr marL="9525" marR="9525" marT="9525" marB="9525" anchor="b" horzOverflow="overflow"/>
                </a:tc>
                <a:tc>
                  <a:txBody>
                    <a:bodyPr/>
                    <a:lstStyle/>
                    <a:p>
                      <a:pPr algn="l">
                        <a:defRPr sz="1400">
                          <a:solidFill>
                            <a:srgbClr val="FFFFFF"/>
                          </a:solidFill>
                          <a:sym typeface="Arial"/>
                        </a:defRPr>
                      </a:pPr>
                      <a:r>
                        <a:rPr lang="en-US" dirty="0"/>
                        <a:t>Remember the Maine</a:t>
                      </a:r>
                      <a:endParaRPr dirty="0"/>
                    </a:p>
                  </a:txBody>
                  <a:tcPr marL="9525" marR="9525" marT="9525" marB="9525" anchor="b" horzOverflow="overflow"/>
                </a:tc>
                <a:tc>
                  <a:txBody>
                    <a:bodyPr/>
                    <a:lstStyle/>
                    <a:p>
                      <a:pPr algn="l">
                        <a:defRPr sz="1400">
                          <a:solidFill>
                            <a:srgbClr val="FFFFFF"/>
                          </a:solidFill>
                          <a:sym typeface="Arial"/>
                        </a:defRPr>
                      </a:pPr>
                      <a:r>
                        <a:rPr lang="en-US" dirty="0"/>
                        <a:t>Bloc Party – A Weekend in the City, Maximo Park – A Certain Trigger, </a:t>
                      </a:r>
                      <a:r>
                        <a:rPr lang="en-US" dirty="0" err="1"/>
                        <a:t>Futureheads</a:t>
                      </a:r>
                      <a:r>
                        <a:rPr lang="en-US" dirty="0"/>
                        <a:t> – </a:t>
                      </a:r>
                      <a:r>
                        <a:rPr lang="en-US" dirty="0" err="1"/>
                        <a:t>Futureheads</a:t>
                      </a:r>
                      <a:r>
                        <a:rPr lang="en-US" dirty="0"/>
                        <a:t> (Self Titled)</a:t>
                      </a:r>
                      <a:endParaRPr dirty="0"/>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FEBB-13BA-D666-D607-FD0986411C9E}"/>
            </a:ext>
          </a:extLst>
        </p:cNvPr>
        <p:cNvGrpSpPr/>
        <p:nvPr/>
      </p:nvGrpSpPr>
      <p:grpSpPr>
        <a:xfrm>
          <a:off x="0" y="0"/>
          <a:ext cx="0" cy="0"/>
          <a:chOff x="0" y="0"/>
          <a:chExt cx="0" cy="0"/>
        </a:xfrm>
      </p:grpSpPr>
      <p:sp>
        <p:nvSpPr>
          <p:cNvPr id="284" name="Google Shape;319;p63">
            <a:extLst>
              <a:ext uri="{FF2B5EF4-FFF2-40B4-BE49-F238E27FC236}">
                <a16:creationId xmlns:a16="http://schemas.microsoft.com/office/drawing/2014/main" id="{E5C7E05E-1F95-DA43-E09F-DE52778DF369}"/>
              </a:ext>
            </a:extLst>
          </p:cNvPr>
          <p:cNvSpPr txBox="1">
            <a:spLocks noGrp="1"/>
          </p:cNvSpPr>
          <p:nvPr>
            <p:ph type="title"/>
          </p:nvPr>
        </p:nvSpPr>
        <p:spPr>
          <a:xfrm>
            <a:off x="2779730" y="236525"/>
            <a:ext cx="8610601" cy="929027"/>
          </a:xfrm>
          <a:prstGeom prst="rect">
            <a:avLst/>
          </a:prstGeom>
        </p:spPr>
        <p:txBody>
          <a:bodyPr/>
          <a:lstStyle/>
          <a:p>
            <a:r>
              <a:t>HISTORY</a:t>
            </a:r>
          </a:p>
        </p:txBody>
      </p:sp>
      <p:graphicFrame>
        <p:nvGraphicFramePr>
          <p:cNvPr id="285" name="Google Shape;320;p63">
            <a:extLst>
              <a:ext uri="{FF2B5EF4-FFF2-40B4-BE49-F238E27FC236}">
                <a16:creationId xmlns:a16="http://schemas.microsoft.com/office/drawing/2014/main" id="{06EC7A37-1862-3E27-B2EC-73F06CB3F34A}"/>
              </a:ext>
            </a:extLst>
          </p:cNvPr>
          <p:cNvGraphicFramePr/>
          <p:nvPr>
            <p:extLst>
              <p:ext uri="{D42A27DB-BD31-4B8C-83A1-F6EECF244321}">
                <p14:modId xmlns:p14="http://schemas.microsoft.com/office/powerpoint/2010/main" val="1279602019"/>
              </p:ext>
            </p:extLst>
          </p:nvPr>
        </p:nvGraphicFramePr>
        <p:xfrm>
          <a:off x="723887" y="1279846"/>
          <a:ext cx="10744224" cy="4442550"/>
        </p:xfrm>
        <a:graphic>
          <a:graphicData uri="http://schemas.openxmlformats.org/drawingml/2006/table">
            <a:tbl>
              <a:tblPr firstRow="1" bandRow="1">
                <a:tableStyleId>{4C3C2611-4C71-4FC5-86AE-919BDF0F9419}</a:tableStyleId>
              </a:tblPr>
              <a:tblGrid>
                <a:gridCol w="436824">
                  <a:extLst>
                    <a:ext uri="{9D8B030D-6E8A-4147-A177-3AD203B41FA5}">
                      <a16:colId xmlns:a16="http://schemas.microsoft.com/office/drawing/2014/main" val="20000"/>
                    </a:ext>
                  </a:extLst>
                </a:gridCol>
                <a:gridCol w="1424600">
                  <a:extLst>
                    <a:ext uri="{9D8B030D-6E8A-4147-A177-3AD203B41FA5}">
                      <a16:colId xmlns:a16="http://schemas.microsoft.com/office/drawing/2014/main" val="20001"/>
                    </a:ext>
                  </a:extLst>
                </a:gridCol>
                <a:gridCol w="673850">
                  <a:extLst>
                    <a:ext uri="{9D8B030D-6E8A-4147-A177-3AD203B41FA5}">
                      <a16:colId xmlns:a16="http://schemas.microsoft.com/office/drawing/2014/main" val="20002"/>
                    </a:ext>
                  </a:extLst>
                </a:gridCol>
                <a:gridCol w="2129750">
                  <a:extLst>
                    <a:ext uri="{9D8B030D-6E8A-4147-A177-3AD203B41FA5}">
                      <a16:colId xmlns:a16="http://schemas.microsoft.com/office/drawing/2014/main" val="20003"/>
                    </a:ext>
                  </a:extLst>
                </a:gridCol>
                <a:gridCol w="607920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dirty="0">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dirty="0">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dirty="0">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lang="en-US" sz="1400" dirty="0">
                          <a:solidFill>
                            <a:srgbClr val="FFFFFF"/>
                          </a:solidFill>
                          <a:sym typeface="Arial"/>
                        </a:rPr>
                        <a:t>60</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10/10/2024</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Chris</a:t>
                      </a:r>
                      <a:endParaRPr sz="1400" dirty="0">
                        <a:solidFill>
                          <a:srgbClr val="FFFFFF"/>
                        </a:solidFill>
                        <a:sym typeface="Arial"/>
                      </a:endParaRPr>
                    </a:p>
                  </a:txBody>
                  <a:tcPr marL="9525" marR="9525" marT="9525" marB="9525" anchor="b" horzOverflow="overflow"/>
                </a:tc>
                <a:tc>
                  <a:txBody>
                    <a:bodyPr/>
                    <a:lstStyle/>
                    <a:p>
                      <a:pPr algn="l">
                        <a:defRPr sz="1800"/>
                      </a:pPr>
                      <a:r>
                        <a:rPr lang="en-US" sz="1400" dirty="0">
                          <a:solidFill>
                            <a:srgbClr val="FFFFFF"/>
                          </a:solidFill>
                          <a:sym typeface="Arial"/>
                        </a:rPr>
                        <a:t>Toronto Sour</a:t>
                      </a: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lang="en-US" sz="1400" dirty="0">
                          <a:solidFill>
                            <a:srgbClr val="FFFFFF"/>
                          </a:solidFill>
                          <a:sym typeface="Arial"/>
                        </a:rPr>
                        <a:t>61</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11/21/2024</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Joe</a:t>
                      </a:r>
                      <a:endParaRPr sz="1400" dirty="0">
                        <a:solidFill>
                          <a:srgbClr val="FFFFFF"/>
                        </a:solidFill>
                        <a:sym typeface="Arial"/>
                      </a:endParaRPr>
                    </a:p>
                  </a:txBody>
                  <a:tcPr marL="9525" marR="9525" marT="9525" marB="9525" anchor="b" horzOverflow="overflow"/>
                </a:tc>
                <a:tc>
                  <a:txBody>
                    <a:bodyPr/>
                    <a:lstStyle/>
                    <a:p>
                      <a:pPr algn="l">
                        <a:defRPr sz="1800"/>
                      </a:pPr>
                      <a:r>
                        <a:rPr lang="en-US" sz="1400" dirty="0">
                          <a:solidFill>
                            <a:srgbClr val="FFFFFF"/>
                          </a:solidFill>
                          <a:sym typeface="Arial"/>
                        </a:rPr>
                        <a:t>Blackberry Smash</a:t>
                      </a: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lang="en-US" sz="1400" dirty="0">
                          <a:solidFill>
                            <a:srgbClr val="FFFFFF"/>
                          </a:solidFill>
                          <a:sym typeface="Arial"/>
                        </a:rPr>
                        <a:t>62</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1/9/2025</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John</a:t>
                      </a:r>
                      <a:endParaRPr sz="1400" dirty="0">
                        <a:solidFill>
                          <a:srgbClr val="FFFFFF"/>
                        </a:solidFill>
                        <a:sym typeface="Arial"/>
                      </a:endParaRPr>
                    </a:p>
                  </a:txBody>
                  <a:tcPr marL="9525" marR="9525" marT="9525" marB="9525" anchor="b" horzOverflow="overflow"/>
                </a:tc>
                <a:tc>
                  <a:txBody>
                    <a:bodyPr/>
                    <a:lstStyle/>
                    <a:p>
                      <a:pPr algn="l">
                        <a:defRPr sz="1800"/>
                      </a:pPr>
                      <a:r>
                        <a:rPr lang="en-US" sz="1400" dirty="0">
                          <a:solidFill>
                            <a:srgbClr val="FFFFFF"/>
                          </a:solidFill>
                          <a:sym typeface="Arial"/>
                        </a:rPr>
                        <a:t>Pendergast</a:t>
                      </a: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lang="en-US" sz="1400" dirty="0">
                          <a:solidFill>
                            <a:srgbClr val="FFFFFF"/>
                          </a:solidFill>
                          <a:sym typeface="Arial"/>
                        </a:rPr>
                        <a:t>63</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3/13/2025</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Adam</a:t>
                      </a:r>
                      <a:endParaRPr sz="1400" dirty="0">
                        <a:solidFill>
                          <a:srgbClr val="FFFFFF"/>
                        </a:solidFill>
                        <a:sym typeface="Arial"/>
                      </a:endParaRPr>
                    </a:p>
                  </a:txBody>
                  <a:tcPr marL="9525" marR="9525" marT="9525" marB="9525" anchor="b"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800"/>
                      </a:pPr>
                      <a:r>
                        <a:rPr lang="en-US" sz="1400" dirty="0">
                          <a:solidFill>
                            <a:schemeClr val="tx2">
                              <a:lumMod val="20000"/>
                              <a:lumOff val="80000"/>
                            </a:schemeClr>
                          </a:solidFill>
                        </a:rPr>
                        <a:t>Bubby’s Barrel-Aged Manhattan - Elijah Craig Small Batch Edition</a:t>
                      </a:r>
                    </a:p>
                  </a:txBody>
                  <a:tcPr marL="9525" marR="9525" marT="9525" marB="9525" anchor="b" horzOverflow="overflow"/>
                </a:tc>
                <a:tc>
                  <a:txBody>
                    <a:bodyPr/>
                    <a:lstStyle/>
                    <a:p>
                      <a:pPr algn="l">
                        <a:defRPr sz="1800"/>
                      </a:pPr>
                      <a:r>
                        <a:rPr lang="en-US" sz="1400" dirty="0">
                          <a:solidFill>
                            <a:srgbClr val="FFFFFF"/>
                          </a:solidFill>
                          <a:sym typeface="Arial"/>
                        </a:rPr>
                        <a:t>Phantom Planet – Phantom Planet, MGMT – Loss of Life, The Beatles – Magical Mystery Tour</a:t>
                      </a: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lang="en-US" sz="1400" dirty="0">
                          <a:solidFill>
                            <a:srgbClr val="FFFFFF"/>
                          </a:solidFill>
                          <a:sym typeface="Arial"/>
                        </a:rPr>
                        <a:t>64</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5/22/2025</a:t>
                      </a:r>
                      <a:endParaRPr sz="1400" dirty="0">
                        <a:solidFill>
                          <a:srgbClr val="FFFFFF"/>
                        </a:solidFill>
                        <a:sym typeface="Arial"/>
                      </a:endParaRPr>
                    </a:p>
                  </a:txBody>
                  <a:tcPr marL="9525" marR="9525" marT="9525" marB="9525" anchor="b" horzOverflow="overflow"/>
                </a:tc>
                <a:tc>
                  <a:txBody>
                    <a:bodyPr/>
                    <a:lstStyle/>
                    <a:p>
                      <a:pPr algn="ctr">
                        <a:defRPr sz="1800"/>
                      </a:pPr>
                      <a:r>
                        <a:rPr lang="en-US" sz="1400" dirty="0">
                          <a:solidFill>
                            <a:srgbClr val="FFFFFF"/>
                          </a:solidFill>
                          <a:sym typeface="Arial"/>
                        </a:rPr>
                        <a:t>Lucas</a:t>
                      </a: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tc>
                  <a:txBody>
                    <a:bodyPr/>
                    <a:lstStyle/>
                    <a:p>
                      <a:pPr algn="l">
                        <a:defRPr sz="1800"/>
                      </a:pPr>
                      <a:r>
                        <a:rPr lang="en-US" sz="1400" dirty="0">
                          <a:solidFill>
                            <a:srgbClr val="FFFFFF"/>
                          </a:solidFill>
                          <a:sym typeface="Arial"/>
                        </a:rPr>
                        <a:t>Nirvana – </a:t>
                      </a:r>
                      <a:r>
                        <a:rPr lang="en-US" sz="1400" dirty="0" err="1">
                          <a:solidFill>
                            <a:srgbClr val="FFFFFF"/>
                          </a:solidFill>
                          <a:sym typeface="Arial"/>
                        </a:rPr>
                        <a:t>Incesticide</a:t>
                      </a:r>
                      <a:r>
                        <a:rPr lang="en-US" sz="1400" dirty="0">
                          <a:solidFill>
                            <a:srgbClr val="FFFFFF"/>
                          </a:solidFill>
                          <a:sym typeface="Arial"/>
                        </a:rPr>
                        <a:t>, Manchester Orchestra – A Black Mile to the Surface, Radiohead – In Rainbows</a:t>
                      </a: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ctr">
                        <a:defRPr sz="1800"/>
                      </a:pPr>
                      <a:endParaRPr sz="140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tc>
                  <a:txBody>
                    <a:bodyPr/>
                    <a:lstStyle/>
                    <a:p>
                      <a:pPr algn="l">
                        <a:defRPr sz="1800"/>
                      </a:pPr>
                      <a:endParaRPr sz="1400" dirty="0">
                        <a:solidFill>
                          <a:srgbClr val="FFFFFF"/>
                        </a:solidFill>
                        <a:sym typeface="Arial"/>
                      </a:endParaRP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400">
                          <a:solidFill>
                            <a:srgbClr val="FFFFFF"/>
                          </a:solidFill>
                          <a:sym typeface="Arial"/>
                        </a:defRPr>
                      </a:pPr>
                      <a:endParaRPr dirty="0"/>
                    </a:p>
                  </a:txBody>
                  <a:tcPr marL="9525" marR="9525" marT="9525" marB="9525" anchor="b" horzOverflow="overflow"/>
                </a:tc>
                <a:tc>
                  <a:txBody>
                    <a:bodyPr/>
                    <a:lstStyle/>
                    <a:p>
                      <a:pPr algn="ctr">
                        <a:defRPr sz="1400">
                          <a:solidFill>
                            <a:srgbClr val="FFFFFF"/>
                          </a:solidFill>
                          <a:sym typeface="Arial"/>
                        </a:defRPr>
                      </a:pPr>
                      <a:endParaRPr dirty="0"/>
                    </a:p>
                  </a:txBody>
                  <a:tcPr marL="9525" marR="9525" marT="9525" marB="9525" anchor="b" horzOverflow="overflow"/>
                </a:tc>
                <a:tc>
                  <a:txBody>
                    <a:bodyPr/>
                    <a:lstStyle/>
                    <a:p>
                      <a:pPr algn="ctr">
                        <a:defRPr sz="1400">
                          <a:solidFill>
                            <a:srgbClr val="FFFFFF"/>
                          </a:solidFill>
                          <a:sym typeface="Arial"/>
                        </a:defRPr>
                      </a:pPr>
                      <a:endParaRPr dirty="0"/>
                    </a:p>
                  </a:txBody>
                  <a:tcPr marL="9525" marR="9525" marT="9525" marB="9525" anchor="b" horzOverflow="overflow"/>
                </a:tc>
                <a:tc>
                  <a:txBody>
                    <a:bodyPr/>
                    <a:lstStyle/>
                    <a:p>
                      <a:pPr algn="l">
                        <a:defRPr sz="1400">
                          <a:solidFill>
                            <a:srgbClr val="FFFFFF"/>
                          </a:solidFill>
                          <a:sym typeface="Arial"/>
                        </a:defRPr>
                      </a:pPr>
                      <a:endParaRPr dirty="0"/>
                    </a:p>
                  </a:txBody>
                  <a:tcPr marL="9525" marR="9525" marT="9525" marB="9525" anchor="b" horzOverflow="overflow"/>
                </a:tc>
                <a:tc>
                  <a:txBody>
                    <a:bodyPr/>
                    <a:lstStyle/>
                    <a:p>
                      <a:pPr algn="l">
                        <a:defRPr sz="1400">
                          <a:solidFill>
                            <a:srgbClr val="FFFFFF"/>
                          </a:solidFill>
                          <a:sym typeface="Arial"/>
                        </a:defRPr>
                      </a:pPr>
                      <a:endParaRPr dirty="0"/>
                    </a:p>
                  </a:txBody>
                  <a:tcPr marL="9525" marR="9525" marT="9525" marB="9525" anchor="b" horzOverflow="overflow"/>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1494384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nvGraphicFramePr>
        <p:xfrm>
          <a:off x="375560" y="946487"/>
          <a:ext cx="11592323" cy="5648836"/>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1/22/15</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ctr"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2/26/15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ctr" fontAlgn="b"/>
                      <a:endParaRPr lang="en-US" sz="1600" b="1" i="0" u="sng"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sng"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3/27/15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ctr"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sng"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4/23/15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ctr"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sng"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7/29/15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ctr"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11/5/15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ctr"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sng"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12/17/15</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ctr"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1st Presentation deck</a:t>
                      </a: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1/26/16</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ctr"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3/25/16</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1st Reference to "Resident Musicologist, Joseph Ziegler report"</a:t>
                      </a:r>
                    </a:p>
                  </a:txBody>
                  <a:tcPr marL="9525" marR="9525" marT="9525" marB="0" anchor="b"/>
                </a:tc>
                <a:extLst>
                  <a:ext uri="{0D108BD9-81ED-4DB2-BD59-A6C34878D82A}">
                    <a16:rowId xmlns:a16="http://schemas.microsoft.com/office/drawing/2014/main" val="10009"/>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5/25/16</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2nd Reference to "Resident Musicologist…"</a:t>
                      </a:r>
                    </a:p>
                  </a:txBody>
                  <a:tcPr marL="9525" marR="9525" marT="9525" marB="0" anchor="b"/>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nvGraphicFramePr>
        <p:xfrm>
          <a:off x="375560" y="946487"/>
          <a:ext cx="11592323" cy="5648836"/>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8/10/16</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Resident Musicologist Report reference</a:t>
                      </a: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9/29/16</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Musicians Moving On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12/8/16</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JZ Has the Floor</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1/26/17</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The Philadelphia Sound</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3/9/17</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Black Sabbath</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5/4/17</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Beatles or Stones?</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8/10/17</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Bill Graham</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9/14/17</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Glyn Johns Engineer, Producer, Mixer</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10/26/17</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Behind the kit - 1971</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1/25/18</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Emotional Response to Music</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150292460"/>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nvGraphicFramePr>
        <p:xfrm>
          <a:off x="375560" y="946487"/>
          <a:ext cx="11592323" cy="5680400"/>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3/8/18</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Disco deserves 10 minutes of our time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5/10/18</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The shame of the rock &amp; roll hall of fame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8/8/18</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Pick one timeless song</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11/1/18</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AC/DC How fucked up IS this band?</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1/24/19</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Number 1 song the day you were born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3/7/19</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How music affects the brain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5/2/19</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Sex, drugs, and Rock &amp; Roll - Where did the phrase come from … beyond the obvious?</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9/5/19</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Someone stole my song! Plagerism in Rock &amp; Roll</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10/17/19</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Contract riders - Excess and entitlement in Rock &amp; Roll</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1/23/20</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Groupies! Ah… the ladies</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13488612"/>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nvGraphicFramePr>
        <p:xfrm>
          <a:off x="375560" y="946487"/>
          <a:ext cx="11592323" cy="5711964"/>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6/11/20</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chemeClr val="tx2">
                              <a:lumMod val="20000"/>
                              <a:lumOff val="80000"/>
                            </a:schemeClr>
                          </a:solidFill>
                          <a:effectLst/>
                          <a:latin typeface="Calibri" panose="020F0502020204030204" pitchFamily="34" charset="0"/>
                        </a:rPr>
                        <a:t>***Musicology was tabled until the next meeting</a:t>
                      </a: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9/24/20</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Ployrythms and Polymeters - At the risk of being fired as a Musicologist…</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11/19/20</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chemeClr val="tx2">
                              <a:lumMod val="20000"/>
                              <a:lumOff val="80000"/>
                            </a:schemeClr>
                          </a:solidFill>
                          <a:effectLst/>
                          <a:latin typeface="Calibri" panose="020F0502020204030204" pitchFamily="34" charset="0"/>
                        </a:rPr>
                        <a:t>***unclear what topic was covered</a:t>
                      </a:r>
                    </a:p>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3/11/21</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Hilarious Band Names - Weevie Stonder</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5/13/21</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gridSpan="2">
                  <a:txBody>
                    <a:bodyPr/>
                    <a:lstStyle/>
                    <a:p>
                      <a:pPr algn="l" fontAlgn="b"/>
                      <a:r>
                        <a:rPr lang="en-US" sz="1600" b="1" i="0" u="none" strike="noStrike">
                          <a:solidFill>
                            <a:schemeClr val="tx2">
                              <a:lumMod val="20000"/>
                              <a:lumOff val="80000"/>
                            </a:schemeClr>
                          </a:solidFill>
                          <a:effectLst/>
                          <a:latin typeface="Calibri" panose="020F0502020204030204" pitchFamily="34" charset="0"/>
                        </a:rPr>
                        <a:t>Who Would You Pick? If you could see one show/performance of a person or band that is dead or broken up, who and why?</a:t>
                      </a:r>
                    </a:p>
                  </a:txBody>
                  <a:tcPr marL="9525" marR="9525" marT="9525" marB="0" anchor="b"/>
                </a:tc>
                <a:tc hMerge="1">
                  <a:txBody>
                    <a:bodyPr/>
                    <a:lstStyle/>
                    <a:p>
                      <a:endParaRPr lang="en-US"/>
                    </a:p>
                  </a:txBody>
                  <a:tcPr/>
                </a:tc>
                <a:extLst>
                  <a:ext uri="{0D108BD9-81ED-4DB2-BD59-A6C34878D82A}">
                    <a16:rowId xmlns:a16="http://schemas.microsoft.com/office/drawing/2014/main" val="10005"/>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6/10/21</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Time Signature - it's fucking hard</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9/7/21</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Breaking Music in television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11/23/21</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Famous musicians from Toledo OH</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4/14/22</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RIP Michael Lang - Woodstock 1969</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6/9/22</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Glen Campbell</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58506132"/>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nvGraphicFramePr>
        <p:xfrm>
          <a:off x="375560" y="946487"/>
          <a:ext cx="11592323" cy="5664618"/>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11/17/22</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Akron Porch Rocker!</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1/12/23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Albums of the year</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3/9/23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Top Selling albums all time!</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4/20/23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Who got paid WHAT? At Woodstock 1969</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6/8/23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Stevie Moore - The Godfather of home recording</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7/13/23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Now famous backup singers</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9/21/23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Repeated lines in songs </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10/19/23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Musical heroes</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11/9/23</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The Band</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78681">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1/10/24</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Movie Night! - The Last Waltz</a:t>
                      </a: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9955735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Google Shape;289;p58"/>
          <p:cNvSpPr txBox="1">
            <a:spLocks noGrp="1"/>
          </p:cNvSpPr>
          <p:nvPr>
            <p:ph type="title"/>
          </p:nvPr>
        </p:nvSpPr>
        <p:spPr>
          <a:xfrm>
            <a:off x="2715359" y="151232"/>
            <a:ext cx="8611557" cy="795255"/>
          </a:xfrm>
          <a:prstGeom prst="rect">
            <a:avLst/>
          </a:prstGeom>
        </p:spPr>
        <p:txBody>
          <a:bodyPr/>
          <a:lstStyle/>
          <a:p>
            <a:r>
              <a:rPr lang="en-US" dirty="0"/>
              <a:t>MUSICOLOGY </a:t>
            </a:r>
            <a:r>
              <a:rPr dirty="0"/>
              <a:t>HISTORY</a:t>
            </a:r>
          </a:p>
        </p:txBody>
      </p:sp>
      <p:graphicFrame>
        <p:nvGraphicFramePr>
          <p:cNvPr id="270" name="Google Shape;290;p58"/>
          <p:cNvGraphicFramePr/>
          <p:nvPr>
            <p:extLst>
              <p:ext uri="{D42A27DB-BD31-4B8C-83A1-F6EECF244321}">
                <p14:modId xmlns:p14="http://schemas.microsoft.com/office/powerpoint/2010/main" val="2568675320"/>
              </p:ext>
            </p:extLst>
          </p:nvPr>
        </p:nvGraphicFramePr>
        <p:xfrm>
          <a:off x="375560" y="946487"/>
          <a:ext cx="11592323" cy="5680400"/>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6">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lang="en-US" b="1" dirty="0">
                          <a:solidFill>
                            <a:srgbClr val="FFFFFF"/>
                          </a:solidFill>
                          <a:sym typeface="Arial"/>
                        </a:rPr>
                        <a:t>Date</a:t>
                      </a:r>
                      <a:endParaRPr b="1" dirty="0">
                        <a:solidFill>
                          <a:srgbClr val="FFFFFF"/>
                        </a:solidFill>
                        <a:sym typeface="Arial"/>
                      </a:endParaRPr>
                    </a:p>
                  </a:txBody>
                  <a:tcPr marL="45725" marR="45725" marT="45725" marB="45725" horzOverflow="overflow">
                    <a:lnL>
                      <a:solidFill>
                        <a:schemeClr val="accent1"/>
                      </a:solidFill>
                    </a:lnL>
                  </a:tcPr>
                </a:tc>
                <a:tc>
                  <a:txBody>
                    <a:bodyPr/>
                    <a:lstStyle/>
                    <a:p>
                      <a:pPr algn="l">
                        <a:defRPr sz="1800" b="0">
                          <a:solidFill>
                            <a:srgbClr val="000000"/>
                          </a:solidFill>
                        </a:defRPr>
                      </a:pPr>
                      <a:r>
                        <a:rPr lang="en-US" b="1" dirty="0">
                          <a:solidFill>
                            <a:srgbClr val="FFFFFF"/>
                          </a:solidFill>
                          <a:sym typeface="Arial"/>
                        </a:rPr>
                        <a:t>Host</a:t>
                      </a:r>
                      <a:endParaRPr b="1" dirty="0">
                        <a:solidFill>
                          <a:srgbClr val="FFFFFF"/>
                        </a:solidFill>
                        <a:sym typeface="Arial"/>
                      </a:endParaRPr>
                    </a:p>
                  </a:txBody>
                  <a:tcPr marL="45725" marR="45725" marT="45725" marB="45725" horzOverflow="overflow"/>
                </a:tc>
                <a:tc>
                  <a:txBody>
                    <a:bodyPr/>
                    <a:lstStyle/>
                    <a:p>
                      <a:pPr algn="ctr">
                        <a:defRPr sz="1800" b="0">
                          <a:solidFill>
                            <a:srgbClr val="000000"/>
                          </a:solidFill>
                        </a:defRPr>
                      </a:pPr>
                      <a:r>
                        <a:rPr lang="en-US" b="1" dirty="0">
                          <a:solidFill>
                            <a:srgbClr val="FFFFFF"/>
                          </a:solidFill>
                          <a:sym typeface="Arial"/>
                        </a:rPr>
                        <a:t>Musicologist</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Topic</a:t>
                      </a:r>
                      <a:endParaRPr b="1" dirty="0">
                        <a:solidFill>
                          <a:srgbClr val="FFFFFF"/>
                        </a:solidFill>
                        <a:sym typeface="Arial"/>
                      </a:endParaRPr>
                    </a:p>
                  </a:txBody>
                  <a:tcPr marL="45725" marR="45725" marT="45725" marB="45725" horzOverflow="overflow"/>
                </a:tc>
                <a:tc>
                  <a:txBody>
                    <a:bodyPr/>
                    <a:lstStyle/>
                    <a:p>
                      <a:pPr algn="l">
                        <a:defRPr sz="1800" b="0">
                          <a:solidFill>
                            <a:srgbClr val="000000"/>
                          </a:solidFill>
                        </a:defRPr>
                      </a:pPr>
                      <a:r>
                        <a:rPr lang="en-US" b="1" dirty="0">
                          <a:solidFill>
                            <a:srgbClr val="FFFFFF"/>
                          </a:solidFill>
                          <a:sym typeface="Arial"/>
                        </a:rPr>
                        <a:t>Notes</a:t>
                      </a:r>
                      <a:endParaRPr b="1" dirty="0">
                        <a:solidFill>
                          <a:srgbClr val="FFFFFF"/>
                        </a:solidFill>
                        <a:sym typeface="Arial"/>
                      </a:endParaRP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3/14/24</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Eric</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Where did Rock come from?</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4/11/24</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chemeClr val="tx2">
                              <a:lumMod val="20000"/>
                              <a:lumOff val="80000"/>
                            </a:schemeClr>
                          </a:solidFill>
                          <a:effectLst/>
                          <a:latin typeface="Calibri" panose="020F0502020204030204" pitchFamily="34" charset="0"/>
                        </a:rPr>
                        <a:t>***No musicology conducted - Changing of the arms</a:t>
                      </a:r>
                    </a:p>
                  </a:txBody>
                  <a:tcPr marL="9525" marR="9525" marT="9525" marB="0" anchor="b"/>
                </a:tc>
                <a:extLst>
                  <a:ext uri="{0D108BD9-81ED-4DB2-BD59-A6C34878D82A}">
                    <a16:rowId xmlns:a16="http://schemas.microsoft.com/office/drawing/2014/main" val="10002"/>
                  </a:ext>
                </a:extLst>
              </a:tr>
              <a:tr h="481423">
                <a:tc>
                  <a:txBody>
                    <a:bodyPr/>
                    <a:lstStyle/>
                    <a:p>
                      <a:pPr algn="ctr" fontAlgn="b"/>
                      <a:r>
                        <a:rPr lang="en-US" sz="1600" b="1" i="0" u="none" strike="noStrike">
                          <a:solidFill>
                            <a:schemeClr val="tx2">
                              <a:lumMod val="20000"/>
                              <a:lumOff val="80000"/>
                            </a:schemeClr>
                          </a:solidFill>
                          <a:effectLst/>
                          <a:latin typeface="Calibri" panose="020F0502020204030204" pitchFamily="34" charset="0"/>
                        </a:rPr>
                        <a:t>5/9/24</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1994 – The Pinnacle of Alternative Rock?</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9/12/24</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Lucas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The Krautrock Influence on music in the 1970s and beyond</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10/10/24</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Frontman</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11/21/24</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Joe</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a:solidFill>
                            <a:schemeClr val="tx2">
                              <a:lumMod val="20000"/>
                              <a:lumOff val="80000"/>
                            </a:schemeClr>
                          </a:solidFill>
                          <a:effectLst/>
                          <a:latin typeface="Calibri" panose="020F0502020204030204" pitchFamily="34" charset="0"/>
                        </a:rPr>
                        <a:t>Quincy Jones</a:t>
                      </a:r>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1/9/25</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John</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Top 5 analysis</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481423">
                <a:tc>
                  <a:txBody>
                    <a:bodyPr/>
                    <a:lstStyle/>
                    <a:p>
                      <a:pPr algn="ctr" fontAlgn="b"/>
                      <a:r>
                        <a:rPr lang="en-US" sz="1600" b="1" i="0" u="none" strike="noStrike" dirty="0">
                          <a:solidFill>
                            <a:schemeClr val="tx2">
                              <a:lumMod val="20000"/>
                              <a:lumOff val="80000"/>
                            </a:schemeClr>
                          </a:solidFill>
                          <a:effectLst/>
                          <a:latin typeface="Calibri" panose="020F0502020204030204" pitchFamily="34" charset="0"/>
                        </a:rPr>
                        <a:t>3/13/25</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Adam</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Chris</a:t>
                      </a:r>
                    </a:p>
                  </a:txBody>
                  <a:tcPr marL="9525" marR="9525" marT="9525" marB="0" anchor="b"/>
                </a:tc>
                <a:tc>
                  <a:txBody>
                    <a:bodyPr/>
                    <a:lstStyle/>
                    <a:p>
                      <a:pPr algn="l" fontAlgn="b"/>
                      <a:r>
                        <a:rPr lang="en-US" sz="1600" b="1" i="0" u="none" strike="noStrike" dirty="0">
                          <a:solidFill>
                            <a:schemeClr val="tx2">
                              <a:lumMod val="20000"/>
                              <a:lumOff val="80000"/>
                            </a:schemeClr>
                          </a:solidFill>
                          <a:effectLst/>
                          <a:latin typeface="Calibri" panose="020F0502020204030204" pitchFamily="34" charset="0"/>
                        </a:rPr>
                        <a:t>David Bowie’s Berlin Trilogy</a:t>
                      </a: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78681">
                <a:tc>
                  <a:txBody>
                    <a:bodyPr/>
                    <a:lstStyle/>
                    <a:p>
                      <a:pPr algn="ctr"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78681">
                <a:tc>
                  <a:txBody>
                    <a:bodyPr/>
                    <a:lstStyle/>
                    <a:p>
                      <a:pPr algn="ctr"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tc>
                  <a:txBody>
                    <a:bodyPr/>
                    <a:lstStyle/>
                    <a:p>
                      <a:pPr algn="l" fontAlgn="b"/>
                      <a:endParaRPr lang="en-US" sz="1600" b="1" i="0" u="none" strike="noStrike" dirty="0">
                        <a:solidFill>
                          <a:schemeClr val="tx2">
                            <a:lumMod val="20000"/>
                            <a:lumOff val="80000"/>
                          </a:schemeClr>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04487909"/>
      </p:ext>
    </p:extLst>
  </p:cSld>
  <p:clrMapOvr>
    <a:masterClrMapping/>
  </p:clrMapOvr>
  <p:transition spd="med"/>
</p:sld>
</file>

<file path=ppt/theme/theme1.xml><?xml version="1.0" encoding="utf-8"?>
<a:theme xmlns:a="http://schemas.openxmlformats.org/drawingml/2006/main" name="Vapor Trail">
  <a:themeElements>
    <a:clrScheme name="Vapor Trail">
      <a:dk1>
        <a:srgbClr val="000000"/>
      </a:dk1>
      <a:lt1>
        <a:srgbClr val="000000"/>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Arial"/>
        <a:ea typeface="Arial"/>
        <a:cs typeface="Arial"/>
      </a:majorFont>
      <a:minorFont>
        <a:latin typeface="Helvetica"/>
        <a:ea typeface="Helvetica"/>
        <a:cs typeface="Helvetica"/>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Vapor Trail">
  <a:themeElements>
    <a:clrScheme name="Vapor Trail">
      <a:dk1>
        <a:srgbClr val="000000"/>
      </a:dk1>
      <a:lt1>
        <a:srgbClr val="FFFFFF"/>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Arial"/>
        <a:ea typeface="Arial"/>
        <a:cs typeface="Arial"/>
      </a:majorFont>
      <a:minorFont>
        <a:latin typeface="Helvetica"/>
        <a:ea typeface="Helvetica"/>
        <a:cs typeface="Helvetica"/>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4007</TotalTime>
  <Words>4148</Words>
  <Application>Microsoft Office PowerPoint</Application>
  <PresentationFormat>Widescreen</PresentationFormat>
  <Paragraphs>827</Paragraphs>
  <Slides>50</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Century Gothic</vt:lpstr>
      <vt:lpstr>Courier New</vt:lpstr>
      <vt:lpstr>Slack-Lato</vt:lpstr>
      <vt:lpstr>Vapor Trail</vt:lpstr>
      <vt:lpstr>EXECUTIVE COUNCIL MEETING</vt:lpstr>
      <vt:lpstr>AGENDA</vt:lpstr>
      <vt:lpstr>CALL TO ORDER</vt:lpstr>
      <vt:lpstr>COCKTAIL PRESENTATION</vt:lpstr>
      <vt:lpstr>COCKTAIL PRESENTATION</vt:lpstr>
      <vt:lpstr>WARM-UP ALBUM ONE</vt:lpstr>
      <vt:lpstr>PowerPoint Presentation</vt:lpstr>
      <vt:lpstr>PowerPoint Presentation</vt:lpstr>
      <vt:lpstr>OLD BUSINESS: REVIEW &amp; APPROVAL OF THE MINUTES</vt:lpstr>
      <vt:lpstr>OLD BUSINESS: REVIEW &amp; APPROVAL OF THE MINUTES</vt:lpstr>
      <vt:lpstr>OLD BUSINESS: REVIEW &amp; APPROVAL OF THE MINUTES</vt:lpstr>
      <vt:lpstr>OLD BUSINESS: REVIEW &amp; APPROVAL OF THE MINUTES</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ALBUM TWO</vt:lpstr>
      <vt:lpstr>ALBUM TWO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HEADLINER</vt:lpstr>
      <vt:lpstr>HEADLINER</vt:lpstr>
      <vt:lpstr>ROTATION</vt:lpstr>
      <vt:lpstr>WRAP UP</vt:lpstr>
      <vt:lpstr>APPENDICES</vt:lpstr>
      <vt:lpstr>HISTORY</vt:lpstr>
      <vt:lpstr>HISTORY</vt:lpstr>
      <vt:lpstr>HISTORY</vt:lpstr>
      <vt:lpstr>HISTORY</vt:lpstr>
      <vt:lpstr>HISTORY</vt:lpstr>
      <vt:lpstr>HISTORY</vt:lpstr>
      <vt:lpstr>HISTORY</vt:lpstr>
      <vt:lpstr>MUSICOLOGY HISTORY</vt:lpstr>
      <vt:lpstr>MUSICOLOGY HISTORY</vt:lpstr>
      <vt:lpstr>MUSICOLOGY HISTORY</vt:lpstr>
      <vt:lpstr>MUSICOLOGY HISTORY</vt:lpstr>
      <vt:lpstr>MUSICOLOGY HISTORY</vt:lpstr>
      <vt:lpstr>MUSICOLOGY HISTORY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Lucas Womack</cp:lastModifiedBy>
  <cp:revision>7</cp:revision>
  <dcterms:modified xsi:type="dcterms:W3CDTF">2025-05-22T18:33:15Z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2025-03-13T22:00:00Z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7d4fcd04-d2e7-4af0-bef1-4cbdef9abc8e</vt:lpwstr>
  </property>
  <property fmtid="{D5CDD505-2E9C-101B-9397-08002B2CF9AE}" pid="7" name="MSIP_Label_defa4170-0d19-0005-0004-bc88714345d2_ActionId">
    <vt:lpwstr>771a9c4c-b493-4781-a74e-e5f0ffa23e90</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