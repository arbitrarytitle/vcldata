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301" r:id="rId18"/>
    <p:sldId id="302" r:id="rId19"/>
    <p:sldId id="303" r:id="rId20"/>
    <p:sldId id="304" r:id="rId21"/>
    <p:sldId id="305" r:id="rId22"/>
    <p:sldId id="306" r:id="rId23"/>
    <p:sldId id="307" r:id="rId24"/>
    <p:sldId id="308" r:id="rId25"/>
    <p:sldId id="30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9525" cap="flat">
              <a:solidFill>
                <a:schemeClr val="accent1"/>
              </a:solidFill>
              <a:prstDash val="solid"/>
              <a:round/>
            </a:ln>
          </a:left>
          <a:right>
            <a:ln w="9525" cap="flat">
              <a:solidFill>
                <a:schemeClr val="accent1"/>
              </a:solidFill>
              <a:prstDash val="solid"/>
              <a:round/>
            </a:ln>
          </a:right>
          <a:top>
            <a:ln w="9525" cap="flat">
              <a:solidFill>
                <a:schemeClr val="accent1"/>
              </a:solidFill>
              <a:prstDash val="solid"/>
              <a:round/>
            </a:ln>
          </a:top>
          <a:bottom>
            <a:ln w="9525" cap="flat">
              <a:solidFill>
                <a:schemeClr val="accent1"/>
              </a:solidFill>
              <a:prstDash val="solid"/>
              <a:round/>
            </a:ln>
          </a:bottom>
          <a:insideH>
            <a:ln w="9525" cap="flat">
              <a:solidFill>
                <a:schemeClr val="accent1"/>
              </a:solidFill>
              <a:prstDash val="solid"/>
              <a:round/>
            </a:ln>
          </a:insideH>
          <a:insideV>
            <a:ln w="9525" cap="flat">
              <a:solidFill>
                <a:schemeClr val="accent1"/>
              </a:solidFill>
              <a:prstDash val="solid"/>
              <a:round/>
            </a:ln>
          </a:insideV>
        </a:tcBdr>
        <a:fill>
          <a:solidFill>
            <a:schemeClr val="accent1">
              <a:alpha val="40000"/>
            </a:schemeClr>
          </a:solidFill>
        </a:fill>
      </a:tcStyle>
    </a:wholeTbl>
    <a:band2H>
      <a:tcTxStyle/>
      <a:tcStyle>
        <a:tcBdr/>
        <a:fill>
          <a:solidFill>
            <a:srgbClr val="FFFFFF">
              <a:alpha val="0"/>
            </a:srgbClr>
          </a:solidFill>
        </a:fill>
      </a:tcStyle>
    </a:band2H>
    <a:firstCol>
      <a:tcTxStyle b="on" i="off">
        <a:fontRef idx="minor">
          <a:srgbClr val="000000"/>
        </a:fontRef>
        <a:srgbClr val="000000"/>
      </a:tcTxStyle>
      <a:tcStyle>
        <a:tcBdr>
          <a:left>
            <a:ln w="9525" cap="flat">
              <a:solidFill>
                <a:schemeClr val="accent1"/>
              </a:solidFill>
              <a:prstDash val="solid"/>
              <a:round/>
            </a:ln>
          </a:left>
          <a:right>
            <a:ln w="9525" cap="flat">
              <a:solidFill>
                <a:schemeClr val="accent1"/>
              </a:solidFill>
              <a:prstDash val="solid"/>
              <a:round/>
            </a:ln>
          </a:right>
          <a:top>
            <a:ln w="9525" cap="flat">
              <a:solidFill>
                <a:schemeClr val="accent1"/>
              </a:solidFill>
              <a:prstDash val="solid"/>
              <a:round/>
            </a:ln>
          </a:top>
          <a:bottom>
            <a:ln w="9525" cap="flat">
              <a:solidFill>
                <a:schemeClr val="accent1"/>
              </a:solidFill>
              <a:prstDash val="solid"/>
              <a:round/>
            </a:ln>
          </a:bottom>
          <a:insideH>
            <a:ln w="9525" cap="flat">
              <a:solidFill>
                <a:schemeClr val="accent1"/>
              </a:solidFill>
              <a:prstDash val="solid"/>
              <a:round/>
            </a:ln>
          </a:insideH>
          <a:insideV>
            <a:ln w="9525" cap="flat">
              <a:solidFill>
                <a:schemeClr val="accent1"/>
              </a:solidFill>
              <a:prstDash val="solid"/>
              <a:round/>
            </a:ln>
          </a:insideV>
        </a:tcBdr>
        <a:fill>
          <a:solidFill>
            <a:schemeClr val="accent1">
              <a:alpha val="40000"/>
            </a:schemeClr>
          </a:solidFill>
        </a:fill>
      </a:tcStyle>
    </a:firstCol>
    <a:lastRow>
      <a:tcTxStyle b="on"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chemeClr val="accent1"/>
              </a:solidFill>
              <a:prstDash val="solid"/>
              <a:round/>
            </a:ln>
          </a:top>
          <a:bottom>
            <a:ln w="9525" cap="flat">
              <a:solidFill>
                <a:schemeClr val="accent1"/>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n" i="off">
        <a:fontRef idx="minor">
          <a:srgbClr val="FFFFFF"/>
        </a:fontRef>
        <a:srgbClr val="FFFFFF"/>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chemeClr val="accent1"/>
              </a:solidFill>
              <a:prstDash val="solid"/>
              <a:round/>
            </a:ln>
          </a:top>
          <a:bottom>
            <a:ln w="9525" cap="flat">
              <a:solidFill>
                <a:srgbClr val="FFFFFF"/>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3CCCB"/>
          </a:solidFill>
        </a:fill>
      </a:tcStyle>
    </a:wholeTbl>
    <a:band2H>
      <a:tcTxStyle/>
      <a:tcStyle>
        <a:tcBdr/>
        <a:fill>
          <a:solidFill>
            <a:srgbClr val="F9E7E7"/>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6E8CC"/>
          </a:solidFill>
        </a:fill>
      </a:tcStyle>
    </a:wholeTbl>
    <a:band2H>
      <a:tcTxStyle/>
      <a:tcStyle>
        <a:tcBdr/>
        <a:fill>
          <a:solidFill>
            <a:srgbClr val="FBF4E7"/>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EDEF2"/>
          </a:solidFill>
        </a:fill>
      </a:tcStyle>
    </a:wholeTbl>
    <a:band2H>
      <a:tcTxStyle/>
      <a:tcStyle>
        <a:tcBdr/>
        <a:fill>
          <a:solidFill>
            <a:srgbClr val="E8EFF8"/>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000000"/>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p:restoredTop sz="94628"/>
  </p:normalViewPr>
  <p:slideViewPr>
    <p:cSldViewPr snapToGrid="0">
      <p:cViewPr varScale="1">
        <p:scale>
          <a:sx n="185" d="100"/>
          <a:sy n="185" d="100"/>
        </p:scale>
        <p:origin x="200" y="5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4" name="Shape 184"/>
          <p:cNvSpPr>
            <a:spLocks noGrp="1" noRot="1" noChangeAspect="1"/>
          </p:cNvSpPr>
          <p:nvPr>
            <p:ph type="sldImg"/>
          </p:nvPr>
        </p:nvSpPr>
        <p:spPr>
          <a:xfrm>
            <a:off x="1143000" y="685800"/>
            <a:ext cx="4572000" cy="3429000"/>
          </a:xfrm>
          <a:prstGeom prst="rect">
            <a:avLst/>
          </a:prstGeom>
        </p:spPr>
        <p:txBody>
          <a:bodyPr/>
          <a:lstStyle/>
          <a:p>
            <a:endParaRPr/>
          </a:p>
        </p:txBody>
      </p:sp>
      <p:sp>
        <p:nvSpPr>
          <p:cNvPr id="185" name="Shape 18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88541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12" name="Google Shape;12;p32" descr="Google Shape;12;p32"/>
          <p:cNvPicPr>
            <a:picLocks noChangeAspect="1"/>
          </p:cNvPicPr>
          <p:nvPr/>
        </p:nvPicPr>
        <p:blipFill>
          <a:blip r:embed="rId2"/>
          <a:srcRect t="7834" b="7831"/>
          <a:stretch>
            <a:fillRect/>
          </a:stretch>
        </p:blipFill>
        <p:spPr>
          <a:xfrm>
            <a:off x="12761" y="0"/>
            <a:ext cx="12154202" cy="6858001"/>
          </a:xfrm>
          <a:prstGeom prst="rect">
            <a:avLst/>
          </a:prstGeom>
          <a:ln w="12700">
            <a:miter lim="400000"/>
          </a:ln>
        </p:spPr>
      </p:pic>
      <p:sp>
        <p:nvSpPr>
          <p:cNvPr id="13" name="Title Text"/>
          <p:cNvSpPr txBox="1">
            <a:spLocks noGrp="1"/>
          </p:cNvSpPr>
          <p:nvPr>
            <p:ph type="title"/>
          </p:nvPr>
        </p:nvSpPr>
        <p:spPr>
          <a:xfrm>
            <a:off x="1371600" y="1803405"/>
            <a:ext cx="9448800" cy="1825097"/>
          </a:xfrm>
          <a:prstGeom prst="rect">
            <a:avLst/>
          </a:prstGeom>
        </p:spPr>
        <p:txBody>
          <a:bodyPr anchor="b"/>
          <a:lstStyle>
            <a:lvl1pPr algn="l">
              <a:defRPr sz="6000"/>
            </a:lvl1pPr>
          </a:lstStyle>
          <a:p>
            <a:r>
              <a:t>Title Text</a:t>
            </a:r>
          </a:p>
        </p:txBody>
      </p:sp>
      <p:sp>
        <p:nvSpPr>
          <p:cNvPr id="14" name="Body Level One…"/>
          <p:cNvSpPr txBox="1">
            <a:spLocks noGrp="1"/>
          </p:cNvSpPr>
          <p:nvPr>
            <p:ph type="body" sz="quarter" idx="1"/>
          </p:nvPr>
        </p:nvSpPr>
        <p:spPr>
          <a:xfrm>
            <a:off x="1371600" y="3632201"/>
            <a:ext cx="9448800" cy="685802"/>
          </a:xfrm>
          <a:prstGeom prst="rect">
            <a:avLst/>
          </a:prstGeom>
        </p:spPr>
        <p:txBody>
          <a:bodyPr/>
          <a:lstStyle>
            <a:lvl1pPr marL="279400" indent="-190500">
              <a:buClrTx/>
              <a:buSzTx/>
              <a:buFontTx/>
              <a:buNone/>
              <a:defRPr sz="2000"/>
            </a:lvl1pPr>
            <a:lvl2pPr marL="279400" indent="88900">
              <a:buClrTx/>
              <a:buSzTx/>
              <a:buFontTx/>
              <a:buNone/>
              <a:defRPr sz="2000"/>
            </a:lvl2pPr>
            <a:lvl3pPr marL="279400" indent="88900">
              <a:buClrTx/>
              <a:buSzTx/>
              <a:buFontTx/>
              <a:buNone/>
              <a:defRPr sz="2000"/>
            </a:lvl3pPr>
            <a:lvl4pPr marL="279400" indent="88900">
              <a:buClrTx/>
              <a:buSzTx/>
              <a:buFontTx/>
              <a:buNone/>
              <a:defRPr sz="2000"/>
            </a:lvl4pPr>
            <a:lvl5pPr marL="279400" indent="88900">
              <a:buClrTx/>
              <a:buSzTx/>
              <a:buFontTx/>
              <a:buNone/>
              <a:defRPr sz="2000"/>
            </a:lvl5pPr>
          </a:lstStyle>
          <a:p>
            <a:r>
              <a:t>Body Level One</a:t>
            </a:r>
          </a:p>
          <a:p>
            <a:pPr lvl="1"/>
            <a:r>
              <a:t>Body Level Two</a:t>
            </a:r>
          </a:p>
          <a:p>
            <a:pPr lvl="2"/>
            <a:r>
              <a:t>Body Level Three</a:t>
            </a:r>
          </a:p>
          <a:p>
            <a:pPr lvl="3"/>
            <a:r>
              <a:t>Body Level Four</a:t>
            </a:r>
          </a:p>
          <a:p>
            <a:pPr lvl="4"/>
            <a:r>
              <a:t>Body Level Five</a:t>
            </a:r>
          </a:p>
        </p:txBody>
      </p:sp>
      <p:pic>
        <p:nvPicPr>
          <p:cNvPr id="15" name="Google Shape;18;p32" descr="Google Shape;18;p32"/>
          <p:cNvPicPr>
            <a:picLocks noChangeAspect="1"/>
          </p:cNvPicPr>
          <p:nvPr/>
        </p:nvPicPr>
        <p:blipFill>
          <a:blip r:embed="rId3"/>
          <a:stretch>
            <a:fillRect/>
          </a:stretch>
        </p:blipFill>
        <p:spPr>
          <a:xfrm>
            <a:off x="600513" y="192977"/>
            <a:ext cx="1542174" cy="1237889"/>
          </a:xfrm>
          <a:prstGeom prst="rect">
            <a:avLst/>
          </a:prstGeom>
          <a:ln w="12700">
            <a:miter lim="400000"/>
          </a:ln>
        </p:spPr>
      </p:pic>
      <p:sp>
        <p:nvSpPr>
          <p:cNvPr id="16" name="Slide Number"/>
          <p:cNvSpPr txBox="1">
            <a:spLocks noGrp="1"/>
          </p:cNvSpPr>
          <p:nvPr>
            <p:ph type="sldNum" sz="quarter" idx="2"/>
          </p:nvPr>
        </p:nvSpPr>
        <p:spPr>
          <a:xfrm>
            <a:off x="10575536" y="1491529"/>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3"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24" name="Body Level One…"/>
          <p:cNvSpPr txBox="1">
            <a:spLocks noGrp="1"/>
          </p:cNvSpPr>
          <p:nvPr>
            <p:ph type="body" idx="1"/>
          </p:nvPr>
        </p:nvSpPr>
        <p:spPr>
          <a:xfrm>
            <a:off x="685800" y="2194560"/>
            <a:ext cx="10820400" cy="4024125"/>
          </a:xfrm>
          <a:prstGeom prst="rect">
            <a:avLst/>
          </a:prstGeom>
        </p:spPr>
        <p:txBody>
          <a:bodyPr/>
          <a:lstStyle>
            <a:lvl1pPr indent="-342900"/>
            <a:lvl2pPr marL="948688" indent="-377188"/>
            <a:lvl4pPr marL="1957386" indent="-471487"/>
            <a:lvl5pPr marL="2414586" indent="-471486"/>
          </a:lstStyle>
          <a:p>
            <a:r>
              <a:t>Body Level One</a:t>
            </a:r>
          </a:p>
          <a:p>
            <a:pPr lvl="1"/>
            <a:r>
              <a:t>Body Level Two</a:t>
            </a:r>
          </a:p>
          <a:p>
            <a:pPr lvl="2"/>
            <a:r>
              <a:t>Body Level Three</a:t>
            </a:r>
          </a:p>
          <a:p>
            <a:pPr lvl="3"/>
            <a:r>
              <a:t>Body Level Four</a:t>
            </a:r>
          </a:p>
          <a:p>
            <a:pPr lvl="4"/>
            <a:r>
              <a:t>Body Level Five</a:t>
            </a:r>
          </a:p>
        </p:txBody>
      </p:sp>
      <p:sp>
        <p:nvSpPr>
          <p:cNvPr id="25"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32" name="Title Text"/>
          <p:cNvSpPr txBox="1">
            <a:spLocks noGrp="1"/>
          </p:cNvSpPr>
          <p:nvPr>
            <p:ph type="title"/>
          </p:nvPr>
        </p:nvSpPr>
        <p:spPr>
          <a:xfrm>
            <a:off x="685800" y="1524000"/>
            <a:ext cx="6873241" cy="1600200"/>
          </a:xfrm>
          <a:prstGeom prst="rect">
            <a:avLst/>
          </a:prstGeom>
        </p:spPr>
        <p:txBody>
          <a:bodyPr anchor="b"/>
          <a:lstStyle>
            <a:lvl1pPr algn="l">
              <a:defRPr sz="3200"/>
            </a:lvl1pPr>
          </a:lstStyle>
          <a:p>
            <a:r>
              <a:t>Title Text</a:t>
            </a:r>
          </a:p>
        </p:txBody>
      </p:sp>
      <p:sp>
        <p:nvSpPr>
          <p:cNvPr id="33" name="Google Shape;28;p35"/>
          <p:cNvSpPr>
            <a:spLocks noGrp="1"/>
          </p:cNvSpPr>
          <p:nvPr>
            <p:ph type="pic" sz="half" idx="21"/>
          </p:nvPr>
        </p:nvSpPr>
        <p:spPr>
          <a:xfrm>
            <a:off x="7861237" y="751241"/>
            <a:ext cx="3644964" cy="5467445"/>
          </a:xfrm>
          <a:prstGeom prst="rect">
            <a:avLst/>
          </a:prstGeom>
        </p:spPr>
        <p:txBody>
          <a:bodyPr lIns="91439" tIns="45719" rIns="91439" bIns="45719">
            <a:noAutofit/>
          </a:bodyPr>
          <a:lstStyle/>
          <a:p>
            <a:endParaRPr/>
          </a:p>
        </p:txBody>
      </p:sp>
      <p:sp>
        <p:nvSpPr>
          <p:cNvPr id="34" name="Body Level One…"/>
          <p:cNvSpPr txBox="1">
            <a:spLocks noGrp="1"/>
          </p:cNvSpPr>
          <p:nvPr>
            <p:ph type="body" sz="half" idx="1"/>
          </p:nvPr>
        </p:nvSpPr>
        <p:spPr>
          <a:xfrm>
            <a:off x="685800" y="3124199"/>
            <a:ext cx="6873241" cy="3094485"/>
          </a:xfrm>
          <a:prstGeom prst="rect">
            <a:avLst/>
          </a:prstGeom>
        </p:spPr>
        <p:txBody>
          <a:bodyPr/>
          <a:lstStyle>
            <a:lvl1pPr marL="0" indent="228600">
              <a:buClrTx/>
              <a:buSzTx/>
              <a:buFontTx/>
              <a:buNone/>
              <a:defRPr sz="1600"/>
            </a:lvl1pPr>
            <a:lvl2pPr marL="0" indent="228600">
              <a:buClrTx/>
              <a:buSzTx/>
              <a:buFontTx/>
              <a:buNone/>
              <a:defRPr sz="1600"/>
            </a:lvl2pPr>
            <a:lvl3pPr marL="0" indent="228600">
              <a:buClrTx/>
              <a:buSzTx/>
              <a:buFontTx/>
              <a:buNone/>
              <a:defRPr sz="1600"/>
            </a:lvl3pPr>
            <a:lvl4pPr marL="0" indent="228600">
              <a:buClrTx/>
              <a:buSzTx/>
              <a:buFontTx/>
              <a:buNone/>
              <a:defRPr sz="1600"/>
            </a:lvl4pPr>
            <a:lvl5pPr marL="0" indent="2286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5"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pic>
        <p:nvPicPr>
          <p:cNvPr id="42" name="Google Shape;60;p39" descr="Google Shape;60;p39"/>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43"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44" name="Body Level One…"/>
          <p:cNvSpPr txBox="1">
            <a:spLocks noGrp="1"/>
          </p:cNvSpPr>
          <p:nvPr>
            <p:ph type="body" sz="half" idx="1"/>
          </p:nvPr>
        </p:nvSpPr>
        <p:spPr>
          <a:xfrm>
            <a:off x="685800" y="2194559"/>
            <a:ext cx="5334000" cy="4024125"/>
          </a:xfrm>
          <a:prstGeom prst="rect">
            <a:avLst/>
          </a:prstGeom>
        </p:spPr>
        <p:txBody>
          <a:bodyPr/>
          <a:lstStyle>
            <a:lvl1pPr indent="-342900"/>
            <a:lvl2pPr marL="948688" indent="-377188"/>
            <a:lvl4pPr marL="1957386" indent="-471487"/>
            <a:lvl5pPr marL="2414586" indent="-471486"/>
          </a:lstStyle>
          <a:p>
            <a:r>
              <a:t>Body Level One</a:t>
            </a:r>
          </a:p>
          <a:p>
            <a:pPr lvl="1"/>
            <a:r>
              <a:t>Body Level Two</a:t>
            </a:r>
          </a:p>
          <a:p>
            <a:pPr lvl="2"/>
            <a:r>
              <a:t>Body Level Three</a:t>
            </a:r>
          </a:p>
          <a:p>
            <a:pPr lvl="3"/>
            <a:r>
              <a:t>Body Level Four</a:t>
            </a:r>
          </a:p>
          <a:p>
            <a:pPr lvl="4"/>
            <a:r>
              <a:t>Body Level Five</a:t>
            </a:r>
          </a:p>
        </p:txBody>
      </p:sp>
      <p:sp>
        <p:nvSpPr>
          <p:cNvPr id="45" name="Google Shape;37;p34"/>
          <p:cNvSpPr txBox="1">
            <a:spLocks noGrp="1"/>
          </p:cNvSpPr>
          <p:nvPr>
            <p:ph type="body" sz="half" idx="21"/>
          </p:nvPr>
        </p:nvSpPr>
        <p:spPr>
          <a:xfrm>
            <a:off x="6172200" y="2194559"/>
            <a:ext cx="5334000" cy="4024126"/>
          </a:xfrm>
          <a:prstGeom prst="rect">
            <a:avLst/>
          </a:prstGeom>
        </p:spPr>
        <p:txBody>
          <a:bodyPr/>
          <a:lstStyle/>
          <a:p>
            <a:endParaRPr/>
          </a:p>
        </p:txBody>
      </p:sp>
      <p:sp>
        <p:nvSpPr>
          <p:cNvPr id="46"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_AND_BODY">
    <p:spTree>
      <p:nvGrpSpPr>
        <p:cNvPr id="1" name=""/>
        <p:cNvGrpSpPr/>
        <p:nvPr/>
      </p:nvGrpSpPr>
      <p:grpSpPr>
        <a:xfrm>
          <a:off x="0" y="0"/>
          <a:ext cx="0" cy="0"/>
          <a:chOff x="0" y="0"/>
          <a:chExt cx="0" cy="0"/>
        </a:xfrm>
      </p:grpSpPr>
      <p:sp>
        <p:nvSpPr>
          <p:cNvPr id="53" name="Title Text"/>
          <p:cNvSpPr txBox="1">
            <a:spLocks noGrp="1"/>
          </p:cNvSpPr>
          <p:nvPr>
            <p:ph type="title"/>
          </p:nvPr>
        </p:nvSpPr>
        <p:spPr>
          <a:xfrm>
            <a:off x="822434" y="2109366"/>
            <a:ext cx="10820401" cy="2801937"/>
          </a:xfrm>
          <a:prstGeom prst="rect">
            <a:avLst/>
          </a:prstGeom>
        </p:spPr>
        <p:txBody>
          <a:bodyPr anchor="b"/>
          <a:lstStyle/>
          <a:p>
            <a:r>
              <a:t>Title Text</a:t>
            </a:r>
          </a:p>
        </p:txBody>
      </p:sp>
      <p:sp>
        <p:nvSpPr>
          <p:cNvPr id="54" name="Body Level One…"/>
          <p:cNvSpPr txBox="1">
            <a:spLocks noGrp="1"/>
          </p:cNvSpPr>
          <p:nvPr>
            <p:ph type="body" sz="quarter" idx="1"/>
          </p:nvPr>
        </p:nvSpPr>
        <p:spPr>
          <a:xfrm>
            <a:off x="1161101" y="4997560"/>
            <a:ext cx="10490201" cy="955678"/>
          </a:xfrm>
          <a:prstGeom prst="rect">
            <a:avLst/>
          </a:prstGeom>
        </p:spPr>
        <p:txBody>
          <a:bodyPr/>
          <a:lstStyle>
            <a:lvl1pPr marL="0" indent="228600" algn="r">
              <a:buClrTx/>
              <a:buSzTx/>
              <a:buFontTx/>
              <a:buNone/>
            </a:lvl1pPr>
            <a:lvl2pPr marL="0" indent="228600" algn="r">
              <a:buClrTx/>
              <a:buSzTx/>
              <a:buFontTx/>
              <a:buNone/>
            </a:lvl2pPr>
            <a:lvl3pPr marL="0" indent="228600" algn="r">
              <a:buClrTx/>
              <a:buSzTx/>
              <a:buFontTx/>
              <a:buNone/>
            </a:lvl3pPr>
            <a:lvl4pPr marL="0" indent="228600" algn="r">
              <a:buClrTx/>
              <a:buSzTx/>
              <a:buFontTx/>
              <a:buNone/>
            </a:lvl4pPr>
            <a:lvl5pPr marL="0" indent="228600" algn="r">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55" name="Slide Number"/>
          <p:cNvSpPr txBox="1">
            <a:spLocks noGrp="1"/>
          </p:cNvSpPr>
          <p:nvPr>
            <p:ph type="sldNum" sz="quarter" idx="2"/>
          </p:nvPr>
        </p:nvSpPr>
        <p:spPr>
          <a:xfrm>
            <a:off x="11397971" y="1797498"/>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pic>
        <p:nvPicPr>
          <p:cNvPr id="62" name="Google Shape;60;p39" descr="Google Shape;60;p39"/>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63" name="Title Text"/>
          <p:cNvSpPr txBox="1">
            <a:spLocks noGrp="1"/>
          </p:cNvSpPr>
          <p:nvPr>
            <p:ph type="title"/>
          </p:nvPr>
        </p:nvSpPr>
        <p:spPr>
          <a:xfrm>
            <a:off x="2895600" y="762000"/>
            <a:ext cx="8610600" cy="1295400"/>
          </a:xfrm>
          <a:prstGeom prst="rect">
            <a:avLst/>
          </a:prstGeom>
        </p:spPr>
        <p:txBody>
          <a:bodyPr/>
          <a:lstStyle/>
          <a:p>
            <a:r>
              <a:t>Title Text</a:t>
            </a:r>
          </a:p>
        </p:txBody>
      </p:sp>
      <p:sp>
        <p:nvSpPr>
          <p:cNvPr id="64" name="Body Level One…"/>
          <p:cNvSpPr txBox="1">
            <a:spLocks noGrp="1"/>
          </p:cNvSpPr>
          <p:nvPr>
            <p:ph type="body" sz="quarter" idx="1"/>
          </p:nvPr>
        </p:nvSpPr>
        <p:spPr>
          <a:xfrm>
            <a:off x="914409" y="2183801"/>
            <a:ext cx="5079992" cy="823913"/>
          </a:xfrm>
          <a:prstGeom prst="rect">
            <a:avLst/>
          </a:prstGeom>
        </p:spPr>
        <p:txBody>
          <a:bodyPr anchor="b"/>
          <a:lstStyle>
            <a:lvl1pPr marL="0" indent="228600">
              <a:buClrTx/>
              <a:buSzTx/>
              <a:buFontTx/>
              <a:buNone/>
              <a:defRPr sz="2800"/>
            </a:lvl1pPr>
            <a:lvl2pPr marL="0" indent="228600">
              <a:buClrTx/>
              <a:buSzTx/>
              <a:buFontTx/>
              <a:buNone/>
              <a:defRPr sz="2800"/>
            </a:lvl2pPr>
            <a:lvl3pPr marL="0" indent="228600">
              <a:buClrTx/>
              <a:buSzTx/>
              <a:buFontTx/>
              <a:buNone/>
              <a:defRPr sz="2800"/>
            </a:lvl3pPr>
            <a:lvl4pPr marL="0" indent="228600">
              <a:buClrTx/>
              <a:buSzTx/>
              <a:buFontTx/>
              <a:buNone/>
              <a:defRPr sz="2800"/>
            </a:lvl4pPr>
            <a:lvl5pPr marL="0" indent="228600">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65" name="Google Shape;49;p38"/>
          <p:cNvSpPr txBox="1">
            <a:spLocks noGrp="1"/>
          </p:cNvSpPr>
          <p:nvPr>
            <p:ph type="body" sz="quarter" idx="21"/>
          </p:nvPr>
        </p:nvSpPr>
        <p:spPr>
          <a:xfrm>
            <a:off x="685800" y="3132665"/>
            <a:ext cx="5311775" cy="3086020"/>
          </a:xfrm>
          <a:prstGeom prst="rect">
            <a:avLst/>
          </a:prstGeom>
        </p:spPr>
        <p:txBody>
          <a:bodyPr/>
          <a:lstStyle/>
          <a:p>
            <a:endParaRPr/>
          </a:p>
        </p:txBody>
      </p:sp>
      <p:sp>
        <p:nvSpPr>
          <p:cNvPr id="66" name="Google Shape;50;p38"/>
          <p:cNvSpPr txBox="1">
            <a:spLocks noGrp="1"/>
          </p:cNvSpPr>
          <p:nvPr>
            <p:ph type="body" sz="quarter" idx="22"/>
          </p:nvPr>
        </p:nvSpPr>
        <p:spPr>
          <a:xfrm>
            <a:off x="6400800" y="2183801"/>
            <a:ext cx="5105400" cy="823913"/>
          </a:xfrm>
          <a:prstGeom prst="rect">
            <a:avLst/>
          </a:prstGeom>
        </p:spPr>
        <p:txBody>
          <a:bodyPr anchor="b"/>
          <a:lstStyle/>
          <a:p>
            <a:endParaRPr/>
          </a:p>
        </p:txBody>
      </p:sp>
      <p:sp>
        <p:nvSpPr>
          <p:cNvPr id="67" name="Google Shape;51;p38"/>
          <p:cNvSpPr txBox="1">
            <a:spLocks noGrp="1"/>
          </p:cNvSpPr>
          <p:nvPr>
            <p:ph type="body" sz="quarter" idx="23"/>
          </p:nvPr>
        </p:nvSpPr>
        <p:spPr>
          <a:xfrm>
            <a:off x="6172200" y="3132665"/>
            <a:ext cx="5334000" cy="3086020"/>
          </a:xfrm>
          <a:prstGeom prst="rect">
            <a:avLst/>
          </a:prstGeom>
        </p:spPr>
        <p:txBody>
          <a:bodyPr/>
          <a:lstStyle/>
          <a:p>
            <a:endParaRPr/>
          </a:p>
        </p:txBody>
      </p:sp>
      <p:sp>
        <p:nvSpPr>
          <p:cNvPr id="68"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pic>
        <p:nvPicPr>
          <p:cNvPr id="75" name="Google Shape;60;p39" descr="Google Shape;60;p39"/>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76" name="Title Text"/>
          <p:cNvSpPr txBox="1">
            <a:spLocks noGrp="1"/>
          </p:cNvSpPr>
          <p:nvPr>
            <p:ph type="title"/>
          </p:nvPr>
        </p:nvSpPr>
        <p:spPr>
          <a:xfrm>
            <a:off x="685800" y="1524000"/>
            <a:ext cx="4114800" cy="1600200"/>
          </a:xfrm>
          <a:prstGeom prst="rect">
            <a:avLst/>
          </a:prstGeom>
        </p:spPr>
        <p:txBody>
          <a:bodyPr anchor="b"/>
          <a:lstStyle>
            <a:lvl1pPr algn="l">
              <a:defRPr sz="3200"/>
            </a:lvl1pPr>
          </a:lstStyle>
          <a:p>
            <a:r>
              <a:t>Title Text</a:t>
            </a:r>
          </a:p>
        </p:txBody>
      </p:sp>
      <p:sp>
        <p:nvSpPr>
          <p:cNvPr id="77" name="Body Level One…"/>
          <p:cNvSpPr txBox="1">
            <a:spLocks noGrp="1"/>
          </p:cNvSpPr>
          <p:nvPr>
            <p:ph type="body" idx="1"/>
          </p:nvPr>
        </p:nvSpPr>
        <p:spPr>
          <a:xfrm>
            <a:off x="4995581" y="746759"/>
            <a:ext cx="6510619" cy="5471925"/>
          </a:xfrm>
          <a:prstGeom prst="rect">
            <a:avLst/>
          </a:prstGeom>
        </p:spPr>
        <p:txBody>
          <a:bodyPr anchor="ctr"/>
          <a:lstStyle>
            <a:lvl1pPr indent="-342900"/>
            <a:lvl2pPr marL="948688" indent="-377188"/>
            <a:lvl4pPr marL="1957386" indent="-471487"/>
            <a:lvl5pPr marL="2414586" indent="-471486"/>
          </a:lstStyle>
          <a:p>
            <a:r>
              <a:t>Body Level One</a:t>
            </a:r>
          </a:p>
          <a:p>
            <a:pPr lvl="1"/>
            <a:r>
              <a:t>Body Level Two</a:t>
            </a:r>
          </a:p>
          <a:p>
            <a:pPr lvl="2"/>
            <a:r>
              <a:t>Body Level Three</a:t>
            </a:r>
          </a:p>
          <a:p>
            <a:pPr lvl="3"/>
            <a:r>
              <a:t>Body Level Four</a:t>
            </a:r>
          </a:p>
          <a:p>
            <a:pPr lvl="4"/>
            <a:r>
              <a:t>Body Level Five</a:t>
            </a:r>
          </a:p>
        </p:txBody>
      </p:sp>
      <p:sp>
        <p:nvSpPr>
          <p:cNvPr id="78" name="Google Shape;64;p40"/>
          <p:cNvSpPr txBox="1">
            <a:spLocks noGrp="1"/>
          </p:cNvSpPr>
          <p:nvPr>
            <p:ph type="body" sz="quarter" idx="21"/>
          </p:nvPr>
        </p:nvSpPr>
        <p:spPr>
          <a:xfrm>
            <a:off x="685800" y="3124199"/>
            <a:ext cx="4114800" cy="3094486"/>
          </a:xfrm>
          <a:prstGeom prst="rect">
            <a:avLst/>
          </a:prstGeom>
        </p:spPr>
        <p:txBody>
          <a:bodyPr/>
          <a:lstStyle/>
          <a:p>
            <a:endParaRPr/>
          </a:p>
        </p:txBody>
      </p:sp>
      <p:sp>
        <p:nvSpPr>
          <p:cNvPr id="79"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anoramic Picture with Caption">
    <p:spTree>
      <p:nvGrpSpPr>
        <p:cNvPr id="1" name=""/>
        <p:cNvGrpSpPr/>
        <p:nvPr/>
      </p:nvGrpSpPr>
      <p:grpSpPr>
        <a:xfrm>
          <a:off x="0" y="0"/>
          <a:ext cx="0" cy="0"/>
          <a:chOff x="0" y="0"/>
          <a:chExt cx="0" cy="0"/>
        </a:xfrm>
      </p:grpSpPr>
      <p:sp>
        <p:nvSpPr>
          <p:cNvPr id="86" name="Title Text"/>
          <p:cNvSpPr txBox="1">
            <a:spLocks noGrp="1"/>
          </p:cNvSpPr>
          <p:nvPr>
            <p:ph type="title"/>
          </p:nvPr>
        </p:nvSpPr>
        <p:spPr>
          <a:xfrm>
            <a:off x="685776" y="4697360"/>
            <a:ext cx="10822035" cy="819357"/>
          </a:xfrm>
          <a:prstGeom prst="rect">
            <a:avLst/>
          </a:prstGeom>
        </p:spPr>
        <p:txBody>
          <a:bodyPr anchor="b"/>
          <a:lstStyle>
            <a:lvl1pPr algn="l">
              <a:defRPr sz="3200"/>
            </a:lvl1pPr>
          </a:lstStyle>
          <a:p>
            <a:r>
              <a:t>Title Text</a:t>
            </a:r>
          </a:p>
        </p:txBody>
      </p:sp>
      <p:sp>
        <p:nvSpPr>
          <p:cNvPr id="87" name="Google Shape;71;p41"/>
          <p:cNvSpPr>
            <a:spLocks noGrp="1"/>
          </p:cNvSpPr>
          <p:nvPr>
            <p:ph type="pic" idx="21"/>
          </p:nvPr>
        </p:nvSpPr>
        <p:spPr>
          <a:xfrm>
            <a:off x="681726" y="941439"/>
            <a:ext cx="10821842" cy="3478161"/>
          </a:xfrm>
          <a:prstGeom prst="rect">
            <a:avLst/>
          </a:prstGeom>
        </p:spPr>
        <p:txBody>
          <a:bodyPr lIns="91439" tIns="45719" rIns="91439" bIns="45719">
            <a:noAutofit/>
          </a:bodyPr>
          <a:lstStyle/>
          <a:p>
            <a:endParaRPr/>
          </a:p>
        </p:txBody>
      </p:sp>
      <p:sp>
        <p:nvSpPr>
          <p:cNvPr id="88" name="Body Level One…"/>
          <p:cNvSpPr txBox="1">
            <a:spLocks noGrp="1"/>
          </p:cNvSpPr>
          <p:nvPr>
            <p:ph type="body" sz="quarter" idx="1"/>
          </p:nvPr>
        </p:nvSpPr>
        <p:spPr>
          <a:xfrm>
            <a:off x="685800" y="5516714"/>
            <a:ext cx="10820400" cy="701971"/>
          </a:xfrm>
          <a:prstGeom prst="rect">
            <a:avLst/>
          </a:prstGeom>
        </p:spPr>
        <p:txBody>
          <a:bodyPr/>
          <a:lstStyle>
            <a:lvl1pPr marL="0" indent="228600">
              <a:buClrTx/>
              <a:buSzTx/>
              <a:buFontTx/>
              <a:buNone/>
              <a:defRPr sz="1600"/>
            </a:lvl1pPr>
            <a:lvl2pPr marL="0" indent="228600">
              <a:buClrTx/>
              <a:buSzTx/>
              <a:buFontTx/>
              <a:buNone/>
              <a:defRPr sz="1600"/>
            </a:lvl2pPr>
            <a:lvl3pPr marL="0" indent="228600">
              <a:buClrTx/>
              <a:buSzTx/>
              <a:buFontTx/>
              <a:buNone/>
              <a:defRPr sz="1600"/>
            </a:lvl3pPr>
            <a:lvl4pPr marL="0" indent="228600">
              <a:buClrTx/>
              <a:buSzTx/>
              <a:buFontTx/>
              <a:buNone/>
              <a:defRPr sz="1600"/>
            </a:lvl4pPr>
            <a:lvl5pPr marL="0" indent="2286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9"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and Caption">
    <p:spTree>
      <p:nvGrpSpPr>
        <p:cNvPr id="1" name=""/>
        <p:cNvGrpSpPr/>
        <p:nvPr/>
      </p:nvGrpSpPr>
      <p:grpSpPr>
        <a:xfrm>
          <a:off x="0" y="0"/>
          <a:ext cx="0" cy="0"/>
          <a:chOff x="0" y="0"/>
          <a:chExt cx="0" cy="0"/>
        </a:xfrm>
      </p:grpSpPr>
      <p:sp>
        <p:nvSpPr>
          <p:cNvPr id="96" name="Title Text"/>
          <p:cNvSpPr txBox="1">
            <a:spLocks noGrp="1"/>
          </p:cNvSpPr>
          <p:nvPr>
            <p:ph type="title"/>
          </p:nvPr>
        </p:nvSpPr>
        <p:spPr>
          <a:xfrm>
            <a:off x="685800" y="753532"/>
            <a:ext cx="10820400" cy="2802467"/>
          </a:xfrm>
          <a:prstGeom prst="rect">
            <a:avLst/>
          </a:prstGeom>
        </p:spPr>
        <p:txBody>
          <a:bodyPr/>
          <a:lstStyle>
            <a:lvl1pPr algn="l">
              <a:defRPr sz="3200"/>
            </a:lvl1pPr>
          </a:lstStyle>
          <a:p>
            <a:r>
              <a:t>Title Text</a:t>
            </a:r>
          </a:p>
        </p:txBody>
      </p:sp>
      <p:sp>
        <p:nvSpPr>
          <p:cNvPr id="97" name="Body Level One…"/>
          <p:cNvSpPr txBox="1">
            <a:spLocks noGrp="1"/>
          </p:cNvSpPr>
          <p:nvPr>
            <p:ph type="body" sz="quarter" idx="1"/>
          </p:nvPr>
        </p:nvSpPr>
        <p:spPr>
          <a:xfrm>
            <a:off x="1024467" y="3649133"/>
            <a:ext cx="10130516" cy="999069"/>
          </a:xfrm>
          <a:prstGeom prst="rect">
            <a:avLst/>
          </a:prstGeom>
        </p:spPr>
        <p:txBody>
          <a:bodyPr anchor="ctr"/>
          <a:lstStyle>
            <a:lvl1pPr marL="0" indent="228600">
              <a:buClrTx/>
              <a:buSzTx/>
              <a:buFontTx/>
              <a:buNone/>
              <a:defRPr sz="1600"/>
            </a:lvl1pPr>
            <a:lvl2pPr marL="0" indent="228600">
              <a:buClrTx/>
              <a:buSzTx/>
              <a:buFontTx/>
              <a:buNone/>
              <a:defRPr sz="1600"/>
            </a:lvl2pPr>
            <a:lvl3pPr marL="0" indent="228600">
              <a:buClrTx/>
              <a:buSzTx/>
              <a:buFontTx/>
              <a:buNone/>
              <a:defRPr sz="1600"/>
            </a:lvl3pPr>
            <a:lvl4pPr marL="0" indent="228600">
              <a:buClrTx/>
              <a:buSzTx/>
              <a:buFontTx/>
              <a:buNone/>
              <a:defRPr sz="1600"/>
            </a:lvl4pPr>
            <a:lvl5pPr marL="0" indent="2286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8"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Quote with Caption">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1024467" y="753532"/>
            <a:ext cx="10151534" cy="2604498"/>
          </a:xfrm>
          <a:prstGeom prst="rect">
            <a:avLst/>
          </a:prstGeom>
        </p:spPr>
        <p:txBody>
          <a:bodyPr/>
          <a:lstStyle>
            <a:lvl1pPr algn="l">
              <a:defRPr sz="3200"/>
            </a:lvl1pPr>
          </a:lstStyle>
          <a:p>
            <a:r>
              <a:t>Title Text</a:t>
            </a:r>
          </a:p>
        </p:txBody>
      </p:sp>
      <p:sp>
        <p:nvSpPr>
          <p:cNvPr id="106" name="Body Level One…"/>
          <p:cNvSpPr txBox="1">
            <a:spLocks noGrp="1"/>
          </p:cNvSpPr>
          <p:nvPr>
            <p:ph type="body" sz="quarter" idx="1"/>
          </p:nvPr>
        </p:nvSpPr>
        <p:spPr>
          <a:xfrm>
            <a:off x="1303864" y="3365555"/>
            <a:ext cx="9592738" cy="444445"/>
          </a:xfrm>
          <a:prstGeom prst="rect">
            <a:avLst/>
          </a:prstGeom>
        </p:spPr>
        <p:txBody>
          <a:bodyPr/>
          <a:lstStyle>
            <a:lvl1pPr marL="0" indent="228600">
              <a:buClrTx/>
              <a:buSzTx/>
              <a:buFontTx/>
              <a:buNone/>
              <a:defRPr sz="1400"/>
            </a:lvl1pPr>
            <a:lvl2pPr marL="0" indent="228600">
              <a:buClrTx/>
              <a:buSzTx/>
              <a:buFontTx/>
              <a:buNone/>
              <a:defRPr sz="1400"/>
            </a:lvl2pPr>
            <a:lvl3pPr marL="0" indent="228600">
              <a:buClrTx/>
              <a:buSzTx/>
              <a:buFontTx/>
              <a:buNone/>
              <a:defRPr sz="1400"/>
            </a:lvl3pPr>
            <a:lvl4pPr marL="0" indent="228600">
              <a:buClrTx/>
              <a:buSzTx/>
              <a:buFontTx/>
              <a:buNone/>
              <a:defRPr sz="1400"/>
            </a:lvl4pPr>
            <a:lvl5pPr marL="0" indent="228600">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07" name="Google Shape;85;p43"/>
          <p:cNvSpPr txBox="1">
            <a:spLocks noGrp="1"/>
          </p:cNvSpPr>
          <p:nvPr>
            <p:ph type="body" sz="quarter" idx="21"/>
          </p:nvPr>
        </p:nvSpPr>
        <p:spPr>
          <a:xfrm>
            <a:off x="1024467" y="3959862"/>
            <a:ext cx="10151534" cy="679873"/>
          </a:xfrm>
          <a:prstGeom prst="rect">
            <a:avLst/>
          </a:prstGeom>
        </p:spPr>
        <p:txBody>
          <a:bodyPr anchor="ctr"/>
          <a:lstStyle/>
          <a:p>
            <a:endParaRPr/>
          </a:p>
        </p:txBody>
      </p:sp>
      <p:sp>
        <p:nvSpPr>
          <p:cNvPr id="108" name="Google Shape;89;p43"/>
          <p:cNvSpPr txBox="1"/>
          <p:nvPr/>
        </p:nvSpPr>
        <p:spPr>
          <a:xfrm>
            <a:off x="521975" y="557836"/>
            <a:ext cx="518151" cy="1335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defRPr sz="8000">
                <a:solidFill>
                  <a:srgbClr val="FFFFFF"/>
                </a:solidFill>
                <a:latin typeface="Century Gothic"/>
                <a:ea typeface="Century Gothic"/>
                <a:cs typeface="Century Gothic"/>
                <a:sym typeface="Century Gothic"/>
              </a:defRPr>
            </a:lvl1pPr>
          </a:lstStyle>
          <a:p>
            <a:r>
              <a:t>“</a:t>
            </a:r>
          </a:p>
        </p:txBody>
      </p:sp>
      <p:sp>
        <p:nvSpPr>
          <p:cNvPr id="109" name="Google Shape;90;p43"/>
          <p:cNvSpPr txBox="1"/>
          <p:nvPr/>
        </p:nvSpPr>
        <p:spPr>
          <a:xfrm>
            <a:off x="11029954" y="2325677"/>
            <a:ext cx="518151" cy="1335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spAutoFit/>
          </a:bodyPr>
          <a:lstStyle>
            <a:lvl1pPr algn="r">
              <a:defRPr sz="8000">
                <a:solidFill>
                  <a:srgbClr val="FFFFFF"/>
                </a:solidFill>
                <a:latin typeface="Century Gothic"/>
                <a:ea typeface="Century Gothic"/>
                <a:cs typeface="Century Gothic"/>
                <a:sym typeface="Century Gothic"/>
              </a:defRPr>
            </a:lvl1pPr>
          </a:lstStyle>
          <a:p>
            <a:r>
              <a:t>”</a:t>
            </a:r>
          </a:p>
        </p:txBody>
      </p:sp>
      <p:sp>
        <p:nvSpPr>
          <p:cNvPr id="110"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Name Card">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1024495" y="1124701"/>
            <a:ext cx="10146187" cy="2511837"/>
          </a:xfrm>
          <a:prstGeom prst="rect">
            <a:avLst/>
          </a:prstGeom>
        </p:spPr>
        <p:txBody>
          <a:bodyPr anchor="b"/>
          <a:lstStyle>
            <a:lvl1pPr algn="l">
              <a:defRPr sz="3200"/>
            </a:lvl1pPr>
          </a:lstStyle>
          <a:p>
            <a:r>
              <a:t>Title Text</a:t>
            </a:r>
          </a:p>
        </p:txBody>
      </p:sp>
      <p:sp>
        <p:nvSpPr>
          <p:cNvPr id="118" name="Body Level One…"/>
          <p:cNvSpPr txBox="1">
            <a:spLocks noGrp="1"/>
          </p:cNvSpPr>
          <p:nvPr>
            <p:ph type="body" sz="quarter" idx="1"/>
          </p:nvPr>
        </p:nvSpPr>
        <p:spPr>
          <a:xfrm>
            <a:off x="1024467" y="3648314"/>
            <a:ext cx="10144654" cy="999887"/>
          </a:xfrm>
          <a:prstGeom prst="rect">
            <a:avLst/>
          </a:prstGeom>
        </p:spPr>
        <p:txBody>
          <a:bodyPr/>
          <a:lstStyle>
            <a:lvl1pPr marL="0" indent="228600">
              <a:buClrTx/>
              <a:buSzTx/>
              <a:buFontTx/>
              <a:buNone/>
              <a:defRPr sz="1600"/>
            </a:lvl1pPr>
            <a:lvl2pPr marL="0" indent="228600">
              <a:buClrTx/>
              <a:buSzTx/>
              <a:buFontTx/>
              <a:buNone/>
              <a:defRPr sz="1600"/>
            </a:lvl2pPr>
            <a:lvl3pPr marL="0" indent="228600">
              <a:buClrTx/>
              <a:buSzTx/>
              <a:buFontTx/>
              <a:buNone/>
              <a:defRPr sz="1600"/>
            </a:lvl3pPr>
            <a:lvl4pPr marL="0" indent="228600">
              <a:buClrTx/>
              <a:buSzTx/>
              <a:buFontTx/>
              <a:buNone/>
              <a:defRPr sz="1600"/>
            </a:lvl4pPr>
            <a:lvl5pPr marL="0" indent="2286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119"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3 Column">
    <p:spTree>
      <p:nvGrpSpPr>
        <p:cNvPr id="1" name=""/>
        <p:cNvGrpSpPr/>
        <p:nvPr/>
      </p:nvGrpSpPr>
      <p:grpSpPr>
        <a:xfrm>
          <a:off x="0" y="0"/>
          <a:ext cx="0" cy="0"/>
          <a:chOff x="0" y="0"/>
          <a:chExt cx="0" cy="0"/>
        </a:xfrm>
      </p:grpSpPr>
      <p:pic>
        <p:nvPicPr>
          <p:cNvPr id="126" name="Google Shape;60;p39" descr="Google Shape;60;p39"/>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127" name="Title Text"/>
          <p:cNvSpPr txBox="1">
            <a:spLocks noGrp="1"/>
          </p:cNvSpPr>
          <p:nvPr>
            <p:ph type="title"/>
          </p:nvPr>
        </p:nvSpPr>
        <p:spPr>
          <a:xfrm>
            <a:off x="2895600" y="761998"/>
            <a:ext cx="8610600" cy="1303869"/>
          </a:xfrm>
          <a:prstGeom prst="rect">
            <a:avLst/>
          </a:prstGeom>
        </p:spPr>
        <p:txBody>
          <a:bodyPr/>
          <a:lstStyle/>
          <a:p>
            <a:r>
              <a:t>Title Text</a:t>
            </a:r>
          </a:p>
        </p:txBody>
      </p:sp>
      <p:sp>
        <p:nvSpPr>
          <p:cNvPr id="128" name="Body Level One…"/>
          <p:cNvSpPr txBox="1">
            <a:spLocks noGrp="1"/>
          </p:cNvSpPr>
          <p:nvPr>
            <p:ph type="body" sz="quarter" idx="1"/>
          </p:nvPr>
        </p:nvSpPr>
        <p:spPr>
          <a:xfrm>
            <a:off x="685800" y="2202078"/>
            <a:ext cx="3456433" cy="617322"/>
          </a:xfrm>
          <a:prstGeom prst="rect">
            <a:avLst/>
          </a:prstGeom>
        </p:spPr>
        <p:txBody>
          <a:bodyPr anchor="b"/>
          <a:lstStyle>
            <a:lvl1pPr marL="0" indent="228600">
              <a:buClrTx/>
              <a:buSzTx/>
              <a:buFontTx/>
              <a:buNone/>
              <a:defRPr sz="2400"/>
            </a:lvl1pPr>
            <a:lvl2pPr marL="0" indent="228600">
              <a:buClrTx/>
              <a:buSzTx/>
              <a:buFontTx/>
              <a:buNone/>
              <a:defRPr sz="2400"/>
            </a:lvl2pPr>
            <a:lvl3pPr marL="0" indent="228600">
              <a:buClrTx/>
              <a:buSzTx/>
              <a:buFontTx/>
              <a:buNone/>
              <a:defRPr sz="2400"/>
            </a:lvl3pPr>
            <a:lvl4pPr marL="0" indent="228600">
              <a:buClrTx/>
              <a:buSzTx/>
              <a:buFontTx/>
              <a:buNone/>
              <a:defRPr sz="2400"/>
            </a:lvl4pPr>
            <a:lvl5pPr marL="0" indent="228600">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29" name="Google Shape;100;p45"/>
          <p:cNvSpPr txBox="1">
            <a:spLocks noGrp="1"/>
          </p:cNvSpPr>
          <p:nvPr>
            <p:ph type="body" sz="quarter" idx="21"/>
          </p:nvPr>
        </p:nvSpPr>
        <p:spPr>
          <a:xfrm>
            <a:off x="685798" y="2904563"/>
            <a:ext cx="3456435" cy="3314133"/>
          </a:xfrm>
          <a:prstGeom prst="rect">
            <a:avLst/>
          </a:prstGeom>
        </p:spPr>
        <p:txBody>
          <a:bodyPr/>
          <a:lstStyle/>
          <a:p>
            <a:endParaRPr/>
          </a:p>
        </p:txBody>
      </p:sp>
      <p:sp>
        <p:nvSpPr>
          <p:cNvPr id="130" name="Google Shape;101;p45"/>
          <p:cNvSpPr txBox="1">
            <a:spLocks noGrp="1"/>
          </p:cNvSpPr>
          <p:nvPr>
            <p:ph type="body" sz="quarter" idx="22"/>
          </p:nvPr>
        </p:nvSpPr>
        <p:spPr>
          <a:xfrm>
            <a:off x="4368799" y="2201333"/>
            <a:ext cx="3456434" cy="626536"/>
          </a:xfrm>
          <a:prstGeom prst="rect">
            <a:avLst/>
          </a:prstGeom>
        </p:spPr>
        <p:txBody>
          <a:bodyPr anchor="b"/>
          <a:lstStyle/>
          <a:p>
            <a:endParaRPr/>
          </a:p>
        </p:txBody>
      </p:sp>
      <p:sp>
        <p:nvSpPr>
          <p:cNvPr id="131" name="Google Shape;102;p45"/>
          <p:cNvSpPr txBox="1">
            <a:spLocks noGrp="1"/>
          </p:cNvSpPr>
          <p:nvPr>
            <p:ph type="body" sz="quarter" idx="23"/>
          </p:nvPr>
        </p:nvSpPr>
        <p:spPr>
          <a:xfrm>
            <a:off x="4366857" y="2904065"/>
            <a:ext cx="3456433" cy="3314618"/>
          </a:xfrm>
          <a:prstGeom prst="rect">
            <a:avLst/>
          </a:prstGeom>
        </p:spPr>
        <p:txBody>
          <a:bodyPr/>
          <a:lstStyle/>
          <a:p>
            <a:endParaRPr/>
          </a:p>
        </p:txBody>
      </p:sp>
      <p:sp>
        <p:nvSpPr>
          <p:cNvPr id="132" name="Google Shape;103;p45"/>
          <p:cNvSpPr txBox="1">
            <a:spLocks noGrp="1"/>
          </p:cNvSpPr>
          <p:nvPr>
            <p:ph type="body" sz="quarter" idx="24"/>
          </p:nvPr>
        </p:nvSpPr>
        <p:spPr>
          <a:xfrm>
            <a:off x="8051799" y="2192864"/>
            <a:ext cx="3456434" cy="626536"/>
          </a:xfrm>
          <a:prstGeom prst="rect">
            <a:avLst/>
          </a:prstGeom>
        </p:spPr>
        <p:txBody>
          <a:bodyPr anchor="b"/>
          <a:lstStyle/>
          <a:p>
            <a:endParaRPr/>
          </a:p>
        </p:txBody>
      </p:sp>
      <p:sp>
        <p:nvSpPr>
          <p:cNvPr id="133" name="Google Shape;104;p45"/>
          <p:cNvSpPr txBox="1">
            <a:spLocks noGrp="1"/>
          </p:cNvSpPr>
          <p:nvPr>
            <p:ph type="body" sz="quarter" idx="25"/>
          </p:nvPr>
        </p:nvSpPr>
        <p:spPr>
          <a:xfrm>
            <a:off x="8051799" y="2904563"/>
            <a:ext cx="3456434" cy="3314133"/>
          </a:xfrm>
          <a:prstGeom prst="rect">
            <a:avLst/>
          </a:prstGeom>
        </p:spPr>
        <p:txBody>
          <a:bodyPr/>
          <a:lstStyle/>
          <a:p>
            <a:endParaRPr/>
          </a:p>
        </p:txBody>
      </p:sp>
      <p:sp>
        <p:nvSpPr>
          <p:cNvPr id="134"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3 Picture Column">
    <p:spTree>
      <p:nvGrpSpPr>
        <p:cNvPr id="1" name=""/>
        <p:cNvGrpSpPr/>
        <p:nvPr/>
      </p:nvGrpSpPr>
      <p:grpSpPr>
        <a:xfrm>
          <a:off x="0" y="0"/>
          <a:ext cx="0" cy="0"/>
          <a:chOff x="0" y="0"/>
          <a:chExt cx="0" cy="0"/>
        </a:xfrm>
      </p:grpSpPr>
      <p:pic>
        <p:nvPicPr>
          <p:cNvPr id="141" name="Google Shape;60;p39" descr="Google Shape;60;p39"/>
          <p:cNvPicPr>
            <a:picLocks noChangeAspect="1"/>
          </p:cNvPicPr>
          <p:nvPr/>
        </p:nvPicPr>
        <p:blipFill>
          <a:blip r:embed="rId2"/>
          <a:stretch>
            <a:fillRect/>
          </a:stretch>
        </p:blipFill>
        <p:spPr>
          <a:xfrm>
            <a:off x="600513" y="192977"/>
            <a:ext cx="1542174" cy="1237889"/>
          </a:xfrm>
          <a:prstGeom prst="rect">
            <a:avLst/>
          </a:prstGeom>
          <a:ln w="12700">
            <a:miter lim="400000"/>
          </a:ln>
        </p:spPr>
      </p:pic>
      <p:sp>
        <p:nvSpPr>
          <p:cNvPr id="142" name="Title Text"/>
          <p:cNvSpPr txBox="1">
            <a:spLocks noGrp="1"/>
          </p:cNvSpPr>
          <p:nvPr>
            <p:ph type="title"/>
          </p:nvPr>
        </p:nvSpPr>
        <p:spPr>
          <a:xfrm>
            <a:off x="2895600" y="762000"/>
            <a:ext cx="8610600" cy="1295400"/>
          </a:xfrm>
          <a:prstGeom prst="rect">
            <a:avLst/>
          </a:prstGeom>
        </p:spPr>
        <p:txBody>
          <a:bodyPr/>
          <a:lstStyle/>
          <a:p>
            <a:r>
              <a:t>Title Text</a:t>
            </a:r>
          </a:p>
        </p:txBody>
      </p:sp>
      <p:sp>
        <p:nvSpPr>
          <p:cNvPr id="143" name="Body Level One…"/>
          <p:cNvSpPr txBox="1">
            <a:spLocks noGrp="1"/>
          </p:cNvSpPr>
          <p:nvPr>
            <p:ph type="body" sz="quarter" idx="1"/>
          </p:nvPr>
        </p:nvSpPr>
        <p:spPr>
          <a:xfrm>
            <a:off x="688616" y="4191000"/>
            <a:ext cx="3451585" cy="682766"/>
          </a:xfrm>
          <a:prstGeom prst="rect">
            <a:avLst/>
          </a:prstGeom>
        </p:spPr>
        <p:txBody>
          <a:bodyPr anchor="b"/>
          <a:lstStyle>
            <a:lvl1pPr marL="0" indent="228600">
              <a:buClrTx/>
              <a:buSzTx/>
              <a:buFontTx/>
              <a:buNone/>
              <a:defRPr sz="2400"/>
            </a:lvl1pPr>
            <a:lvl2pPr marL="0" indent="228600">
              <a:buClrTx/>
              <a:buSzTx/>
              <a:buFontTx/>
              <a:buNone/>
              <a:defRPr sz="2400"/>
            </a:lvl2pPr>
            <a:lvl3pPr marL="0" indent="228600">
              <a:buClrTx/>
              <a:buSzTx/>
              <a:buFontTx/>
              <a:buNone/>
              <a:defRPr sz="2400"/>
            </a:lvl3pPr>
            <a:lvl4pPr marL="0" indent="228600">
              <a:buClrTx/>
              <a:buSzTx/>
              <a:buFontTx/>
              <a:buNone/>
              <a:defRPr sz="2400"/>
            </a:lvl4pPr>
            <a:lvl5pPr marL="0" indent="228600">
              <a:buClrTx/>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44" name="Google Shape;112;p46"/>
          <p:cNvSpPr>
            <a:spLocks noGrp="1"/>
          </p:cNvSpPr>
          <p:nvPr>
            <p:ph type="pic" sz="quarter" idx="21"/>
          </p:nvPr>
        </p:nvSpPr>
        <p:spPr>
          <a:xfrm>
            <a:off x="688616" y="2362200"/>
            <a:ext cx="3451585" cy="1524000"/>
          </a:xfrm>
          <a:prstGeom prst="rect">
            <a:avLst/>
          </a:prstGeom>
          <a:effectLst>
            <a:outerShdw blurRad="50800" dist="50800" dir="5400000" rotWithShape="0">
              <a:srgbClr val="000000">
                <a:alpha val="41960"/>
              </a:srgbClr>
            </a:outerShdw>
          </a:effectLst>
        </p:spPr>
        <p:txBody>
          <a:bodyPr lIns="91439" tIns="45719" rIns="91439" bIns="45719">
            <a:noAutofit/>
          </a:bodyPr>
          <a:lstStyle/>
          <a:p>
            <a:endParaRPr/>
          </a:p>
        </p:txBody>
      </p:sp>
      <p:sp>
        <p:nvSpPr>
          <p:cNvPr id="145" name="Google Shape;113;p46"/>
          <p:cNvSpPr txBox="1">
            <a:spLocks noGrp="1"/>
          </p:cNvSpPr>
          <p:nvPr>
            <p:ph type="body" sz="quarter" idx="22"/>
          </p:nvPr>
        </p:nvSpPr>
        <p:spPr>
          <a:xfrm>
            <a:off x="688616" y="4873764"/>
            <a:ext cx="3451585" cy="1344923"/>
          </a:xfrm>
          <a:prstGeom prst="rect">
            <a:avLst/>
          </a:prstGeom>
        </p:spPr>
        <p:txBody>
          <a:bodyPr/>
          <a:lstStyle/>
          <a:p>
            <a:endParaRPr/>
          </a:p>
        </p:txBody>
      </p:sp>
      <p:sp>
        <p:nvSpPr>
          <p:cNvPr id="146" name="Google Shape;114;p46"/>
          <p:cNvSpPr txBox="1">
            <a:spLocks noGrp="1"/>
          </p:cNvSpPr>
          <p:nvPr>
            <p:ph type="body" sz="quarter" idx="23"/>
          </p:nvPr>
        </p:nvSpPr>
        <p:spPr>
          <a:xfrm>
            <a:off x="4374262" y="4190999"/>
            <a:ext cx="3448935" cy="682768"/>
          </a:xfrm>
          <a:prstGeom prst="rect">
            <a:avLst/>
          </a:prstGeom>
        </p:spPr>
        <p:txBody>
          <a:bodyPr anchor="b"/>
          <a:lstStyle/>
          <a:p>
            <a:endParaRPr/>
          </a:p>
        </p:txBody>
      </p:sp>
      <p:sp>
        <p:nvSpPr>
          <p:cNvPr id="147" name="Google Shape;115;p46"/>
          <p:cNvSpPr>
            <a:spLocks noGrp="1"/>
          </p:cNvSpPr>
          <p:nvPr>
            <p:ph type="pic" sz="quarter" idx="24"/>
          </p:nvPr>
        </p:nvSpPr>
        <p:spPr>
          <a:xfrm>
            <a:off x="4374262" y="2362200"/>
            <a:ext cx="3448938" cy="1524000"/>
          </a:xfrm>
          <a:prstGeom prst="rect">
            <a:avLst/>
          </a:prstGeom>
          <a:effectLst>
            <a:outerShdw blurRad="50800" dist="50800" dir="5400000" rotWithShape="0">
              <a:srgbClr val="000000">
                <a:alpha val="41960"/>
              </a:srgbClr>
            </a:outerShdw>
          </a:effectLst>
        </p:spPr>
        <p:txBody>
          <a:bodyPr lIns="91439" tIns="45719" rIns="91439" bIns="45719">
            <a:noAutofit/>
          </a:bodyPr>
          <a:lstStyle/>
          <a:p>
            <a:endParaRPr/>
          </a:p>
        </p:txBody>
      </p:sp>
      <p:sp>
        <p:nvSpPr>
          <p:cNvPr id="148" name="Google Shape;116;p46"/>
          <p:cNvSpPr txBox="1">
            <a:spLocks noGrp="1"/>
          </p:cNvSpPr>
          <p:nvPr>
            <p:ph type="body" sz="quarter" idx="25"/>
          </p:nvPr>
        </p:nvSpPr>
        <p:spPr>
          <a:xfrm>
            <a:off x="4374263" y="4873761"/>
            <a:ext cx="3448936" cy="1344923"/>
          </a:xfrm>
          <a:prstGeom prst="rect">
            <a:avLst/>
          </a:prstGeom>
        </p:spPr>
        <p:txBody>
          <a:bodyPr/>
          <a:lstStyle/>
          <a:p>
            <a:endParaRPr/>
          </a:p>
        </p:txBody>
      </p:sp>
      <p:sp>
        <p:nvSpPr>
          <p:cNvPr id="149" name="Google Shape;117;p46"/>
          <p:cNvSpPr txBox="1">
            <a:spLocks noGrp="1"/>
          </p:cNvSpPr>
          <p:nvPr>
            <p:ph type="body" sz="quarter" idx="26"/>
          </p:nvPr>
        </p:nvSpPr>
        <p:spPr>
          <a:xfrm>
            <a:off x="8049731" y="4190999"/>
            <a:ext cx="3456469" cy="682768"/>
          </a:xfrm>
          <a:prstGeom prst="rect">
            <a:avLst/>
          </a:prstGeom>
        </p:spPr>
        <p:txBody>
          <a:bodyPr anchor="b"/>
          <a:lstStyle/>
          <a:p>
            <a:endParaRPr/>
          </a:p>
        </p:txBody>
      </p:sp>
      <p:sp>
        <p:nvSpPr>
          <p:cNvPr id="150" name="Google Shape;118;p46"/>
          <p:cNvSpPr>
            <a:spLocks noGrp="1"/>
          </p:cNvSpPr>
          <p:nvPr>
            <p:ph type="pic" sz="quarter" idx="27"/>
          </p:nvPr>
        </p:nvSpPr>
        <p:spPr>
          <a:xfrm>
            <a:off x="8049855" y="2362200"/>
            <a:ext cx="3447880" cy="1524000"/>
          </a:xfrm>
          <a:prstGeom prst="rect">
            <a:avLst/>
          </a:prstGeom>
          <a:effectLst>
            <a:outerShdw blurRad="50800" dist="50800" dir="5400000" rotWithShape="0">
              <a:srgbClr val="000000">
                <a:alpha val="41960"/>
              </a:srgbClr>
            </a:outerShdw>
          </a:effectLst>
        </p:spPr>
        <p:txBody>
          <a:bodyPr lIns="91439" tIns="45719" rIns="91439" bIns="45719">
            <a:noAutofit/>
          </a:bodyPr>
          <a:lstStyle/>
          <a:p>
            <a:endParaRPr/>
          </a:p>
        </p:txBody>
      </p:sp>
      <p:sp>
        <p:nvSpPr>
          <p:cNvPr id="151" name="Google Shape;119;p46"/>
          <p:cNvSpPr txBox="1">
            <a:spLocks noGrp="1"/>
          </p:cNvSpPr>
          <p:nvPr>
            <p:ph type="body" sz="quarter" idx="28"/>
          </p:nvPr>
        </p:nvSpPr>
        <p:spPr>
          <a:xfrm>
            <a:off x="8049731" y="4873761"/>
            <a:ext cx="3452446" cy="1344923"/>
          </a:xfrm>
          <a:prstGeom prst="rect">
            <a:avLst/>
          </a:prstGeom>
        </p:spPr>
        <p:txBody>
          <a:bodyPr/>
          <a:lstStyle/>
          <a:p>
            <a:endParaRPr/>
          </a:p>
        </p:txBody>
      </p:sp>
      <p:sp>
        <p:nvSpPr>
          <p:cNvPr id="152"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59" name="Title Text"/>
          <p:cNvSpPr txBox="1">
            <a:spLocks noGrp="1"/>
          </p:cNvSpPr>
          <p:nvPr>
            <p:ph type="title"/>
          </p:nvPr>
        </p:nvSpPr>
        <p:spPr>
          <a:xfrm>
            <a:off x="2895600" y="764373"/>
            <a:ext cx="8610600" cy="1293028"/>
          </a:xfrm>
          <a:prstGeom prst="rect">
            <a:avLst/>
          </a:prstGeom>
        </p:spPr>
        <p:txBody>
          <a:bodyPr/>
          <a:lstStyle/>
          <a:p>
            <a:r>
              <a:t>Title Text</a:t>
            </a:r>
          </a:p>
        </p:txBody>
      </p:sp>
      <p:sp>
        <p:nvSpPr>
          <p:cNvPr id="160" name="Body Level One…"/>
          <p:cNvSpPr txBox="1">
            <a:spLocks noGrp="1"/>
          </p:cNvSpPr>
          <p:nvPr>
            <p:ph type="body" idx="1"/>
          </p:nvPr>
        </p:nvSpPr>
        <p:spPr>
          <a:xfrm rot="5400000">
            <a:off x="4083937" y="-1203579"/>
            <a:ext cx="4024127" cy="10820401"/>
          </a:xfrm>
          <a:prstGeom prst="rect">
            <a:avLst/>
          </a:prstGeom>
        </p:spPr>
        <p:txBody>
          <a:bodyPr/>
          <a:lstStyle>
            <a:lvl1pPr indent="-342900"/>
            <a:lvl2pPr marL="948688" indent="-377188"/>
            <a:lvl4pPr marL="1957386" indent="-471487"/>
            <a:lvl5pPr marL="2414586" indent="-471486"/>
          </a:lstStyle>
          <a:p>
            <a:r>
              <a:t>Body Level One</a:t>
            </a:r>
          </a:p>
          <a:p>
            <a:pPr lvl="1"/>
            <a:r>
              <a:t>Body Level Two</a:t>
            </a:r>
          </a:p>
          <a:p>
            <a:pPr lvl="2"/>
            <a:r>
              <a:t>Body Level Three</a:t>
            </a:r>
          </a:p>
          <a:p>
            <a:pPr lvl="3"/>
            <a:r>
              <a:t>Body Level Four</a:t>
            </a:r>
          </a:p>
          <a:p>
            <a:pPr lvl="4"/>
            <a:r>
              <a:t>Body Level Five</a:t>
            </a:r>
          </a:p>
        </p:txBody>
      </p:sp>
      <p:sp>
        <p:nvSpPr>
          <p:cNvPr id="161" name="Google Shape;130;p47"/>
          <p:cNvSpPr>
            <a:spLocks noGrp="1"/>
          </p:cNvSpPr>
          <p:nvPr>
            <p:ph type="pic" sz="quarter" idx="21"/>
          </p:nvPr>
        </p:nvSpPr>
        <p:spPr>
          <a:xfrm>
            <a:off x="471487" y="370415"/>
            <a:ext cx="1543051" cy="1243013"/>
          </a:xfrm>
          <a:prstGeom prst="rect">
            <a:avLst/>
          </a:prstGeom>
        </p:spPr>
        <p:txBody>
          <a:bodyPr lIns="91439" tIns="45719" rIns="91439" bIns="45719">
            <a:noAutofit/>
          </a:bodyPr>
          <a:lstStyle/>
          <a:p>
            <a:endParaRPr/>
          </a:p>
        </p:txBody>
      </p:sp>
      <p:sp>
        <p:nvSpPr>
          <p:cNvPr id="162"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VERTICAL_TITLE_AND_VERTICAL_TEXT">
    <p:spTree>
      <p:nvGrpSpPr>
        <p:cNvPr id="1" name=""/>
        <p:cNvGrpSpPr/>
        <p:nvPr/>
      </p:nvGrpSpPr>
      <p:grpSpPr>
        <a:xfrm>
          <a:off x="0" y="0"/>
          <a:ext cx="0" cy="0"/>
          <a:chOff x="0" y="0"/>
          <a:chExt cx="0" cy="0"/>
        </a:xfrm>
      </p:grpSpPr>
      <p:sp>
        <p:nvSpPr>
          <p:cNvPr id="169" name="Title Text"/>
          <p:cNvSpPr txBox="1">
            <a:spLocks noGrp="1"/>
          </p:cNvSpPr>
          <p:nvPr>
            <p:ph type="title"/>
          </p:nvPr>
        </p:nvSpPr>
        <p:spPr>
          <a:xfrm rot="5400000">
            <a:off x="8525933" y="1667933"/>
            <a:ext cx="3903134" cy="2057402"/>
          </a:xfrm>
          <a:prstGeom prst="rect">
            <a:avLst/>
          </a:prstGeom>
        </p:spPr>
        <p:txBody>
          <a:bodyPr/>
          <a:lstStyle>
            <a:lvl1pPr algn="l"/>
          </a:lstStyle>
          <a:p>
            <a:r>
              <a:t>Title Text</a:t>
            </a:r>
          </a:p>
        </p:txBody>
      </p:sp>
      <p:sp>
        <p:nvSpPr>
          <p:cNvPr id="170" name="Body Level One…"/>
          <p:cNvSpPr txBox="1">
            <a:spLocks noGrp="1"/>
          </p:cNvSpPr>
          <p:nvPr>
            <p:ph type="body" sz="half" idx="1"/>
          </p:nvPr>
        </p:nvSpPr>
        <p:spPr>
          <a:xfrm rot="5400000">
            <a:off x="3175000" y="-1405468"/>
            <a:ext cx="3903134" cy="8204203"/>
          </a:xfrm>
          <a:prstGeom prst="rect">
            <a:avLst/>
          </a:prstGeom>
        </p:spPr>
        <p:txBody>
          <a:bodyPr/>
          <a:lstStyle>
            <a:lvl1pPr indent="-342900"/>
            <a:lvl2pPr marL="948688" indent="-377188"/>
            <a:lvl4pPr marL="1957386" indent="-471487"/>
            <a:lvl5pPr marL="2414586" indent="-471486"/>
          </a:lstStyle>
          <a:p>
            <a:r>
              <a:t>Body Level One</a:t>
            </a:r>
          </a:p>
          <a:p>
            <a:pPr lvl="1"/>
            <a:r>
              <a:t>Body Level Two</a:t>
            </a:r>
          </a:p>
          <a:p>
            <a:pPr lvl="2"/>
            <a:r>
              <a:t>Body Level Three</a:t>
            </a:r>
          </a:p>
          <a:p>
            <a:pPr lvl="3"/>
            <a:r>
              <a:t>Body Level Four</a:t>
            </a:r>
          </a:p>
          <a:p>
            <a:pPr lvl="4"/>
            <a:r>
              <a:t>Body Level Five</a:t>
            </a:r>
          </a:p>
        </p:txBody>
      </p:sp>
      <p:sp>
        <p:nvSpPr>
          <p:cNvPr id="171" name="Slide Number"/>
          <p:cNvSpPr txBox="1">
            <a:spLocks noGrp="1"/>
          </p:cNvSpPr>
          <p:nvPr>
            <p:ph type="sldNum" sz="quarter" idx="2"/>
          </p:nvPr>
        </p:nvSpPr>
        <p:spPr>
          <a:xfrm>
            <a:off x="11261336" y="441663"/>
            <a:ext cx="244865" cy="24379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8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Google Shape;60;p39" descr="Google Shape;60;p39"/>
          <p:cNvPicPr>
            <a:picLocks noChangeAspect="1"/>
          </p:cNvPicPr>
          <p:nvPr/>
        </p:nvPicPr>
        <p:blipFill>
          <a:blip r:embed="rId18"/>
          <a:stretch>
            <a:fillRect/>
          </a:stretch>
        </p:blipFill>
        <p:spPr>
          <a:xfrm>
            <a:off x="600513" y="192977"/>
            <a:ext cx="1542174" cy="1237889"/>
          </a:xfrm>
          <a:prstGeom prst="rect">
            <a:avLst/>
          </a:prstGeom>
          <a:ln w="12700">
            <a:miter lim="400000"/>
          </a:ln>
        </p:spPr>
      </p:pic>
      <p:sp>
        <p:nvSpPr>
          <p:cNvPr id="3" name="Title Text"/>
          <p:cNvSpPr txBox="1">
            <a:spLocks noGrp="1"/>
          </p:cNvSpPr>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5892800" y="6172200"/>
            <a:ext cx="2844800" cy="368301"/>
          </a:xfrm>
          <a:prstGeom prst="rect">
            <a:avLst/>
          </a:prstGeom>
          <a:ln w="12700">
            <a:miter lim="400000"/>
          </a:ln>
        </p:spPr>
        <p:txBody>
          <a:bodyPr wrap="none" lIns="45699" tIns="45699" rIns="45699" bIns="45699" anchor="ctr">
            <a:spAutoFit/>
          </a:bodyPr>
          <a:lstStyle>
            <a:lvl1pPr algn="r">
              <a:defRPr sz="1000">
                <a:solidFill>
                  <a:srgbClr val="FFFFFF"/>
                </a:solidFill>
                <a:latin typeface="Century Gothic"/>
                <a:ea typeface="Century Gothic"/>
                <a:cs typeface="Century Gothic"/>
                <a:sym typeface="Century Gothic"/>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1pPr>
      <a:lvl2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2pPr>
      <a:lvl3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3pPr>
      <a:lvl4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4pPr>
      <a:lvl5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5pPr>
      <a:lvl6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6pPr>
      <a:lvl7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7pPr>
      <a:lvl8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8pPr>
      <a:lvl9pPr marL="0" marR="0" indent="0" algn="r" defTabSz="914400" rtl="0" latinLnBrk="0">
        <a:lnSpc>
          <a:spcPct val="90000"/>
        </a:lnSpc>
        <a:spcBef>
          <a:spcPts val="0"/>
        </a:spcBef>
        <a:spcAft>
          <a:spcPts val="0"/>
        </a:spcAft>
        <a:buClrTx/>
        <a:buSzTx/>
        <a:buFontTx/>
        <a:buNone/>
        <a:tabLst/>
        <a:defRPr sz="4000" b="0" i="0" u="none" strike="noStrike" cap="none" spc="0" baseline="0">
          <a:solidFill>
            <a:srgbClr val="FFFFFF"/>
          </a:solidFill>
          <a:uFillTx/>
          <a:latin typeface="Century Gothic"/>
          <a:ea typeface="Century Gothic"/>
          <a:cs typeface="Century Gothic"/>
          <a:sym typeface="Century Gothic"/>
        </a:defRPr>
      </a:lvl9pPr>
    </p:titleStyle>
    <p:bodyStyle>
      <a:lvl1pPr marL="457200" marR="0" indent="-368300"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1pPr>
      <a:lvl2pPr marL="949960" marR="0" indent="-391159"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2pPr>
      <a:lvl3pPr marL="1447800" marR="0" indent="-419100"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3pPr>
      <a:lvl4pPr marL="19526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4pPr>
      <a:lvl5pPr marL="24098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5pPr>
      <a:lvl6pPr marL="28670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6pPr>
      <a:lvl7pPr marL="33242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7pPr>
      <a:lvl8pPr marL="37814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8pPr>
      <a:lvl9pPr marL="4238625" marR="0" indent="-454025" algn="l" defTabSz="914400" rtl="0" latinLnBrk="0">
        <a:lnSpc>
          <a:spcPct val="90000"/>
        </a:lnSpc>
        <a:spcBef>
          <a:spcPts val="1000"/>
        </a:spcBef>
        <a:spcAft>
          <a:spcPts val="0"/>
        </a:spcAft>
        <a:buClr>
          <a:srgbClr val="FFFFFF"/>
        </a:buClr>
        <a:buSzPts val="2200"/>
        <a:buFont typeface="Arial"/>
        <a:buChar char="•"/>
        <a:tabLst/>
        <a:defRPr sz="2200" b="0" i="0" u="none" strike="noStrike" cap="none" spc="0" baseline="0">
          <a:solidFill>
            <a:srgbClr val="FFFFFF"/>
          </a:solidFill>
          <a:uFillTx/>
          <a:latin typeface="Century Gothic"/>
          <a:ea typeface="Century Gothic"/>
          <a:cs typeface="Century Gothic"/>
          <a:sym typeface="Century Gothic"/>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entury Gothic"/>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Beyonc%C3%A9_(album)" TargetMode="External"/><Relationship Id="rId3" Type="http://schemas.openxmlformats.org/officeDocument/2006/relationships/hyperlink" Target="https://en.wikipedia.org/wiki/Rapping" TargetMode="External"/><Relationship Id="rId7" Type="http://schemas.openxmlformats.org/officeDocument/2006/relationships/hyperlink" Target="https://en.wikipedia.org/wiki/Beyonc%C3%A9" TargetMode="External"/><Relationship Id="rId2" Type="http://schemas.openxmlformats.org/officeDocument/2006/relationships/hyperlink" Target="https://en.wikipedia.org/wiki/Studio_album" TargetMode="External"/><Relationship Id="rId1" Type="http://schemas.openxmlformats.org/officeDocument/2006/relationships/slideLayout" Target="../slideLayouts/slideLayout2.xml"/><Relationship Id="rId6" Type="http://schemas.openxmlformats.org/officeDocument/2006/relationships/hyperlink" Target="https://en.wikipedia.org/wiki/Top_Heatseekers" TargetMode="External"/><Relationship Id="rId5" Type="http://schemas.openxmlformats.org/officeDocument/2006/relationships/hyperlink" Target="https://en.wikipedia.org/wiki/Billboard_charts" TargetMode="External"/><Relationship Id="rId4" Type="http://schemas.openxmlformats.org/officeDocument/2006/relationships/hyperlink" Target="https://en.wikipedia.org/wiki/Boots_(musician)" TargetMode="Externa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en.wikipedia.org/wiki/Balthazar_(band)#cite_note-8" TargetMode="External"/><Relationship Id="rId3" Type="http://schemas.openxmlformats.org/officeDocument/2006/relationships/hyperlink" Target="https://en.wikipedia.org/wiki/Devendra_Banhart" TargetMode="External"/><Relationship Id="rId7" Type="http://schemas.openxmlformats.org/officeDocument/2006/relationships/hyperlink" Target="https://en.wikipedia.org/wiki/Lib%C3%A9ration" TargetMode="External"/><Relationship Id="rId2" Type="http://schemas.openxmlformats.org/officeDocument/2006/relationships/hyperlink" Target="https://en.wikipedia.org/wiki/Noah_Georgeson" TargetMode="External"/><Relationship Id="rId1" Type="http://schemas.openxmlformats.org/officeDocument/2006/relationships/slideLayout" Target="../slideLayouts/slideLayout2.xml"/><Relationship Id="rId6" Type="http://schemas.openxmlformats.org/officeDocument/2006/relationships/hyperlink" Target="https://en.wikipedia.org/wiki/Balthazar_(band)#cite_note-DR081212-7" TargetMode="External"/><Relationship Id="rId5" Type="http://schemas.openxmlformats.org/officeDocument/2006/relationships/hyperlink" Target="https://en.wikipedia.org/wiki/Music_Industry_Awards" TargetMode="External"/><Relationship Id="rId10" Type="http://schemas.openxmlformats.org/officeDocument/2006/relationships/image" Target="../media/image5.png"/><Relationship Id="rId4" Type="http://schemas.openxmlformats.org/officeDocument/2006/relationships/hyperlink" Target="https://en.wikipedia.org/wiki/The_Strokes" TargetMode="External"/><Relationship Id="rId9" Type="http://schemas.openxmlformats.org/officeDocument/2006/relationships/hyperlink" Target="https://en.wikipedia.org/wiki/Balthazar_(band)#cite_note-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Google Shape;141;p1"/>
          <p:cNvSpPr txBox="1">
            <a:spLocks noGrp="1"/>
          </p:cNvSpPr>
          <p:nvPr>
            <p:ph type="ctrTitle"/>
          </p:nvPr>
        </p:nvSpPr>
        <p:spPr>
          <a:xfrm>
            <a:off x="2209800" y="1603904"/>
            <a:ext cx="9448800" cy="1825097"/>
          </a:xfrm>
          <a:prstGeom prst="rect">
            <a:avLst/>
          </a:prstGeom>
        </p:spPr>
        <p:txBody>
          <a:bodyPr/>
          <a:lstStyle>
            <a:lvl1pPr defTabSz="896111">
              <a:defRPr sz="5800"/>
            </a:lvl1pPr>
          </a:lstStyle>
          <a:p>
            <a:r>
              <a:t>EXECUTIVE COUNCIL MEETING</a:t>
            </a:r>
          </a:p>
        </p:txBody>
      </p:sp>
      <p:sp>
        <p:nvSpPr>
          <p:cNvPr id="188" name="Google Shape;142;p1"/>
          <p:cNvSpPr txBox="1">
            <a:spLocks noGrp="1"/>
          </p:cNvSpPr>
          <p:nvPr>
            <p:ph type="subTitle" sz="quarter" idx="1"/>
          </p:nvPr>
        </p:nvSpPr>
        <p:spPr>
          <a:xfrm>
            <a:off x="2209800" y="5608339"/>
            <a:ext cx="9448800" cy="756747"/>
          </a:xfrm>
          <a:prstGeom prst="rect">
            <a:avLst/>
          </a:prstGeom>
        </p:spPr>
        <p:txBody>
          <a:bodyPr/>
          <a:lstStyle/>
          <a:p>
            <a:pPr marL="0" indent="0">
              <a:lnSpc>
                <a:spcPct val="80000"/>
              </a:lnSpc>
            </a:pPr>
            <a:r>
              <a:t>January 8, 2026                                                                         </a:t>
            </a:r>
          </a:p>
          <a:p>
            <a:pPr marL="0" indent="0">
              <a:lnSpc>
                <a:spcPct val="80000"/>
              </a:lnSpc>
            </a:pPr>
            <a:r>
              <a:t>Adam Scott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Google Shape;147;p2"/>
          <p:cNvSpPr txBox="1">
            <a:spLocks noGrp="1"/>
          </p:cNvSpPr>
          <p:nvPr>
            <p:ph type="title"/>
          </p:nvPr>
        </p:nvSpPr>
        <p:spPr>
          <a:xfrm>
            <a:off x="2895600" y="764373"/>
            <a:ext cx="8610600" cy="1293028"/>
          </a:xfrm>
          <a:prstGeom prst="rect">
            <a:avLst/>
          </a:prstGeom>
        </p:spPr>
        <p:txBody>
          <a:bodyPr/>
          <a:lstStyle/>
          <a:p>
            <a:r>
              <a:t>AGENDA</a:t>
            </a:r>
          </a:p>
        </p:txBody>
      </p:sp>
      <p:sp>
        <p:nvSpPr>
          <p:cNvPr id="191" name="Google Shape;148;p2"/>
          <p:cNvSpPr txBox="1">
            <a:spLocks noGrp="1"/>
          </p:cNvSpPr>
          <p:nvPr>
            <p:ph type="body" idx="1"/>
          </p:nvPr>
        </p:nvSpPr>
        <p:spPr>
          <a:xfrm>
            <a:off x="685800" y="2194560"/>
            <a:ext cx="10820400" cy="4024125"/>
          </a:xfrm>
          <a:prstGeom prst="rect">
            <a:avLst/>
          </a:prstGeom>
        </p:spPr>
        <p:txBody>
          <a:bodyPr/>
          <a:lstStyle/>
          <a:p>
            <a:pPr marL="0" indent="129222">
              <a:lnSpc>
                <a:spcPct val="70000"/>
              </a:lnSpc>
              <a:spcBef>
                <a:spcPts val="0"/>
              </a:spcBef>
              <a:buSzTx/>
              <a:buNone/>
              <a:defRPr sz="2000"/>
            </a:pPr>
            <a:endParaRPr/>
          </a:p>
          <a:p>
            <a:pPr marL="228600" indent="-228600">
              <a:lnSpc>
                <a:spcPct val="70000"/>
              </a:lnSpc>
              <a:spcBef>
                <a:spcPts val="0"/>
              </a:spcBef>
              <a:buSzPts val="2000"/>
              <a:defRPr sz="2000"/>
            </a:pPr>
            <a:r>
              <a:t>Call to Order</a:t>
            </a:r>
          </a:p>
          <a:p>
            <a:pPr marL="0" indent="0">
              <a:lnSpc>
                <a:spcPct val="70000"/>
              </a:lnSpc>
              <a:spcBef>
                <a:spcPts val="0"/>
              </a:spcBef>
              <a:buSzTx/>
              <a:buNone/>
              <a:defRPr sz="2000"/>
            </a:pPr>
            <a:endParaRPr/>
          </a:p>
          <a:p>
            <a:pPr marL="228600" indent="-228600">
              <a:lnSpc>
                <a:spcPct val="70000"/>
              </a:lnSpc>
              <a:spcBef>
                <a:spcPts val="0"/>
              </a:spcBef>
              <a:buSzPts val="2000"/>
              <a:defRPr sz="2000"/>
            </a:pPr>
            <a:r>
              <a:t>Cocktail Presentation</a:t>
            </a:r>
          </a:p>
          <a:p>
            <a:pPr marL="228600" indent="-228600">
              <a:lnSpc>
                <a:spcPct val="70000"/>
              </a:lnSpc>
              <a:buSzPts val="2000"/>
              <a:defRPr sz="2000"/>
            </a:pPr>
            <a:r>
              <a:t>Warm-up Album One Presentation</a:t>
            </a:r>
          </a:p>
          <a:p>
            <a:pPr marL="228600" indent="-228600">
              <a:lnSpc>
                <a:spcPct val="70000"/>
              </a:lnSpc>
              <a:buSzPts val="2000"/>
              <a:defRPr sz="2000"/>
            </a:pPr>
            <a:r>
              <a:t>Old Business: Review &amp; Approval of the Minutes</a:t>
            </a:r>
          </a:p>
          <a:p>
            <a:pPr marL="228600" indent="-228600">
              <a:lnSpc>
                <a:spcPct val="70000"/>
              </a:lnSpc>
              <a:buSzPts val="2000"/>
              <a:defRPr sz="2000"/>
            </a:pPr>
            <a:r>
              <a:t>New Business: New Music, Books, &amp; Video; New Purchases; Concerts; etc.</a:t>
            </a:r>
          </a:p>
          <a:p>
            <a:pPr marL="228600" indent="-228600">
              <a:lnSpc>
                <a:spcPct val="70000"/>
              </a:lnSpc>
              <a:buSzPts val="2000"/>
              <a:defRPr sz="2000"/>
            </a:pPr>
            <a:r>
              <a:t>Warm-up Album Two Presentation</a:t>
            </a:r>
          </a:p>
          <a:p>
            <a:pPr marL="228600" indent="-228600">
              <a:lnSpc>
                <a:spcPct val="70000"/>
              </a:lnSpc>
              <a:buSzPts val="2000"/>
              <a:defRPr sz="2000"/>
            </a:pPr>
            <a:r>
              <a:t>Musicology</a:t>
            </a:r>
          </a:p>
          <a:p>
            <a:pPr marL="228600" indent="-228600">
              <a:lnSpc>
                <a:spcPct val="70000"/>
              </a:lnSpc>
              <a:buSzPts val="2000"/>
              <a:defRPr sz="2000"/>
            </a:pPr>
            <a:r>
              <a:t>Headliner Album Presentation</a:t>
            </a:r>
          </a:p>
          <a:p>
            <a:pPr marL="228600" indent="-228600">
              <a:lnSpc>
                <a:spcPct val="70000"/>
              </a:lnSpc>
              <a:buSzPts val="2000"/>
              <a:defRPr sz="2000"/>
            </a:pPr>
            <a:r>
              <a:t>Wrap Up</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Google Shape;153;p3"/>
          <p:cNvSpPr txBox="1">
            <a:spLocks noGrp="1"/>
          </p:cNvSpPr>
          <p:nvPr>
            <p:ph type="title"/>
          </p:nvPr>
        </p:nvSpPr>
        <p:spPr>
          <a:xfrm>
            <a:off x="2895600" y="764373"/>
            <a:ext cx="8610600" cy="1293028"/>
          </a:xfrm>
          <a:prstGeom prst="rect">
            <a:avLst/>
          </a:prstGeom>
        </p:spPr>
        <p:txBody>
          <a:bodyPr/>
          <a:lstStyle/>
          <a:p>
            <a:r>
              <a:t>CALL TO ORDER</a:t>
            </a:r>
          </a:p>
        </p:txBody>
      </p:sp>
      <p:sp>
        <p:nvSpPr>
          <p:cNvPr id="194" name="Google Shape;154;p3"/>
          <p:cNvSpPr txBox="1">
            <a:spLocks noGrp="1"/>
          </p:cNvSpPr>
          <p:nvPr>
            <p:ph type="body" idx="1"/>
          </p:nvPr>
        </p:nvSpPr>
        <p:spPr>
          <a:xfrm>
            <a:off x="685800" y="1754371"/>
            <a:ext cx="10820400" cy="4464315"/>
          </a:xfrm>
          <a:prstGeom prst="rect">
            <a:avLst/>
          </a:prstGeom>
        </p:spPr>
        <p:txBody>
          <a:bodyPr/>
          <a:lstStyle/>
          <a:p>
            <a:pPr marL="228600" indent="-228600">
              <a:lnSpc>
                <a:spcPct val="80000"/>
              </a:lnSpc>
              <a:spcBef>
                <a:spcPts val="0"/>
              </a:spcBef>
            </a:pPr>
            <a:r>
              <a:t>Executive Officers</a:t>
            </a:r>
          </a:p>
          <a:p>
            <a:pPr marL="685800" lvl="1" indent="-228600">
              <a:lnSpc>
                <a:spcPct val="80000"/>
              </a:lnSpc>
              <a:spcBef>
                <a:spcPts val="500"/>
              </a:spcBef>
              <a:buSzPts val="2000"/>
              <a:defRPr sz="2000"/>
            </a:pPr>
            <a:r>
              <a:t>Chris Clement</a:t>
            </a:r>
          </a:p>
          <a:p>
            <a:pPr marL="685800" lvl="1" indent="-228600">
              <a:lnSpc>
                <a:spcPct val="80000"/>
              </a:lnSpc>
              <a:spcBef>
                <a:spcPts val="500"/>
              </a:spcBef>
              <a:buSzPts val="2000"/>
              <a:defRPr sz="2000"/>
            </a:pPr>
            <a:r>
              <a:t>Joe Ziegler</a:t>
            </a:r>
          </a:p>
          <a:p>
            <a:pPr marL="685800" lvl="1" indent="-228600">
              <a:lnSpc>
                <a:spcPct val="80000"/>
              </a:lnSpc>
              <a:spcBef>
                <a:spcPts val="500"/>
              </a:spcBef>
              <a:buSzPts val="2000"/>
              <a:defRPr sz="2000"/>
            </a:pPr>
            <a:r>
              <a:t>John Williams</a:t>
            </a:r>
          </a:p>
          <a:p>
            <a:pPr marL="228600" indent="-228600">
              <a:lnSpc>
                <a:spcPct val="80000"/>
              </a:lnSpc>
            </a:pPr>
            <a:r>
              <a:t>Regional Manager</a:t>
            </a:r>
          </a:p>
          <a:p>
            <a:pPr marL="685800" lvl="1" indent="-228600">
              <a:lnSpc>
                <a:spcPct val="80000"/>
              </a:lnSpc>
              <a:buSzPts val="2000"/>
              <a:defRPr sz="2000"/>
            </a:pPr>
            <a:r>
              <a:t>Adam Scott</a:t>
            </a:r>
          </a:p>
          <a:p>
            <a:pPr marL="228600" indent="-228600">
              <a:lnSpc>
                <a:spcPct val="80000"/>
              </a:lnSpc>
            </a:pPr>
            <a:r>
              <a:t>Janitor</a:t>
            </a:r>
          </a:p>
          <a:p>
            <a:pPr marL="685800" lvl="1" indent="-228600">
              <a:lnSpc>
                <a:spcPct val="80000"/>
              </a:lnSpc>
              <a:spcBef>
                <a:spcPts val="500"/>
              </a:spcBef>
              <a:buSzPts val="2000"/>
              <a:defRPr sz="2000"/>
            </a:pPr>
            <a:r>
              <a:t>Lucas Womack</a:t>
            </a:r>
          </a:p>
          <a:p>
            <a:pPr marL="228600" indent="-228600">
              <a:lnSpc>
                <a:spcPct val="80000"/>
              </a:lnSpc>
            </a:pPr>
            <a:r>
              <a:t>Guests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Google Shape;159;p8"/>
          <p:cNvSpPr txBox="1">
            <a:spLocks noGrp="1"/>
          </p:cNvSpPr>
          <p:nvPr>
            <p:ph type="title"/>
          </p:nvPr>
        </p:nvSpPr>
        <p:spPr>
          <a:xfrm>
            <a:off x="4722540" y="280390"/>
            <a:ext cx="6873242" cy="631374"/>
          </a:xfrm>
          <a:prstGeom prst="rect">
            <a:avLst/>
          </a:prstGeom>
        </p:spPr>
        <p:txBody>
          <a:bodyPr/>
          <a:lstStyle/>
          <a:p>
            <a:r>
              <a:t>COCKTAIL PRESENTATION</a:t>
            </a:r>
          </a:p>
        </p:txBody>
      </p:sp>
      <p:sp>
        <p:nvSpPr>
          <p:cNvPr id="197" name="Google Shape;160;p8"/>
          <p:cNvSpPr txBox="1">
            <a:spLocks noGrp="1"/>
          </p:cNvSpPr>
          <p:nvPr>
            <p:ph type="body" sz="half" idx="1"/>
          </p:nvPr>
        </p:nvSpPr>
        <p:spPr>
          <a:xfrm>
            <a:off x="371967" y="2363192"/>
            <a:ext cx="5261029" cy="4170564"/>
          </a:xfrm>
          <a:prstGeom prst="rect">
            <a:avLst/>
          </a:prstGeom>
        </p:spPr>
        <p:txBody>
          <a:bodyPr/>
          <a:lstStyle/>
          <a:p>
            <a:pPr indent="189737" defTabSz="758951">
              <a:spcBef>
                <a:spcPts val="800"/>
              </a:spcBef>
              <a:defRPr sz="1328"/>
            </a:pPr>
            <a:r>
              <a:t>Ingredients:</a:t>
            </a:r>
          </a:p>
          <a:p>
            <a:pPr marL="379475" indent="-189737" defTabSz="758951">
              <a:spcBef>
                <a:spcPts val="800"/>
              </a:spcBef>
              <a:buClr>
                <a:srgbClr val="FFFFFF"/>
              </a:buClr>
              <a:buSzPts val="1300"/>
              <a:buFont typeface="Arial"/>
              <a:buChar char="•"/>
              <a:defRPr sz="1328"/>
            </a:pPr>
            <a:r>
              <a:t>1.5 oz Gin</a:t>
            </a:r>
          </a:p>
          <a:p>
            <a:pPr marL="379475" indent="-189737" defTabSz="758951">
              <a:spcBef>
                <a:spcPts val="800"/>
              </a:spcBef>
              <a:buClr>
                <a:srgbClr val="FFFFFF"/>
              </a:buClr>
              <a:buSzPts val="1300"/>
              <a:buFont typeface="Arial"/>
              <a:buChar char="•"/>
              <a:defRPr sz="1328"/>
            </a:pPr>
            <a:r>
              <a:t>0.75 oz Campari</a:t>
            </a:r>
          </a:p>
          <a:p>
            <a:pPr marL="379475" indent="-189737" defTabSz="758951">
              <a:spcBef>
                <a:spcPts val="800"/>
              </a:spcBef>
              <a:buClr>
                <a:srgbClr val="FFFFFF"/>
              </a:buClr>
              <a:buSzPts val="1300"/>
              <a:buFont typeface="Arial"/>
              <a:buChar char="•"/>
              <a:defRPr sz="1328"/>
            </a:pPr>
            <a:r>
              <a:t>0.75 oz Lillet Blanc</a:t>
            </a:r>
          </a:p>
          <a:p>
            <a:pPr marL="379475" indent="-189737" defTabSz="758951">
              <a:spcBef>
                <a:spcPts val="800"/>
              </a:spcBef>
              <a:buClr>
                <a:srgbClr val="FFFFFF"/>
              </a:buClr>
              <a:buSzPts val="1300"/>
              <a:buFont typeface="Arial"/>
              <a:buChar char="•"/>
              <a:defRPr sz="1328"/>
            </a:pPr>
            <a:r>
              <a:t>0.25 oz Benedictine</a:t>
            </a:r>
          </a:p>
          <a:p>
            <a:pPr marL="379475" indent="-189737" defTabSz="758951">
              <a:spcBef>
                <a:spcPts val="800"/>
              </a:spcBef>
              <a:buClr>
                <a:srgbClr val="FFFFFF"/>
              </a:buClr>
              <a:buSzPts val="1300"/>
              <a:buFont typeface="Arial"/>
              <a:buChar char="•"/>
              <a:defRPr sz="1328"/>
            </a:pPr>
            <a:r>
              <a:t>0.25 oz Cointreau</a:t>
            </a:r>
          </a:p>
          <a:p>
            <a:pPr marL="379475" indent="-189737" defTabSz="758951">
              <a:spcBef>
                <a:spcPts val="800"/>
              </a:spcBef>
              <a:buClr>
                <a:srgbClr val="FFFFFF"/>
              </a:buClr>
              <a:buSzPts val="1300"/>
              <a:buFont typeface="Arial"/>
              <a:buChar char="•"/>
              <a:defRPr sz="1328"/>
            </a:pPr>
            <a:r>
              <a:t>Club soda, chilled, to top</a:t>
            </a:r>
          </a:p>
          <a:p>
            <a:pPr marL="379475" indent="-189737" defTabSz="758951">
              <a:spcBef>
                <a:spcPts val="800"/>
              </a:spcBef>
              <a:buClr>
                <a:srgbClr val="FFFFFF"/>
              </a:buClr>
              <a:buSzPts val="1300"/>
              <a:buFont typeface="Arial"/>
              <a:buChar char="•"/>
              <a:defRPr sz="1328"/>
            </a:pPr>
            <a:r>
              <a:t>Garnish: orange twist</a:t>
            </a:r>
          </a:p>
          <a:p>
            <a:pPr indent="189737" defTabSz="758951">
              <a:spcBef>
                <a:spcPts val="800"/>
              </a:spcBef>
              <a:defRPr sz="1328"/>
            </a:pPr>
            <a:br/>
            <a:r>
              <a:t>Steps: </a:t>
            </a:r>
          </a:p>
          <a:p>
            <a:pPr marL="474344" indent="-284606" defTabSz="758951">
              <a:spcBef>
                <a:spcPts val="800"/>
              </a:spcBef>
              <a:buClr>
                <a:srgbClr val="FFFFFF"/>
              </a:buClr>
              <a:buSzPts val="1300"/>
              <a:buAutoNum type="arabicPeriod"/>
              <a:defRPr sz="1328"/>
            </a:pPr>
            <a:r>
              <a:t>Add all ingredients (except club soda) into a shaker with ice and shake until well-chilled.</a:t>
            </a:r>
          </a:p>
          <a:p>
            <a:pPr marL="474344" indent="-284606" defTabSz="758951">
              <a:spcBef>
                <a:spcPts val="800"/>
              </a:spcBef>
              <a:buClr>
                <a:srgbClr val="FFFFFF"/>
              </a:buClr>
              <a:buSzPts val="1300"/>
              <a:buAutoNum type="arabicPeriod"/>
              <a:defRPr sz="1328"/>
            </a:pPr>
            <a:r>
              <a:t>Strain into a rocks glass over fresh ice</a:t>
            </a:r>
          </a:p>
          <a:p>
            <a:pPr marL="474344" indent="-284606" defTabSz="758951">
              <a:spcBef>
                <a:spcPts val="800"/>
              </a:spcBef>
              <a:buClr>
                <a:srgbClr val="FFFFFF"/>
              </a:buClr>
              <a:buSzPts val="1300"/>
              <a:buAutoNum type="arabicPeriod"/>
              <a:defRPr sz="1328"/>
            </a:pPr>
            <a:r>
              <a:t>Top with club soda and stir briefly and gently to combine</a:t>
            </a:r>
          </a:p>
          <a:p>
            <a:pPr marL="474344" indent="-284606" defTabSz="758951">
              <a:spcBef>
                <a:spcPts val="800"/>
              </a:spcBef>
              <a:buClr>
                <a:srgbClr val="FFFFFF"/>
              </a:buClr>
              <a:buSzPts val="1300"/>
              <a:buAutoNum type="arabicPeriod"/>
              <a:defRPr sz="1328"/>
            </a:pPr>
            <a:r>
              <a:t>Garnish with an orange twist</a:t>
            </a:r>
          </a:p>
        </p:txBody>
      </p:sp>
      <p:sp>
        <p:nvSpPr>
          <p:cNvPr id="198" name="Google Shape;161;p8"/>
          <p:cNvSpPr txBox="1"/>
          <p:nvPr/>
        </p:nvSpPr>
        <p:spPr>
          <a:xfrm>
            <a:off x="639698" y="1715589"/>
            <a:ext cx="2236414" cy="4606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b">
            <a:normAutofit/>
          </a:bodyPr>
          <a:lstStyle>
            <a:lvl1pPr defTabSz="502919">
              <a:lnSpc>
                <a:spcPct val="90000"/>
              </a:lnSpc>
              <a:defRPr sz="1700" b="1">
                <a:solidFill>
                  <a:srgbClr val="FFFFFF"/>
                </a:solidFill>
                <a:latin typeface="Century Gothic"/>
                <a:ea typeface="Century Gothic"/>
                <a:cs typeface="Century Gothic"/>
                <a:sym typeface="Century Gothic"/>
              </a:defRPr>
            </a:lvl1pPr>
          </a:lstStyle>
          <a:p>
            <a:r>
              <a:t>C&amp;B Old Fashioned</a:t>
            </a:r>
          </a:p>
        </p:txBody>
      </p:sp>
      <p:pic>
        <p:nvPicPr>
          <p:cNvPr id="199" name="Image" descr="Image"/>
          <p:cNvPicPr>
            <a:picLocks noChangeAspect="1"/>
          </p:cNvPicPr>
          <p:nvPr/>
        </p:nvPicPr>
        <p:blipFill>
          <a:blip r:embed="rId2"/>
          <a:stretch>
            <a:fillRect/>
          </a:stretch>
        </p:blipFill>
        <p:spPr>
          <a:xfrm>
            <a:off x="6117323" y="1160702"/>
            <a:ext cx="5261029" cy="5261029"/>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Google Shape;167;p9"/>
          <p:cNvSpPr txBox="1">
            <a:spLocks noGrp="1"/>
          </p:cNvSpPr>
          <p:nvPr>
            <p:ph type="title"/>
          </p:nvPr>
        </p:nvSpPr>
        <p:spPr>
          <a:xfrm>
            <a:off x="5018047" y="520347"/>
            <a:ext cx="6488154" cy="1293028"/>
          </a:xfrm>
          <a:prstGeom prst="rect">
            <a:avLst/>
          </a:prstGeom>
        </p:spPr>
        <p:txBody>
          <a:bodyPr/>
          <a:lstStyle/>
          <a:p>
            <a:r>
              <a:t>COCKTAIL PRESENTATION</a:t>
            </a:r>
          </a:p>
        </p:txBody>
      </p:sp>
      <p:sp>
        <p:nvSpPr>
          <p:cNvPr id="202" name="Google Shape;168;p9"/>
          <p:cNvSpPr txBox="1">
            <a:spLocks noGrp="1"/>
          </p:cNvSpPr>
          <p:nvPr>
            <p:ph type="body" sz="half" idx="1"/>
          </p:nvPr>
        </p:nvSpPr>
        <p:spPr>
          <a:xfrm>
            <a:off x="685800" y="2194560"/>
            <a:ext cx="5417207" cy="4024125"/>
          </a:xfrm>
          <a:prstGeom prst="rect">
            <a:avLst/>
          </a:prstGeom>
        </p:spPr>
        <p:txBody>
          <a:bodyPr/>
          <a:lstStyle/>
          <a:p>
            <a:pPr marL="0" indent="0" defTabSz="502919">
              <a:lnSpc>
                <a:spcPct val="120000"/>
              </a:lnSpc>
              <a:spcBef>
                <a:spcPts val="0"/>
              </a:spcBef>
              <a:buSzTx/>
              <a:buNone/>
              <a:defRPr sz="1300" b="1"/>
            </a:pPr>
            <a:r>
              <a:t>C&amp;B Old Fashioned</a:t>
            </a:r>
          </a:p>
          <a:p>
            <a:pPr marL="0" indent="0" defTabSz="502919">
              <a:lnSpc>
                <a:spcPct val="120000"/>
              </a:lnSpc>
              <a:spcBef>
                <a:spcPts val="0"/>
              </a:spcBef>
              <a:buSzTx/>
              <a:buNone/>
              <a:defRPr sz="1300"/>
            </a:pPr>
            <a:br>
              <a:rPr b="1"/>
            </a:br>
            <a:r>
              <a:t>The C&amp;B Old Fashioned is named for the cocktail’s use of Campari and Benedictine, but the drink also calls for Lillet Blanc and Cointreau in addition to the gin. If you’re counting, that’s one spirit, three liqueurs, and a wine-based aperitif.</a:t>
            </a:r>
          </a:p>
          <a:p>
            <a:pPr marL="0" indent="0" defTabSz="502919">
              <a:lnSpc>
                <a:spcPct val="120000"/>
              </a:lnSpc>
              <a:spcBef>
                <a:spcPts val="0"/>
              </a:spcBef>
              <a:buSzTx/>
              <a:buNone/>
              <a:defRPr sz="1300"/>
            </a:pPr>
            <a:endParaRPr/>
          </a:p>
          <a:p>
            <a:pPr marL="0" indent="0" defTabSz="502919">
              <a:lnSpc>
                <a:spcPct val="120000"/>
              </a:lnSpc>
              <a:spcBef>
                <a:spcPts val="0"/>
              </a:spcBef>
              <a:buSzTx/>
              <a:buNone/>
              <a:defRPr sz="1300"/>
            </a:pPr>
            <a:r>
              <a:rPr b="1"/>
              <a:t>It’s</a:t>
            </a:r>
            <a:r>
              <a:t> an original recipe from New York bartending veteran and distiller Allen Katz.  Katz helped to forge the modern face of New York City’s distilling scene—his Brooklyn company opened in 2011 with two American-style gins. Today, many count him among the ranks of America’s spirit luminaries.</a:t>
            </a:r>
          </a:p>
        </p:txBody>
      </p:sp>
      <p:pic>
        <p:nvPicPr>
          <p:cNvPr id="203" name="Image" descr="Image"/>
          <p:cNvPicPr>
            <a:picLocks noChangeAspect="1"/>
          </p:cNvPicPr>
          <p:nvPr/>
        </p:nvPicPr>
        <p:blipFill>
          <a:blip r:embed="rId2"/>
          <a:stretch>
            <a:fillRect/>
          </a:stretch>
        </p:blipFill>
        <p:spPr>
          <a:xfrm>
            <a:off x="6880336" y="1991514"/>
            <a:ext cx="4430217" cy="4430217"/>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Google Shape;224;p55"/>
          <p:cNvSpPr txBox="1">
            <a:spLocks noGrp="1"/>
          </p:cNvSpPr>
          <p:nvPr>
            <p:ph type="title"/>
          </p:nvPr>
        </p:nvSpPr>
        <p:spPr>
          <a:xfrm>
            <a:off x="6096000" y="385997"/>
            <a:ext cx="5353156" cy="1001928"/>
          </a:xfrm>
          <a:prstGeom prst="rect">
            <a:avLst/>
          </a:prstGeom>
        </p:spPr>
        <p:txBody>
          <a:bodyPr/>
          <a:lstStyle>
            <a:lvl1pPr defTabSz="877822">
              <a:defRPr sz="3400"/>
            </a:lvl1pPr>
          </a:lstStyle>
          <a:p>
            <a:r>
              <a:t>WARM-UP ALBUM ONE</a:t>
            </a:r>
          </a:p>
        </p:txBody>
      </p:sp>
      <p:sp>
        <p:nvSpPr>
          <p:cNvPr id="206" name="Google Shape;225;p55"/>
          <p:cNvSpPr txBox="1">
            <a:spLocks noGrp="1"/>
          </p:cNvSpPr>
          <p:nvPr>
            <p:ph type="body" sz="half" idx="1"/>
          </p:nvPr>
        </p:nvSpPr>
        <p:spPr>
          <a:xfrm>
            <a:off x="269966" y="1854926"/>
            <a:ext cx="6096001" cy="4554583"/>
          </a:xfrm>
          <a:prstGeom prst="rect">
            <a:avLst/>
          </a:prstGeom>
        </p:spPr>
        <p:txBody>
          <a:bodyPr/>
          <a:lstStyle/>
          <a:p>
            <a:pPr marL="0" indent="0" defTabSz="731520">
              <a:spcBef>
                <a:spcPts val="0"/>
              </a:spcBef>
              <a:buSzTx/>
              <a:buNone/>
              <a:defRPr sz="1920" b="1"/>
            </a:pPr>
            <a:r>
              <a:t>Boots - AQUΛRIA</a:t>
            </a:r>
          </a:p>
          <a:p>
            <a:pPr marL="0" lvl="1" indent="365760" defTabSz="731520">
              <a:spcBef>
                <a:spcPts val="400"/>
              </a:spcBef>
              <a:buSzTx/>
              <a:buNone/>
              <a:defRPr sz="1600"/>
            </a:pPr>
            <a:endParaRPr/>
          </a:p>
          <a:p>
            <a:pPr marL="548640" lvl="1" indent="-182880" defTabSz="731520">
              <a:spcBef>
                <a:spcPts val="400"/>
              </a:spcBef>
              <a:buSzPts val="1600"/>
              <a:defRPr sz="1600"/>
            </a:pPr>
            <a:r>
              <a:t>Released: November 13, 2015</a:t>
            </a:r>
          </a:p>
          <a:p>
            <a:pPr marL="548640" lvl="1" indent="-182880" defTabSz="731520">
              <a:spcBef>
                <a:spcPts val="400"/>
              </a:spcBef>
              <a:buSzPts val="1600"/>
              <a:defRPr sz="1600"/>
            </a:pPr>
            <a:r>
              <a:t>Label: Columbia</a:t>
            </a:r>
          </a:p>
          <a:p>
            <a:pPr marL="548640" lvl="1" indent="-182880" defTabSz="731520">
              <a:spcBef>
                <a:spcPts val="400"/>
              </a:spcBef>
              <a:buSzPts val="1600"/>
              <a:defRPr sz="1600"/>
            </a:pPr>
            <a:r>
              <a:t>Producer: BOOTS, El-P, Carla Azar, Gabe Wax</a:t>
            </a:r>
          </a:p>
          <a:p>
            <a:pPr marL="27431" indent="-54862" defTabSz="731520">
              <a:spcBef>
                <a:spcPts val="400"/>
              </a:spcBef>
              <a:buSzTx/>
              <a:buNone/>
              <a:defRPr sz="1120"/>
            </a:pPr>
            <a:endParaRPr/>
          </a:p>
          <a:p>
            <a:pPr marL="27431" indent="-54862" defTabSz="731520">
              <a:spcBef>
                <a:spcPts val="400"/>
              </a:spcBef>
              <a:buSzTx/>
              <a:buNone/>
              <a:defRPr sz="1600"/>
            </a:pPr>
            <a:r>
              <a:t>Debut </a:t>
            </a:r>
            <a:r>
              <a:rPr>
                <a:solidFill>
                  <a:srgbClr val="3366CC"/>
                </a:solidFill>
                <a:hlinkClick r:id="rId2"/>
              </a:rPr>
              <a:t>studio album</a:t>
            </a:r>
            <a:r>
              <a:t> by the American record producer, singer-songwriter, </a:t>
            </a:r>
            <a:r>
              <a:rPr>
                <a:solidFill>
                  <a:srgbClr val="3366CC"/>
                </a:solidFill>
                <a:hlinkClick r:id="rId3"/>
              </a:rPr>
              <a:t>rapper</a:t>
            </a:r>
            <a:r>
              <a:t> and musician </a:t>
            </a:r>
            <a:r>
              <a:rPr>
                <a:solidFill>
                  <a:srgbClr val="3366CC"/>
                </a:solidFill>
                <a:hlinkClick r:id="rId4"/>
              </a:rPr>
              <a:t>Boots</a:t>
            </a:r>
            <a:r>
              <a:t>. The album has charted at number 14 on the </a:t>
            </a:r>
            <a:r>
              <a:rPr i="1">
                <a:solidFill>
                  <a:srgbClr val="3366CC"/>
                </a:solidFill>
                <a:hlinkClick r:id="rId5"/>
              </a:rPr>
              <a:t>Billboard</a:t>
            </a:r>
            <a:r>
              <a:t> </a:t>
            </a:r>
            <a:r>
              <a:rPr>
                <a:solidFill>
                  <a:srgbClr val="3366CC"/>
                </a:solidFill>
                <a:hlinkClick r:id="rId6"/>
              </a:rPr>
              <a:t>Top Heatseekers</a:t>
            </a:r>
            <a:r>
              <a:t> chart in the United States.</a:t>
            </a:r>
          </a:p>
          <a:p>
            <a:pPr marL="27431" indent="-54862" defTabSz="731520">
              <a:spcBef>
                <a:spcPts val="400"/>
              </a:spcBef>
              <a:buSzTx/>
              <a:buNone/>
              <a:defRPr sz="1600"/>
            </a:pPr>
            <a:r>
              <a:t>Boots came to worldwide attention in December 2013 when </a:t>
            </a:r>
            <a:r>
              <a:rPr>
                <a:solidFill>
                  <a:srgbClr val="3366CC"/>
                </a:solidFill>
                <a:hlinkClick r:id="rId7"/>
              </a:rPr>
              <a:t>Beyoncé</a:t>
            </a:r>
            <a:r>
              <a:t> released her highly successful fifth studio album </a:t>
            </a:r>
            <a:r>
              <a:rPr i="1">
                <a:solidFill>
                  <a:srgbClr val="3366CC"/>
                </a:solidFill>
                <a:hlinkClick r:id="rId8"/>
              </a:rPr>
              <a:t>Beyoncé</a:t>
            </a:r>
            <a:r>
              <a:t>, for which BOOTS had written and produced several songs.</a:t>
            </a:r>
          </a:p>
          <a:p>
            <a:pPr marL="27431" indent="-54862" defTabSz="731520">
              <a:spcBef>
                <a:spcPts val="400"/>
              </a:spcBef>
              <a:buSzTx/>
              <a:buNone/>
              <a:defRPr sz="1600"/>
            </a:pPr>
            <a:r>
              <a:t>On AQUΛRIA, Boots combines the best of R&amp;B, rock, electronic, rap, and pop sensibilities for a futuristic sound that comes close to achieving a musical mono-genre singularity.</a:t>
            </a:r>
          </a:p>
        </p:txBody>
      </p:sp>
      <p:pic>
        <p:nvPicPr>
          <p:cNvPr id="207" name="Image" descr="Image"/>
          <p:cNvPicPr>
            <a:picLocks noChangeAspect="1"/>
          </p:cNvPicPr>
          <p:nvPr/>
        </p:nvPicPr>
        <p:blipFill>
          <a:blip r:embed="rId9"/>
          <a:stretch>
            <a:fillRect/>
          </a:stretch>
        </p:blipFill>
        <p:spPr>
          <a:xfrm>
            <a:off x="7203651" y="1811681"/>
            <a:ext cx="4013201" cy="4013201"/>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Google Shape;187;p7"/>
          <p:cNvSpPr txBox="1">
            <a:spLocks noGrp="1"/>
          </p:cNvSpPr>
          <p:nvPr>
            <p:ph type="title"/>
          </p:nvPr>
        </p:nvSpPr>
        <p:spPr>
          <a:xfrm>
            <a:off x="2895600" y="764373"/>
            <a:ext cx="8610600" cy="1293028"/>
          </a:xfrm>
          <a:prstGeom prst="rect">
            <a:avLst/>
          </a:prstGeom>
        </p:spPr>
        <p:txBody>
          <a:bodyPr/>
          <a:lstStyle/>
          <a:p>
            <a:r>
              <a:t>OLD BUSINESS: REVIEW &amp; APPROVAL OF THE MINUTES</a:t>
            </a:r>
          </a:p>
        </p:txBody>
      </p:sp>
      <p:sp>
        <p:nvSpPr>
          <p:cNvPr id="210" name="Google Shape;188;p7"/>
          <p:cNvSpPr txBox="1">
            <a:spLocks noGrp="1"/>
          </p:cNvSpPr>
          <p:nvPr>
            <p:ph type="body" idx="1"/>
          </p:nvPr>
        </p:nvSpPr>
        <p:spPr>
          <a:xfrm>
            <a:off x="329783" y="2194560"/>
            <a:ext cx="11647360" cy="4568191"/>
          </a:xfrm>
          <a:prstGeom prst="rect">
            <a:avLst/>
          </a:prstGeom>
        </p:spPr>
        <p:txBody>
          <a:bodyPr/>
          <a:lstStyle/>
          <a:p>
            <a:pPr marL="0" indent="70949" defTabSz="635690">
              <a:lnSpc>
                <a:spcPct val="81000"/>
              </a:lnSpc>
              <a:spcBef>
                <a:spcPts val="600"/>
              </a:spcBef>
              <a:buSzTx/>
              <a:buNone/>
              <a:defRPr sz="2291"/>
            </a:pPr>
            <a:r>
              <a:t>VCL 11/13/2025 Notes</a:t>
            </a:r>
            <a:endParaRPr sz="790"/>
          </a:p>
          <a:p>
            <a:pPr marL="0" indent="79461" defTabSz="635690">
              <a:lnSpc>
                <a:spcPct val="81000"/>
              </a:lnSpc>
              <a:spcBef>
                <a:spcPts val="600"/>
              </a:spcBef>
              <a:buSzTx/>
              <a:buNone/>
              <a:defRPr sz="869"/>
            </a:pPr>
            <a:endParaRPr sz="790"/>
          </a:p>
          <a:p>
            <a:pPr marL="361188" indent="-270890" defTabSz="722376">
              <a:spcBef>
                <a:spcPts val="700"/>
              </a:spcBef>
              <a:buSzPts val="1700"/>
              <a:defRPr sz="1738"/>
            </a:pPr>
            <a:r>
              <a:t>Joe and John saw Sir Paul at Nationwide in CBus</a:t>
            </a:r>
          </a:p>
          <a:p>
            <a:pPr marL="361188" indent="-270890" defTabSz="722376">
              <a:spcBef>
                <a:spcPts val="700"/>
              </a:spcBef>
              <a:buSzPts val="1700"/>
              <a:defRPr sz="1738"/>
            </a:pPr>
            <a:r>
              <a:t>Park Street - dive bar w/ a live band after the concert</a:t>
            </a:r>
          </a:p>
          <a:p>
            <a:pPr marL="361188" indent="-270890" defTabSz="722376">
              <a:spcBef>
                <a:spcPts val="700"/>
              </a:spcBef>
              <a:buSzPts val="1700"/>
              <a:defRPr sz="1738"/>
            </a:pPr>
            <a:r>
              <a:t>Joe sad the concert was top notch</a:t>
            </a:r>
          </a:p>
          <a:p>
            <a:pPr marL="361188" indent="-270890" defTabSz="722376">
              <a:spcBef>
                <a:spcPts val="700"/>
              </a:spcBef>
              <a:buSzPts val="1700"/>
              <a:defRPr sz="1738"/>
            </a:pPr>
            <a:r>
              <a:t>Cocktail</a:t>
            </a:r>
            <a:r>
              <a:rPr b="1"/>
              <a:t>:</a:t>
            </a:r>
            <a:r>
              <a:t> </a:t>
            </a:r>
            <a:r>
              <a:rPr i="1"/>
              <a:t>Mexican Firing Squad, discovered at a bar La Cucaracha (“The Cockroach”) in Mexico City around 1937</a:t>
            </a:r>
          </a:p>
          <a:p>
            <a:pPr marL="361188" indent="-270890" defTabSz="722376">
              <a:spcBef>
                <a:spcPts val="700"/>
              </a:spcBef>
              <a:buSzPts val="1700"/>
              <a:defRPr sz="1738"/>
            </a:pPr>
            <a:r>
              <a:t>Warm-Up Album 1</a:t>
            </a:r>
            <a:r>
              <a:rPr b="1"/>
              <a:t>:</a:t>
            </a:r>
            <a:r>
              <a:t> </a:t>
            </a:r>
            <a:r>
              <a:rPr i="1"/>
              <a:t>Patty Smith - Horses. [ChatGPT was used to provide notes about the album] Is John lazy or resourceful?</a:t>
            </a:r>
          </a:p>
          <a:p>
            <a:pPr marL="361188" indent="-270890" defTabSz="722376">
              <a:spcBef>
                <a:spcPts val="700"/>
              </a:spcBef>
              <a:buSzPts val="1700"/>
              <a:defRPr sz="1738"/>
            </a:pPr>
            <a:r>
              <a:t>Joe sneezed and asked if the heart stops when you sneeze - NO. Lucas said rumors start from sneezing</a:t>
            </a:r>
            <a:endParaRPr i="1"/>
          </a:p>
          <a:p>
            <a:pPr marL="361188" indent="-270890" defTabSz="722376">
              <a:spcBef>
                <a:spcPts val="700"/>
              </a:spcBef>
              <a:buSzPts val="1700"/>
              <a:defRPr sz="1738"/>
            </a:pPr>
            <a:r>
              <a:t>Mansfield is famous for Carousel Works - renowned manufacturer of hand-carved wooden carousels</a:t>
            </a:r>
          </a:p>
          <a:p>
            <a:pPr marL="361188" indent="-270890" defTabSz="722376">
              <a:spcBef>
                <a:spcPts val="700"/>
              </a:spcBef>
              <a:buSzPts val="1700"/>
              <a:defRPr sz="1738"/>
            </a:pPr>
            <a:r>
              <a:t>Warm up album 2: Sinead O’Connor - The Lion and the Cobra</a:t>
            </a:r>
          </a:p>
          <a:p>
            <a:pPr marL="361188" indent="-270890" defTabSz="722376">
              <a:spcBef>
                <a:spcPts val="700"/>
              </a:spcBef>
              <a:buSzPts val="1700"/>
              <a:defRPr sz="1738"/>
            </a:pPr>
            <a:r>
              <a:t>Lucas drank with Waxahatchee and inspired her to enter rehab for drinking</a:t>
            </a:r>
          </a:p>
          <a:p>
            <a:pPr marL="361188" indent="-270890" defTabSz="722376">
              <a:spcBef>
                <a:spcPts val="700"/>
              </a:spcBef>
              <a:buSzPts val="1700"/>
              <a:defRPr sz="1738"/>
            </a:pPr>
            <a:r>
              <a:t>Cure film coming to theaters - John suggested a VCL field trip</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Google Shape;187;p7"/>
          <p:cNvSpPr txBox="1">
            <a:spLocks noGrp="1"/>
          </p:cNvSpPr>
          <p:nvPr>
            <p:ph type="title"/>
          </p:nvPr>
        </p:nvSpPr>
        <p:spPr>
          <a:xfrm>
            <a:off x="2895600" y="764373"/>
            <a:ext cx="8610600" cy="1293028"/>
          </a:xfrm>
          <a:prstGeom prst="rect">
            <a:avLst/>
          </a:prstGeom>
        </p:spPr>
        <p:txBody>
          <a:bodyPr/>
          <a:lstStyle/>
          <a:p>
            <a:r>
              <a:t>OLD BUSINESS: REVIEW &amp; APPROVAL OF THE MINUTES</a:t>
            </a:r>
          </a:p>
        </p:txBody>
      </p:sp>
      <p:sp>
        <p:nvSpPr>
          <p:cNvPr id="213" name="Google Shape;188;p7"/>
          <p:cNvSpPr txBox="1">
            <a:spLocks noGrp="1"/>
          </p:cNvSpPr>
          <p:nvPr>
            <p:ph type="body" idx="1"/>
          </p:nvPr>
        </p:nvSpPr>
        <p:spPr>
          <a:xfrm>
            <a:off x="329783" y="2194560"/>
            <a:ext cx="11647360" cy="4568191"/>
          </a:xfrm>
          <a:prstGeom prst="rect">
            <a:avLst/>
          </a:prstGeom>
        </p:spPr>
        <p:txBody>
          <a:bodyPr/>
          <a:lstStyle/>
          <a:p>
            <a:pPr marL="0" indent="89808" defTabSz="804672">
              <a:lnSpc>
                <a:spcPct val="81000"/>
              </a:lnSpc>
              <a:spcBef>
                <a:spcPts val="800"/>
              </a:spcBef>
              <a:buSzTx/>
              <a:buNone/>
              <a:defRPr sz="2900"/>
            </a:pPr>
            <a:r>
              <a:t>VCL 11/13/2025 Notes</a:t>
            </a:r>
            <a:endParaRPr sz="700"/>
          </a:p>
          <a:p>
            <a:pPr marL="0" indent="100584" defTabSz="804672">
              <a:lnSpc>
                <a:spcPct val="81000"/>
              </a:lnSpc>
              <a:spcBef>
                <a:spcPts val="800"/>
              </a:spcBef>
              <a:buSzTx/>
              <a:buNone/>
              <a:defRPr sz="1100"/>
            </a:pPr>
            <a:endParaRPr sz="700"/>
          </a:p>
          <a:p>
            <a:r>
              <a:t>John screwed up the 2nd round of drinks - he forgot the bitters. Should be called the Fraud Squad</a:t>
            </a:r>
          </a:p>
          <a:p>
            <a:r>
              <a:t>Chris got a birthday shout out at the Nations of Language concert</a:t>
            </a:r>
          </a:p>
          <a:p>
            <a:r>
              <a:t>Musicology: Paul McCartney - Arguably the most important musician of our lifetime</a:t>
            </a:r>
          </a:p>
          <a:p>
            <a:r>
              <a:t>Headliner: Liz Phair - Exile to Guyville</a:t>
            </a:r>
          </a:p>
          <a:p>
            <a:r>
              <a:t>Joes says we are subsidizing slavery by listening to Spotify. Streaming services pay very little for each play of an artist’s track</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Google Shape;199;p49"/>
          <p:cNvSpPr txBox="1">
            <a:spLocks noGrp="1"/>
          </p:cNvSpPr>
          <p:nvPr>
            <p:ph type="title"/>
          </p:nvPr>
        </p:nvSpPr>
        <p:spPr>
          <a:xfrm>
            <a:off x="2540851" y="165407"/>
            <a:ext cx="9016847" cy="1293029"/>
          </a:xfrm>
          <a:prstGeom prst="rect">
            <a:avLst/>
          </a:prstGeom>
        </p:spPr>
        <p:txBody>
          <a:bodyPr/>
          <a:lstStyle/>
          <a:p>
            <a:pPr defTabSz="713230">
              <a:defRPr sz="2800"/>
            </a:pPr>
            <a:r>
              <a:t>NEW BUSINESS</a:t>
            </a:r>
            <a:br/>
            <a:r>
              <a:t>New Music, Video, Books, Purchases, Concerts, etc.</a:t>
            </a:r>
          </a:p>
        </p:txBody>
      </p:sp>
      <p:sp>
        <p:nvSpPr>
          <p:cNvPr id="216" name="Google Shape;200;p49"/>
          <p:cNvSpPr txBox="1">
            <a:spLocks noGrp="1"/>
          </p:cNvSpPr>
          <p:nvPr>
            <p:ph type="body" idx="1"/>
          </p:nvPr>
        </p:nvSpPr>
        <p:spPr>
          <a:xfrm>
            <a:off x="299099" y="1562642"/>
            <a:ext cx="11593802" cy="4789428"/>
          </a:xfrm>
          <a:prstGeom prst="rect">
            <a:avLst/>
          </a:prstGeom>
        </p:spPr>
        <p:txBody>
          <a:bodyPr>
            <a:normAutofit lnSpcReduction="10000"/>
          </a:bodyPr>
          <a:lstStyle/>
          <a:p>
            <a:pPr marL="0" lvl="1" indent="278754" defTabSz="557509">
              <a:lnSpc>
                <a:spcPct val="108000"/>
              </a:lnSpc>
              <a:spcBef>
                <a:spcPts val="0"/>
              </a:spcBef>
              <a:buSzTx/>
              <a:buNone/>
              <a:defRPr sz="2730" b="1"/>
            </a:pPr>
            <a:r>
              <a:t>Joe</a:t>
            </a:r>
            <a:endParaRPr sz="1729"/>
          </a:p>
          <a:p>
            <a:pPr marL="0" lvl="1" indent="278754" defTabSz="557509">
              <a:lnSpc>
                <a:spcPct val="108000"/>
              </a:lnSpc>
              <a:spcBef>
                <a:spcPts val="0"/>
              </a:spcBef>
              <a:buSzTx/>
              <a:buNone/>
              <a:defRPr sz="1092" b="1"/>
            </a:pPr>
            <a:endParaRPr sz="1729"/>
          </a:p>
          <a:p>
            <a:pPr marL="312039" indent="-208026" defTabSz="832104">
              <a:spcBef>
                <a:spcPts val="900"/>
              </a:spcBef>
              <a:buSzTx/>
              <a:buNone/>
              <a:defRPr sz="1911" b="1"/>
            </a:pPr>
            <a:r>
              <a:rPr sz="2002"/>
              <a:t>Listening to: </a:t>
            </a:r>
            <a:r>
              <a:rPr sz="2002" b="0"/>
              <a:t>Dr John (Mac Rebenach), Tyler Childers, Paul McCartney (diving into his 26! Solo albums), Jesse Wells, Billy Strings, Stephen Wilson Jr., Midnight Cowgirls, Хиггса | Вокально (not sure…Russian a cappella group), BandMaid (all girl Japanese band), Father of Peace (Israeli 3 piece)</a:t>
            </a:r>
          </a:p>
          <a:p>
            <a:pPr marL="312039" indent="-208026" defTabSz="832104">
              <a:spcBef>
                <a:spcPts val="900"/>
              </a:spcBef>
              <a:buSzTx/>
              <a:buNone/>
              <a:defRPr sz="2002" b="1"/>
            </a:pPr>
            <a:r>
              <a:t>Purchased: </a:t>
            </a:r>
            <a:br>
              <a:rPr b="0"/>
            </a:br>
            <a:r>
              <a:rPr b="0"/>
              <a:t>	</a:t>
            </a:r>
          </a:p>
          <a:p>
            <a:pPr marL="312039" indent="-208026" defTabSz="832104">
              <a:spcBef>
                <a:spcPts val="900"/>
              </a:spcBef>
              <a:buSzTx/>
              <a:buNone/>
              <a:defRPr sz="2002" b="1"/>
            </a:pPr>
            <a:r>
              <a:t>Books: </a:t>
            </a:r>
            <a:r>
              <a:rPr b="0"/>
              <a:t>The Uncool - Cameron Crowe biography, Wings Story, Rolling Stone 50th Anniversary, living in the present - John Prine, Insomnia - Robbie Robertson, Burning Down the House - Talking Heads</a:t>
            </a:r>
          </a:p>
          <a:p>
            <a:pPr marL="0" indent="104013" defTabSz="832104">
              <a:spcBef>
                <a:spcPts val="900"/>
              </a:spcBef>
              <a:buSzTx/>
              <a:buNone/>
              <a:defRPr sz="2002" b="1"/>
            </a:pPr>
            <a:endParaRPr b="0"/>
          </a:p>
          <a:p>
            <a:pPr marL="0" indent="104013" defTabSz="832104">
              <a:spcBef>
                <a:spcPts val="900"/>
              </a:spcBef>
              <a:buSzTx/>
              <a:buNone/>
              <a:defRPr sz="2002" b="1"/>
            </a:pPr>
            <a:r>
              <a:t>Shows: </a:t>
            </a:r>
            <a:r>
              <a:rPr b="0"/>
              <a:t>Still making mortgage payments on McCartney show</a:t>
            </a:r>
          </a:p>
          <a:p>
            <a:pPr marL="0" indent="104013" defTabSz="832104">
              <a:spcBef>
                <a:spcPts val="900"/>
              </a:spcBef>
              <a:buSzTx/>
              <a:buNone/>
              <a:defRPr sz="2184" b="1"/>
            </a:pPr>
            <a:r>
              <a:t>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Google Shape;199;p49"/>
          <p:cNvSpPr txBox="1">
            <a:spLocks noGrp="1"/>
          </p:cNvSpPr>
          <p:nvPr>
            <p:ph type="title"/>
          </p:nvPr>
        </p:nvSpPr>
        <p:spPr>
          <a:xfrm>
            <a:off x="2537331" y="165407"/>
            <a:ext cx="8943121" cy="1293029"/>
          </a:xfrm>
          <a:prstGeom prst="rect">
            <a:avLst/>
          </a:prstGeom>
        </p:spPr>
        <p:txBody>
          <a:bodyPr/>
          <a:lstStyle/>
          <a:p>
            <a:pPr defTabSz="713230">
              <a:defRPr sz="2800"/>
            </a:pPr>
            <a:r>
              <a:t>NEW BUSINESS</a:t>
            </a:r>
            <a:br/>
            <a:r>
              <a:t>New Music, Video, Books, Purchases, Concerts, etc.</a:t>
            </a:r>
          </a:p>
        </p:txBody>
      </p:sp>
      <p:sp>
        <p:nvSpPr>
          <p:cNvPr id="219" name="Google Shape;200;p49"/>
          <p:cNvSpPr txBox="1">
            <a:spLocks noGrp="1"/>
          </p:cNvSpPr>
          <p:nvPr>
            <p:ph type="body" idx="1"/>
          </p:nvPr>
        </p:nvSpPr>
        <p:spPr>
          <a:xfrm>
            <a:off x="201601" y="1619672"/>
            <a:ext cx="11593802" cy="4680901"/>
          </a:xfrm>
          <a:prstGeom prst="rect">
            <a:avLst/>
          </a:prstGeom>
        </p:spPr>
        <p:txBody>
          <a:bodyPr>
            <a:normAutofit fontScale="92500"/>
          </a:bodyPr>
          <a:lstStyle/>
          <a:p>
            <a:pPr marL="0" lvl="1" indent="330418" defTabSz="660836">
              <a:lnSpc>
                <a:spcPct val="108000"/>
              </a:lnSpc>
              <a:spcBef>
                <a:spcPts val="0"/>
              </a:spcBef>
              <a:buSzTx/>
              <a:buNone/>
              <a:defRPr sz="2970" b="1"/>
            </a:pPr>
            <a:r>
              <a:rPr dirty="0"/>
              <a:t>Chris</a:t>
            </a:r>
            <a:endParaRPr sz="2673" dirty="0"/>
          </a:p>
          <a:p>
            <a:pPr marL="0" lvl="1" indent="330418" defTabSz="660836">
              <a:lnSpc>
                <a:spcPct val="108000"/>
              </a:lnSpc>
              <a:spcBef>
                <a:spcPts val="0"/>
              </a:spcBef>
              <a:buSzTx/>
              <a:buNone/>
              <a:defRPr sz="1287" b="1"/>
            </a:pPr>
            <a:endParaRPr sz="2673" dirty="0"/>
          </a:p>
          <a:p>
            <a:pPr marL="0" lvl="1" indent="330418" defTabSz="660836">
              <a:lnSpc>
                <a:spcPct val="108000"/>
              </a:lnSpc>
              <a:spcBef>
                <a:spcPts val="0"/>
              </a:spcBef>
              <a:buSzTx/>
              <a:buNone/>
              <a:defRPr sz="1782" b="1">
                <a:solidFill>
                  <a:srgbClr val="D1D2D3"/>
                </a:solidFill>
                <a:latin typeface="Slack-Lato"/>
                <a:ea typeface="Slack-Lato"/>
                <a:cs typeface="Slack-Lato"/>
                <a:sym typeface="Slack-Lato"/>
              </a:defRPr>
            </a:pPr>
            <a:r>
              <a:rPr sz="2178" dirty="0">
                <a:solidFill>
                  <a:srgbClr val="FFFFFF"/>
                </a:solidFill>
              </a:rPr>
              <a:t>Listening</a:t>
            </a:r>
            <a:r>
              <a:rPr sz="2178" dirty="0"/>
              <a:t>: </a:t>
            </a:r>
            <a:r>
              <a:rPr lang="en-US" sz="2178" dirty="0">
                <a:solidFill>
                  <a:srgbClr val="FFFFFF"/>
                </a:solidFill>
              </a:rPr>
              <a:t>Geese – Getting Killed; Automatic – Is It Now?; HEALTH – Conflic</a:t>
            </a:r>
            <a:r>
              <a:rPr lang="en-US" sz="2178" dirty="0"/>
              <a:t>t DLC; Die Spitz – Something to Consume; Depeche Mode – Ultra, MFTM, etc.; Cut Copy – Moments</a:t>
            </a:r>
            <a:br>
              <a:rPr dirty="0">
                <a:solidFill>
                  <a:srgbClr val="FFFFFF"/>
                </a:solidFill>
              </a:rPr>
            </a:br>
            <a:endParaRPr dirty="0">
              <a:solidFill>
                <a:srgbClr val="FFFFFF"/>
              </a:solidFill>
            </a:endParaRPr>
          </a:p>
          <a:p>
            <a:pPr marL="0" lvl="1" indent="330418" defTabSz="660836">
              <a:lnSpc>
                <a:spcPct val="108000"/>
              </a:lnSpc>
              <a:spcBef>
                <a:spcPts val="0"/>
              </a:spcBef>
              <a:buSzTx/>
              <a:buNone/>
              <a:defRPr sz="1782" b="1">
                <a:solidFill>
                  <a:srgbClr val="D1D2D3"/>
                </a:solidFill>
                <a:latin typeface="Slack-Lato"/>
                <a:ea typeface="Slack-Lato"/>
                <a:cs typeface="Slack-Lato"/>
                <a:sym typeface="Slack-Lato"/>
              </a:defRPr>
            </a:pPr>
            <a:r>
              <a:rPr sz="2178" dirty="0">
                <a:solidFill>
                  <a:srgbClr val="FFFFFF"/>
                </a:solidFill>
              </a:rPr>
              <a:t>Purchased</a:t>
            </a:r>
            <a:r>
              <a:rPr sz="2178" dirty="0"/>
              <a:t>:</a:t>
            </a:r>
            <a:br>
              <a:rPr sz="2178" dirty="0"/>
            </a:br>
            <a:r>
              <a:rPr sz="2178" dirty="0">
                <a:solidFill>
                  <a:srgbClr val="FFFFFF"/>
                </a:solidFill>
                <a:latin typeface="Century Gothic"/>
                <a:ea typeface="Century Gothic"/>
                <a:cs typeface="Century Gothic"/>
                <a:sym typeface="Century Gothic"/>
              </a:rPr>
              <a:t>	</a:t>
            </a:r>
            <a:r>
              <a:rPr sz="2178" b="0" dirty="0">
                <a:solidFill>
                  <a:srgbClr val="FFFFFF"/>
                </a:solidFill>
              </a:rPr>
              <a:t>Vinyl:</a:t>
            </a:r>
            <a:r>
              <a:rPr lang="en-US" sz="2178" b="0" dirty="0">
                <a:solidFill>
                  <a:srgbClr val="FFFFFF"/>
                </a:solidFill>
              </a:rPr>
              <a:t> Automatic x3; Geese – Getting Killed; Severance S2; Lou Reed – Transformer; Morphine – Good; Youth Code – Commitment To Complications; Erasure – Chorus; Massive Attack v. Mad Professor Part II; etc.</a:t>
            </a:r>
            <a:br>
              <a:rPr sz="2178" b="0" dirty="0"/>
            </a:br>
            <a:r>
              <a:rPr sz="2178" dirty="0">
                <a:solidFill>
                  <a:srgbClr val="FFFFFF"/>
                </a:solidFill>
                <a:latin typeface="Century Gothic"/>
                <a:ea typeface="Century Gothic"/>
                <a:cs typeface="Century Gothic"/>
                <a:sym typeface="Century Gothic"/>
              </a:rPr>
              <a:t>	</a:t>
            </a:r>
            <a:r>
              <a:rPr sz="2178" b="0" dirty="0">
                <a:solidFill>
                  <a:srgbClr val="FFFFFF"/>
                </a:solidFill>
              </a:rPr>
              <a:t>CD’s:</a:t>
            </a:r>
            <a:r>
              <a:rPr lang="en-US" sz="2178" b="0" dirty="0">
                <a:solidFill>
                  <a:srgbClr val="FFFFFF"/>
                </a:solidFill>
              </a:rPr>
              <a:t> None </a:t>
            </a:r>
            <a:br>
              <a:rPr sz="2178" dirty="0"/>
            </a:br>
            <a:r>
              <a:rPr sz="2178" dirty="0">
                <a:solidFill>
                  <a:srgbClr val="FFFFFF"/>
                </a:solidFill>
                <a:latin typeface="Century Gothic"/>
                <a:ea typeface="Century Gothic"/>
                <a:cs typeface="Century Gothic"/>
                <a:sym typeface="Century Gothic"/>
              </a:rPr>
              <a:t>	</a:t>
            </a:r>
            <a:r>
              <a:rPr sz="2178" b="0" dirty="0">
                <a:solidFill>
                  <a:srgbClr val="FFFFFF"/>
                </a:solidFill>
              </a:rPr>
              <a:t>Cassette: None</a:t>
            </a:r>
            <a:br>
              <a:rPr b="0" dirty="0"/>
            </a:br>
            <a:endParaRPr b="0" dirty="0"/>
          </a:p>
          <a:p>
            <a:pPr marL="0" lvl="1" indent="330418" defTabSz="660836">
              <a:lnSpc>
                <a:spcPct val="108000"/>
              </a:lnSpc>
              <a:spcBef>
                <a:spcPts val="0"/>
              </a:spcBef>
              <a:buSzTx/>
              <a:buNone/>
              <a:defRPr sz="2178" b="1">
                <a:latin typeface="Slack-Lato"/>
                <a:ea typeface="Slack-Lato"/>
                <a:cs typeface="Slack-Lato"/>
                <a:sym typeface="Slack-Lato"/>
              </a:defRPr>
            </a:pPr>
            <a:r>
              <a:rPr dirty="0"/>
              <a:t>Shows: </a:t>
            </a:r>
            <a:r>
              <a:rPr lang="en-US" dirty="0"/>
              <a:t>David Byrne 10/25, Sir Paul McCartney  11/25 @ United Center in Chicago</a:t>
            </a:r>
            <a:endParaRPr dirty="0">
              <a:latin typeface="Century Gothic"/>
              <a:ea typeface="Century Gothic"/>
              <a:cs typeface="Century Gothic"/>
              <a:sym typeface="Century Gothic"/>
            </a:endParaRPr>
          </a:p>
          <a:p>
            <a:pPr marL="0" lvl="1" indent="330418" defTabSz="660836">
              <a:lnSpc>
                <a:spcPct val="108000"/>
              </a:lnSpc>
              <a:spcBef>
                <a:spcPts val="0"/>
              </a:spcBef>
              <a:buSzTx/>
              <a:buNone/>
              <a:defRPr sz="2178" b="1">
                <a:latin typeface="Slack-Lato"/>
                <a:ea typeface="Slack-Lato"/>
                <a:cs typeface="Slack-Lato"/>
                <a:sym typeface="Slack-Lato"/>
              </a:defRPr>
            </a:pPr>
            <a:r>
              <a:rPr dirty="0"/>
              <a:t>Upcoming</a:t>
            </a:r>
            <a:r>
              <a:rPr lang="en-US" dirty="0"/>
              <a:t> Shows</a:t>
            </a:r>
            <a:r>
              <a:rPr dirty="0"/>
              <a:t>: </a:t>
            </a:r>
            <a:r>
              <a:rPr lang="en-US" b="0" dirty="0"/>
              <a:t>Gary Numan 3/28, Lords of Acid 5/7, Echo &amp; the </a:t>
            </a:r>
            <a:r>
              <a:rPr lang="en-US" b="0" dirty="0" err="1"/>
              <a:t>Bunneymen</a:t>
            </a:r>
            <a:r>
              <a:rPr lang="en-US" b="0" dirty="0"/>
              <a:t> 6/16</a:t>
            </a:r>
            <a:endParaRPr b="0"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Google Shape;212;p13"/>
          <p:cNvSpPr txBox="1">
            <a:spLocks noGrp="1"/>
          </p:cNvSpPr>
          <p:nvPr>
            <p:ph type="title"/>
          </p:nvPr>
        </p:nvSpPr>
        <p:spPr>
          <a:xfrm>
            <a:off x="2542712" y="165407"/>
            <a:ext cx="9079358" cy="1293029"/>
          </a:xfrm>
          <a:prstGeom prst="rect">
            <a:avLst/>
          </a:prstGeom>
        </p:spPr>
        <p:txBody>
          <a:bodyPr/>
          <a:lstStyle/>
          <a:p>
            <a:pPr defTabSz="713230">
              <a:defRPr sz="2800"/>
            </a:pPr>
            <a:r>
              <a:t>NEW BUSINESS</a:t>
            </a:r>
            <a:br/>
            <a:r>
              <a:t>New Music, Video, Books, Purchases, Concerts, etc.</a:t>
            </a:r>
          </a:p>
        </p:txBody>
      </p:sp>
      <p:sp>
        <p:nvSpPr>
          <p:cNvPr id="222" name="Google Shape;213;p13"/>
          <p:cNvSpPr txBox="1">
            <a:spLocks noGrp="1"/>
          </p:cNvSpPr>
          <p:nvPr>
            <p:ph type="body" idx="1"/>
          </p:nvPr>
        </p:nvSpPr>
        <p:spPr>
          <a:xfrm>
            <a:off x="563024" y="1630039"/>
            <a:ext cx="11499003" cy="4856701"/>
          </a:xfrm>
          <a:prstGeom prst="rect">
            <a:avLst/>
          </a:prstGeom>
        </p:spPr>
        <p:txBody>
          <a:bodyPr/>
          <a:lstStyle/>
          <a:p>
            <a:pPr marL="0" lvl="1" indent="0" defTabSz="621791">
              <a:lnSpc>
                <a:spcPct val="120000"/>
              </a:lnSpc>
              <a:spcBef>
                <a:spcPts val="0"/>
              </a:spcBef>
              <a:buSzTx/>
              <a:buNone/>
              <a:defRPr sz="3000" b="1"/>
            </a:pPr>
            <a:r>
              <a:t>John</a:t>
            </a:r>
            <a:endParaRPr sz="2000"/>
          </a:p>
          <a:p>
            <a:pPr marL="0" lvl="1" indent="310895" defTabSz="621791">
              <a:lnSpc>
                <a:spcPct val="120000"/>
              </a:lnSpc>
              <a:spcBef>
                <a:spcPts val="0"/>
              </a:spcBef>
              <a:buSzTx/>
              <a:buNone/>
              <a:defRPr sz="1200"/>
            </a:pPr>
            <a:endParaRPr sz="2000"/>
          </a:p>
          <a:p>
            <a:pPr marL="0" indent="0" defTabSz="621791">
              <a:lnSpc>
                <a:spcPct val="100000"/>
              </a:lnSpc>
              <a:spcBef>
                <a:spcPts val="0"/>
              </a:spcBef>
              <a:buSzTx/>
              <a:buNone/>
              <a:defRPr b="1">
                <a:solidFill>
                  <a:srgbClr val="D1D2D3"/>
                </a:solidFill>
                <a:latin typeface="Slack-Lato"/>
                <a:ea typeface="Slack-Lato"/>
                <a:cs typeface="Slack-Lato"/>
                <a:sym typeface="Slack-Lato"/>
              </a:defRPr>
            </a:pPr>
            <a:r>
              <a:rPr>
                <a:solidFill>
                  <a:srgbClr val="FFFFFF"/>
                </a:solidFill>
              </a:rPr>
              <a:t>Listening</a:t>
            </a:r>
            <a:r>
              <a:rPr b="0"/>
              <a:t> </a:t>
            </a:r>
            <a:r>
              <a:rPr b="0">
                <a:solidFill>
                  <a:srgbClr val="FFFFFF"/>
                </a:solidFill>
              </a:rPr>
              <a:t>-</a:t>
            </a:r>
            <a:r>
              <a:rPr b="0"/>
              <a:t> </a:t>
            </a:r>
            <a:r>
              <a:rPr b="0">
                <a:solidFill>
                  <a:srgbClr val="FFFFFF"/>
                </a:solidFill>
              </a:rPr>
              <a:t>Orcutt, Shelly Miller, The Tubs, J Mascis, The Silversound, Cameron Winter, The Afghan Whigs</a:t>
            </a:r>
            <a:br>
              <a:rPr b="0"/>
            </a:br>
            <a:br>
              <a:rPr b="0"/>
            </a:br>
            <a:r>
              <a:rPr>
                <a:solidFill>
                  <a:srgbClr val="FFFFFF"/>
                </a:solidFill>
              </a:rPr>
              <a:t>Purchases</a:t>
            </a:r>
            <a:r>
              <a:rPr b="0"/>
              <a:t> - </a:t>
            </a:r>
            <a:r>
              <a:rPr b="0">
                <a:solidFill>
                  <a:srgbClr val="FFFFFF"/>
                </a:solidFill>
              </a:rPr>
              <a:t>The Pogues - Rum Sodomy &amp; the Lash</a:t>
            </a:r>
            <a:br>
              <a:rPr b="0"/>
            </a:br>
            <a:br>
              <a:rPr b="0"/>
            </a:br>
            <a:r>
              <a:rPr>
                <a:solidFill>
                  <a:srgbClr val="FFFFFF"/>
                </a:solidFill>
              </a:rPr>
              <a:t>Books</a:t>
            </a:r>
            <a:r>
              <a:rPr b="0"/>
              <a:t> </a:t>
            </a:r>
            <a:r>
              <a:rPr b="0">
                <a:solidFill>
                  <a:srgbClr val="FFFFFF"/>
                </a:solidFill>
              </a:rPr>
              <a:t>- Rumors of My Demise - Evan Dando</a:t>
            </a:r>
            <a:endParaRPr>
              <a:latin typeface="Century Gothic"/>
              <a:ea typeface="Century Gothic"/>
              <a:cs typeface="Century Gothic"/>
              <a:sym typeface="Century Gothic"/>
            </a:endParaRPr>
          </a:p>
          <a:p>
            <a:pPr marL="0" indent="0" defTabSz="621791">
              <a:lnSpc>
                <a:spcPct val="100000"/>
              </a:lnSpc>
              <a:spcBef>
                <a:spcPts val="0"/>
              </a:spcBef>
              <a:buSzTx/>
              <a:buNone/>
              <a:defRPr b="1">
                <a:solidFill>
                  <a:srgbClr val="D1D2D3"/>
                </a:solidFill>
                <a:latin typeface="Slack-Lato"/>
                <a:ea typeface="Slack-Lato"/>
                <a:cs typeface="Slack-Lato"/>
                <a:sym typeface="Slack-Lato"/>
              </a:defRPr>
            </a:pPr>
            <a:endParaRPr>
              <a:latin typeface="Century Gothic"/>
              <a:ea typeface="Century Gothic"/>
              <a:cs typeface="Century Gothic"/>
              <a:sym typeface="Century Gothic"/>
            </a:endParaRPr>
          </a:p>
          <a:p>
            <a:pPr marL="0" indent="0" defTabSz="621791">
              <a:lnSpc>
                <a:spcPct val="100000"/>
              </a:lnSpc>
              <a:spcBef>
                <a:spcPts val="0"/>
              </a:spcBef>
              <a:buSzTx/>
              <a:buNone/>
              <a:defRPr>
                <a:solidFill>
                  <a:srgbClr val="D1D2D3"/>
                </a:solidFill>
                <a:latin typeface="Slack-Lato"/>
                <a:ea typeface="Slack-Lato"/>
                <a:cs typeface="Slack-Lato"/>
                <a:sym typeface="Slack-Lato"/>
              </a:defRPr>
            </a:pPr>
            <a:r>
              <a:rPr b="1">
                <a:solidFill>
                  <a:srgbClr val="FFFFFF"/>
                </a:solidFill>
              </a:rPr>
              <a:t>Shows</a:t>
            </a:r>
            <a:r>
              <a:t> </a:t>
            </a:r>
            <a:r>
              <a:rPr>
                <a:solidFill>
                  <a:srgbClr val="FFFFFF"/>
                </a:solidFill>
              </a:rPr>
              <a:t>- none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Google Shape;212;p13"/>
          <p:cNvSpPr txBox="1">
            <a:spLocks noGrp="1"/>
          </p:cNvSpPr>
          <p:nvPr>
            <p:ph type="title"/>
          </p:nvPr>
        </p:nvSpPr>
        <p:spPr>
          <a:xfrm>
            <a:off x="2540801" y="165407"/>
            <a:ext cx="9016897" cy="1293029"/>
          </a:xfrm>
          <a:prstGeom prst="rect">
            <a:avLst/>
          </a:prstGeom>
        </p:spPr>
        <p:txBody>
          <a:bodyPr/>
          <a:lstStyle/>
          <a:p>
            <a:pPr defTabSz="713230">
              <a:defRPr sz="2800"/>
            </a:pPr>
            <a:r>
              <a:t>NEW BUSINESS</a:t>
            </a:r>
            <a:br/>
            <a:r>
              <a:t>New Music, Video, Books, Purchases, Concerts, etc.</a:t>
            </a:r>
          </a:p>
        </p:txBody>
      </p:sp>
      <p:sp>
        <p:nvSpPr>
          <p:cNvPr id="225" name="Google Shape;213;p13"/>
          <p:cNvSpPr txBox="1">
            <a:spLocks noGrp="1"/>
          </p:cNvSpPr>
          <p:nvPr>
            <p:ph type="body" idx="1"/>
          </p:nvPr>
        </p:nvSpPr>
        <p:spPr>
          <a:xfrm>
            <a:off x="236749" y="1648228"/>
            <a:ext cx="11718502" cy="4856702"/>
          </a:xfrm>
          <a:prstGeom prst="rect">
            <a:avLst/>
          </a:prstGeom>
        </p:spPr>
        <p:txBody>
          <a:bodyPr/>
          <a:lstStyle/>
          <a:p>
            <a:pPr marL="0" lvl="1" indent="0" defTabSz="440649">
              <a:lnSpc>
                <a:spcPct val="120000"/>
              </a:lnSpc>
              <a:spcBef>
                <a:spcPts val="0"/>
              </a:spcBef>
              <a:buSzTx/>
              <a:buNone/>
              <a:defRPr sz="2370" b="1"/>
            </a:pPr>
            <a:r>
              <a:t>Adam</a:t>
            </a:r>
            <a:endParaRPr sz="1422"/>
          </a:p>
          <a:p>
            <a:pPr marL="0" lvl="1" indent="220324" defTabSz="440649">
              <a:lnSpc>
                <a:spcPct val="120000"/>
              </a:lnSpc>
              <a:spcBef>
                <a:spcPts val="0"/>
              </a:spcBef>
              <a:buSzTx/>
              <a:buNone/>
              <a:defRPr sz="790"/>
            </a:pPr>
            <a:endParaRPr sz="1422"/>
          </a:p>
          <a:p>
            <a:pPr marL="0" indent="0" defTabSz="440649">
              <a:spcBef>
                <a:spcPts val="400"/>
              </a:spcBef>
              <a:buSzTx/>
              <a:buNone/>
              <a:defRPr sz="1738" b="1">
                <a:solidFill>
                  <a:srgbClr val="D1D2D3"/>
                </a:solidFill>
                <a:latin typeface="Slack-Lato"/>
                <a:ea typeface="Slack-Lato"/>
                <a:cs typeface="Slack-Lato"/>
                <a:sym typeface="Slack-Lato"/>
              </a:defRPr>
            </a:pPr>
            <a:r>
              <a:rPr>
                <a:solidFill>
                  <a:srgbClr val="FFFFFF"/>
                </a:solidFill>
              </a:rPr>
              <a:t>Listening:</a:t>
            </a:r>
            <a:r>
              <a:t> </a:t>
            </a:r>
            <a:r>
              <a:rPr b="0">
                <a:solidFill>
                  <a:srgbClr val="FFFFFF"/>
                </a:solidFill>
                <a:latin typeface="Century Gothic"/>
                <a:ea typeface="Century Gothic"/>
                <a:cs typeface="Century Gothic"/>
                <a:sym typeface="Century Gothic"/>
              </a:rPr>
              <a:t>Balthazar (Belgian indie pop/rock), Warhaus (solo project of zMaarten Devoldere from Balthazar), Steve Gunn, BALTHVS (Columbian psych rock band), Gelli Haha - Switcheroo (a mix between Animal Collective and Kate Bush), Benjamin Booker - LOWER, The Glove - Blue Sunshine (Cure/Siouxsie supergroup), Blood Orange - Essex Honey (electronica, drum ’n’ bass, funk)</a:t>
            </a:r>
            <a:endParaRPr>
              <a:latin typeface="Century Gothic"/>
              <a:ea typeface="Century Gothic"/>
              <a:cs typeface="Century Gothic"/>
              <a:sym typeface="Century Gothic"/>
            </a:endParaRPr>
          </a:p>
          <a:p>
            <a:pPr marL="0" indent="0" defTabSz="440649">
              <a:spcBef>
                <a:spcPts val="400"/>
              </a:spcBef>
              <a:buSzTx/>
              <a:buNone/>
              <a:defRPr sz="1738" b="1">
                <a:solidFill>
                  <a:srgbClr val="D1D2D3"/>
                </a:solidFill>
                <a:latin typeface="Slack-Lato"/>
                <a:ea typeface="Slack-Lato"/>
                <a:cs typeface="Slack-Lato"/>
                <a:sym typeface="Slack-Lato"/>
              </a:defRPr>
            </a:pPr>
            <a:endParaRPr>
              <a:latin typeface="Century Gothic"/>
              <a:ea typeface="Century Gothic"/>
              <a:cs typeface="Century Gothic"/>
              <a:sym typeface="Century Gothic"/>
            </a:endParaRPr>
          </a:p>
          <a:p>
            <a:pPr marL="0" indent="0" defTabSz="440649">
              <a:spcBef>
                <a:spcPts val="400"/>
              </a:spcBef>
              <a:buSzTx/>
              <a:buNone/>
              <a:defRPr sz="1738" b="1">
                <a:solidFill>
                  <a:srgbClr val="D1D2D3"/>
                </a:solidFill>
                <a:latin typeface="Slack-Lato"/>
                <a:ea typeface="Slack-Lato"/>
                <a:cs typeface="Slack-Lato"/>
                <a:sym typeface="Slack-Lato"/>
              </a:defRPr>
            </a:pPr>
            <a:r>
              <a:rPr>
                <a:solidFill>
                  <a:srgbClr val="FFFFFF"/>
                </a:solidFill>
              </a:rPr>
              <a:t>Purchased: </a:t>
            </a:r>
            <a:r>
              <a:rPr b="0">
                <a:solidFill>
                  <a:srgbClr val="FFFFFF"/>
                </a:solidFill>
              </a:rPr>
              <a:t>Balthazar - Rats, Paul Cauthen - Room 41</a:t>
            </a:r>
            <a:endParaRPr b="0"/>
          </a:p>
          <a:p>
            <a:pPr marL="0" indent="0" defTabSz="440649">
              <a:spcBef>
                <a:spcPts val="400"/>
              </a:spcBef>
              <a:buSzTx/>
              <a:buNone/>
              <a:defRPr sz="1738" b="1">
                <a:solidFill>
                  <a:srgbClr val="D1D2D3"/>
                </a:solidFill>
                <a:latin typeface="Slack-Lato"/>
                <a:ea typeface="Slack-Lato"/>
                <a:cs typeface="Slack-Lato"/>
                <a:sym typeface="Slack-Lato"/>
              </a:defRPr>
            </a:pPr>
            <a:endParaRPr b="0"/>
          </a:p>
          <a:p>
            <a:pPr marL="0" indent="0" defTabSz="440649">
              <a:spcBef>
                <a:spcPts val="400"/>
              </a:spcBef>
              <a:buSzTx/>
              <a:buNone/>
              <a:defRPr sz="1738" b="1">
                <a:latin typeface="Slack-Lato"/>
                <a:ea typeface="Slack-Lato"/>
                <a:cs typeface="Slack-Lato"/>
                <a:sym typeface="Slack-Lato"/>
              </a:defRPr>
            </a:pPr>
            <a:r>
              <a:t>Books: </a:t>
            </a:r>
            <a:r>
              <a:rPr b="0"/>
              <a:t>none</a:t>
            </a:r>
            <a:endParaRPr>
              <a:latin typeface="Century Gothic"/>
              <a:ea typeface="Century Gothic"/>
              <a:cs typeface="Century Gothic"/>
              <a:sym typeface="Century Gothic"/>
            </a:endParaRPr>
          </a:p>
          <a:p>
            <a:pPr marL="0" indent="0" defTabSz="440649">
              <a:spcBef>
                <a:spcPts val="400"/>
              </a:spcBef>
              <a:buSzTx/>
              <a:buNone/>
              <a:defRPr sz="1738" b="1">
                <a:solidFill>
                  <a:srgbClr val="D1D2D3"/>
                </a:solidFill>
                <a:latin typeface="Slack-Lato"/>
                <a:ea typeface="Slack-Lato"/>
                <a:cs typeface="Slack-Lato"/>
                <a:sym typeface="Slack-Lato"/>
              </a:defRPr>
            </a:pPr>
            <a:endParaRPr>
              <a:latin typeface="Century Gothic"/>
              <a:ea typeface="Century Gothic"/>
              <a:cs typeface="Century Gothic"/>
              <a:sym typeface="Century Gothic"/>
            </a:endParaRPr>
          </a:p>
          <a:p>
            <a:pPr marL="0" indent="0" defTabSz="440649">
              <a:spcBef>
                <a:spcPts val="400"/>
              </a:spcBef>
              <a:buSzTx/>
              <a:buNone/>
              <a:defRPr sz="1738" b="1">
                <a:solidFill>
                  <a:srgbClr val="D1D2D3"/>
                </a:solidFill>
                <a:latin typeface="Slack-Lato"/>
                <a:ea typeface="Slack-Lato"/>
                <a:cs typeface="Slack-Lato"/>
                <a:sym typeface="Slack-Lato"/>
              </a:defRPr>
            </a:pPr>
            <a:r>
              <a:rPr>
                <a:solidFill>
                  <a:srgbClr val="FFFFFF"/>
                </a:solidFill>
              </a:rPr>
              <a:t>Shows:</a:t>
            </a:r>
            <a:r>
              <a:t> </a:t>
            </a:r>
            <a:r>
              <a:rPr b="0">
                <a:solidFill>
                  <a:srgbClr val="FFFFFF"/>
                </a:solidFill>
              </a:rPr>
              <a:t>Shame 1/24/26 - The Loving Touch, Ferndale</a:t>
            </a:r>
            <a:endParaRPr sz="948">
              <a:solidFill>
                <a:srgbClr val="FFFFFF"/>
              </a:solidFill>
              <a:latin typeface="Century Gothic"/>
              <a:ea typeface="Century Gothic"/>
              <a:cs typeface="Century Gothic"/>
              <a:sym typeface="Century Gothic"/>
            </a:endParaRPr>
          </a:p>
          <a:p>
            <a:pPr marL="0" indent="0" defTabSz="440649">
              <a:spcBef>
                <a:spcPts val="400"/>
              </a:spcBef>
              <a:buSzTx/>
              <a:buNone/>
              <a:defRPr sz="1580" b="1">
                <a:latin typeface="Slack-Lato"/>
                <a:ea typeface="Slack-Lato"/>
                <a:cs typeface="Slack-Lato"/>
                <a:sym typeface="Slack-Lato"/>
              </a:defRPr>
            </a:pPr>
            <a:r>
              <a:t> </a:t>
            </a:r>
            <a:endParaRPr sz="948">
              <a:latin typeface="Century Gothic"/>
              <a:ea typeface="Century Gothic"/>
              <a:cs typeface="Century Gothic"/>
              <a:sym typeface="Century Gothic"/>
            </a:endParaRPr>
          </a:p>
          <a:p>
            <a:pPr marL="0" indent="0" defTabSz="440649">
              <a:spcBef>
                <a:spcPts val="400"/>
              </a:spcBef>
              <a:buSzTx/>
              <a:buNone/>
              <a:defRPr sz="1580" b="1">
                <a:solidFill>
                  <a:srgbClr val="D1D2D3"/>
                </a:solidFill>
                <a:latin typeface="Slack-Lato"/>
                <a:ea typeface="Slack-Lato"/>
                <a:cs typeface="Slack-Lato"/>
                <a:sym typeface="Slack-Lato"/>
              </a:defRPr>
            </a:pPr>
            <a:r>
              <a:t>	</a:t>
            </a:r>
            <a:br/>
            <a:endParaRPr sz="948"/>
          </a:p>
          <a:p>
            <a:pPr marL="0" indent="0" defTabSz="440649">
              <a:spcBef>
                <a:spcPts val="400"/>
              </a:spcBef>
              <a:buSzTx/>
              <a:buNone/>
              <a:defRPr sz="948"/>
            </a:pPr>
            <a:endParaRPr sz="948"/>
          </a:p>
          <a:p>
            <a:pPr marL="0" indent="0" defTabSz="440649">
              <a:spcBef>
                <a:spcPts val="400"/>
              </a:spcBef>
              <a:buSzTx/>
              <a:buNone/>
              <a:defRPr sz="948"/>
            </a:pPr>
            <a:br/>
            <a:endParaRPr/>
          </a:p>
        </p:txBody>
      </p:sp>
      <p:sp>
        <p:nvSpPr>
          <p:cNvPr id="226" name="Rectangle 3"/>
          <p:cNvSpPr/>
          <p:nvPr/>
        </p:nvSpPr>
        <p:spPr>
          <a:xfrm>
            <a:off x="0" y="436768804"/>
            <a:ext cx="12139486" cy="845962"/>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endParaRPr>
              <a:latin typeface="+mn-lt"/>
              <a:ea typeface="+mn-ea"/>
              <a:cs typeface="+mn-cs"/>
              <a:sym typeface="Arial"/>
            </a:endParaRPr>
          </a:p>
        </p:txBody>
      </p:sp>
      <p:sp>
        <p:nvSpPr>
          <p:cNvPr id="227" name="Rectangle 4"/>
          <p:cNvSpPr/>
          <p:nvPr/>
        </p:nvSpPr>
        <p:spPr>
          <a:xfrm>
            <a:off x="0" y="539850965"/>
            <a:ext cx="127000" cy="421640"/>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br/>
            <a:endParaRPr/>
          </a:p>
        </p:txBody>
      </p:sp>
      <p:sp>
        <p:nvSpPr>
          <p:cNvPr id="228" name="Rectangle 5"/>
          <p:cNvSpPr/>
          <p:nvPr/>
        </p:nvSpPr>
        <p:spPr>
          <a:xfrm>
            <a:off x="152400" y="436921204"/>
            <a:ext cx="12139486" cy="845962"/>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endParaRPr>
              <a:latin typeface="+mn-lt"/>
              <a:ea typeface="+mn-ea"/>
              <a:cs typeface="+mn-cs"/>
              <a:sym typeface="Arial"/>
            </a:endParaRPr>
          </a:p>
        </p:txBody>
      </p:sp>
      <p:sp>
        <p:nvSpPr>
          <p:cNvPr id="229" name="Rectangle 6"/>
          <p:cNvSpPr/>
          <p:nvPr/>
        </p:nvSpPr>
        <p:spPr>
          <a:xfrm>
            <a:off x="152400" y="540003365"/>
            <a:ext cx="127000" cy="421640"/>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br/>
            <a:endParaRPr/>
          </a:p>
        </p:txBody>
      </p:sp>
      <p:sp>
        <p:nvSpPr>
          <p:cNvPr id="230" name="Rectangle 7"/>
          <p:cNvSpPr/>
          <p:nvPr/>
        </p:nvSpPr>
        <p:spPr>
          <a:xfrm>
            <a:off x="304800" y="437073604"/>
            <a:ext cx="12139486" cy="845962"/>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endParaRPr>
              <a:latin typeface="+mn-lt"/>
              <a:ea typeface="+mn-ea"/>
              <a:cs typeface="+mn-cs"/>
              <a:sym typeface="Arial"/>
            </a:endParaRPr>
          </a:p>
        </p:txBody>
      </p:sp>
      <p:sp>
        <p:nvSpPr>
          <p:cNvPr id="231" name="Rectangle 8"/>
          <p:cNvSpPr/>
          <p:nvPr/>
        </p:nvSpPr>
        <p:spPr>
          <a:xfrm>
            <a:off x="304800" y="540155765"/>
            <a:ext cx="127000" cy="421640"/>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br/>
            <a:endParaRPr/>
          </a:p>
        </p:txBody>
      </p:sp>
      <p:sp>
        <p:nvSpPr>
          <p:cNvPr id="232" name="Rectangle 9"/>
          <p:cNvSpPr/>
          <p:nvPr/>
        </p:nvSpPr>
        <p:spPr>
          <a:xfrm>
            <a:off x="457200" y="437226004"/>
            <a:ext cx="12139486" cy="845962"/>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r>
              <a:t>Listening To:Jadu Heart - described as Dream Pop, Shoegaze (saw them open for Fontaines DC)Roscoe Tripp - It Always Starts with Something (reminds me a little of Modest Mouse)Umphrey’s Mcgee - Zonkey (amazing mashup album!)Chemtrails - The Joy of Sects (quirky garage/punk power pop from UK)PACKS - Melt the Honey (described as indie rock band from Toronto; honors the inventive arrangements of Guided by Voices)</a:t>
            </a:r>
            <a:endParaRPr>
              <a:latin typeface="+mn-lt"/>
              <a:ea typeface="+mn-ea"/>
              <a:cs typeface="+mn-cs"/>
              <a:sym typeface="Arial"/>
            </a:endParaRPr>
          </a:p>
        </p:txBody>
      </p:sp>
      <p:sp>
        <p:nvSpPr>
          <p:cNvPr id="233" name="Rectangle 10"/>
          <p:cNvSpPr/>
          <p:nvPr/>
        </p:nvSpPr>
        <p:spPr>
          <a:xfrm>
            <a:off x="457200" y="540308165"/>
            <a:ext cx="127000" cy="421640"/>
          </a:xfrm>
          <a:prstGeom prst="rect">
            <a:avLst/>
          </a:prstGeom>
          <a:solidFill>
            <a:srgbClr val="1A1D2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lvl1pPr>
              <a:defRPr sz="1100">
                <a:solidFill>
                  <a:srgbClr val="D1D2D3"/>
                </a:solidFill>
                <a:latin typeface="Slack-Lato"/>
                <a:ea typeface="Slack-Lato"/>
                <a:cs typeface="Slack-Lato"/>
                <a:sym typeface="Slack-Lato"/>
              </a:defRPr>
            </a:lvl1pPr>
          </a:lstStyle>
          <a:p>
            <a:b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Google Shape;218;p17"/>
          <p:cNvSpPr txBox="1">
            <a:spLocks noGrp="1"/>
          </p:cNvSpPr>
          <p:nvPr>
            <p:ph type="title"/>
          </p:nvPr>
        </p:nvSpPr>
        <p:spPr>
          <a:xfrm>
            <a:off x="2537431" y="165407"/>
            <a:ext cx="9058890" cy="1293029"/>
          </a:xfrm>
          <a:prstGeom prst="rect">
            <a:avLst/>
          </a:prstGeom>
        </p:spPr>
        <p:txBody>
          <a:bodyPr/>
          <a:lstStyle/>
          <a:p>
            <a:pPr defTabSz="713230">
              <a:defRPr sz="2800"/>
            </a:pPr>
            <a:r>
              <a:t>NEW BUSINESS</a:t>
            </a:r>
            <a:br/>
            <a:r>
              <a:t>New Music, Video, Books, Purchases, Concerts, etc.</a:t>
            </a:r>
          </a:p>
        </p:txBody>
      </p:sp>
      <p:sp>
        <p:nvSpPr>
          <p:cNvPr id="236" name="Google Shape;219;p17"/>
          <p:cNvSpPr txBox="1">
            <a:spLocks noGrp="1"/>
          </p:cNvSpPr>
          <p:nvPr>
            <p:ph type="body" idx="1"/>
          </p:nvPr>
        </p:nvSpPr>
        <p:spPr>
          <a:xfrm>
            <a:off x="508615" y="1638687"/>
            <a:ext cx="11174770" cy="4790480"/>
          </a:xfrm>
          <a:prstGeom prst="rect">
            <a:avLst/>
          </a:prstGeom>
        </p:spPr>
        <p:txBody>
          <a:bodyPr/>
          <a:lstStyle/>
          <a:p>
            <a:pPr marL="0" lvl="1" indent="0" defTabSz="649223">
              <a:lnSpc>
                <a:spcPct val="96000"/>
              </a:lnSpc>
              <a:spcBef>
                <a:spcPts val="0"/>
              </a:spcBef>
              <a:buSzTx/>
              <a:buNone/>
              <a:defRPr sz="3000" b="1"/>
            </a:pPr>
            <a:r>
              <a:t>Lucas</a:t>
            </a:r>
          </a:p>
          <a:p>
            <a:pPr marL="0" lvl="1" indent="0" defTabSz="649223">
              <a:lnSpc>
                <a:spcPct val="96000"/>
              </a:lnSpc>
              <a:spcBef>
                <a:spcPts val="0"/>
              </a:spcBef>
              <a:buSzTx/>
              <a:buNone/>
              <a:defRPr sz="2000" b="1"/>
            </a:pPr>
            <a:endParaRPr/>
          </a:p>
          <a:p>
            <a:pPr marL="0" lvl="1" indent="0" defTabSz="649223">
              <a:lnSpc>
                <a:spcPct val="96000"/>
              </a:lnSpc>
              <a:spcBef>
                <a:spcPts val="0"/>
              </a:spcBef>
              <a:buSzTx/>
              <a:buNone/>
              <a:defRPr b="1"/>
            </a:pPr>
            <a:r>
              <a:t>Listening</a:t>
            </a:r>
            <a:r>
              <a:rPr b="0">
                <a:latin typeface="+mn-lt"/>
                <a:ea typeface="+mn-ea"/>
                <a:cs typeface="+mn-cs"/>
                <a:sym typeface="Arial"/>
              </a:rPr>
              <a:t>: Geese, Snocaps, Wet Leg</a:t>
            </a:r>
          </a:p>
          <a:p>
            <a:pPr marL="0" indent="0" defTabSz="649223">
              <a:lnSpc>
                <a:spcPct val="72000"/>
              </a:lnSpc>
              <a:spcBef>
                <a:spcPts val="700"/>
              </a:spcBef>
              <a:buSzTx/>
              <a:buNone/>
              <a:defRPr b="1">
                <a:latin typeface="+mn-lt"/>
                <a:ea typeface="+mn-ea"/>
                <a:cs typeface="+mn-cs"/>
                <a:sym typeface="Arial"/>
              </a:defRPr>
            </a:pPr>
            <a:endParaRPr b="0">
              <a:latin typeface="+mn-lt"/>
              <a:ea typeface="+mn-ea"/>
              <a:cs typeface="+mn-cs"/>
              <a:sym typeface="Arial"/>
            </a:endParaRPr>
          </a:p>
          <a:p>
            <a:pPr marL="0" indent="0" defTabSz="649223">
              <a:lnSpc>
                <a:spcPct val="72000"/>
              </a:lnSpc>
              <a:spcBef>
                <a:spcPts val="700"/>
              </a:spcBef>
              <a:buSzTx/>
              <a:buNone/>
              <a:defRPr b="1">
                <a:latin typeface="+mn-lt"/>
                <a:ea typeface="+mn-ea"/>
                <a:cs typeface="+mn-cs"/>
                <a:sym typeface="Arial"/>
              </a:defRPr>
            </a:pPr>
            <a:r>
              <a:t>Purchases: </a:t>
            </a:r>
            <a:r>
              <a:rPr b="0"/>
              <a:t>Wilco - Yankee Hotel Foxtrot, Radiohead - A Moon Shaped Pool, Christine and the Queens (self titled)</a:t>
            </a:r>
          </a:p>
          <a:p>
            <a:pPr marL="0" indent="0" defTabSz="649223">
              <a:lnSpc>
                <a:spcPct val="72000"/>
              </a:lnSpc>
              <a:spcBef>
                <a:spcPts val="700"/>
              </a:spcBef>
              <a:buSzTx/>
              <a:buNone/>
              <a:defRPr b="1">
                <a:latin typeface="+mn-lt"/>
                <a:ea typeface="+mn-ea"/>
                <a:cs typeface="+mn-cs"/>
                <a:sym typeface="Arial"/>
              </a:defRPr>
            </a:pPr>
            <a:endParaRPr b="0"/>
          </a:p>
          <a:p>
            <a:pPr marL="0" indent="0" defTabSz="649223">
              <a:lnSpc>
                <a:spcPct val="72000"/>
              </a:lnSpc>
              <a:spcBef>
                <a:spcPts val="700"/>
              </a:spcBef>
              <a:buSzTx/>
              <a:buNone/>
              <a:defRPr b="1">
                <a:latin typeface="+mn-lt"/>
                <a:ea typeface="+mn-ea"/>
                <a:cs typeface="+mn-cs"/>
                <a:sym typeface="Arial"/>
              </a:defRPr>
            </a:pPr>
            <a:r>
              <a:t>Docs/Books:</a:t>
            </a:r>
            <a:r>
              <a:rPr b="0"/>
              <a:t> none</a:t>
            </a:r>
            <a:endParaRPr>
              <a:latin typeface="Century Gothic"/>
              <a:ea typeface="Century Gothic"/>
              <a:cs typeface="Century Gothic"/>
              <a:sym typeface="Century Gothic"/>
            </a:endParaRPr>
          </a:p>
          <a:p>
            <a:pPr marL="0" indent="0" defTabSz="649223">
              <a:lnSpc>
                <a:spcPct val="72000"/>
              </a:lnSpc>
              <a:spcBef>
                <a:spcPts val="700"/>
              </a:spcBef>
              <a:buSzTx/>
              <a:buNone/>
              <a:defRPr b="1">
                <a:latin typeface="+mn-lt"/>
                <a:ea typeface="+mn-ea"/>
                <a:cs typeface="+mn-cs"/>
                <a:sym typeface="Arial"/>
              </a:defRPr>
            </a:pPr>
            <a:endParaRPr>
              <a:latin typeface="Century Gothic"/>
              <a:ea typeface="Century Gothic"/>
              <a:cs typeface="Century Gothic"/>
              <a:sym typeface="Century Gothic"/>
            </a:endParaRPr>
          </a:p>
          <a:p>
            <a:pPr marL="0" indent="0" defTabSz="649223">
              <a:lnSpc>
                <a:spcPct val="72000"/>
              </a:lnSpc>
              <a:spcBef>
                <a:spcPts val="700"/>
              </a:spcBef>
              <a:buSzTx/>
              <a:buNone/>
              <a:defRPr b="1">
                <a:latin typeface="+mn-lt"/>
                <a:ea typeface="+mn-ea"/>
                <a:cs typeface="+mn-cs"/>
                <a:sym typeface="Arial"/>
              </a:defRPr>
            </a:pPr>
            <a:r>
              <a:t>Shows</a:t>
            </a:r>
            <a:r>
              <a:rPr b="0"/>
              <a:t>: David Byrne - 5/27 @ Playhouse Square</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Google Shape;218;p17"/>
          <p:cNvSpPr txBox="1">
            <a:spLocks noGrp="1"/>
          </p:cNvSpPr>
          <p:nvPr>
            <p:ph type="title"/>
          </p:nvPr>
        </p:nvSpPr>
        <p:spPr>
          <a:xfrm>
            <a:off x="2493779" y="165407"/>
            <a:ext cx="9012421" cy="1293029"/>
          </a:xfrm>
          <a:prstGeom prst="rect">
            <a:avLst/>
          </a:prstGeom>
        </p:spPr>
        <p:txBody>
          <a:bodyPr/>
          <a:lstStyle/>
          <a:p>
            <a:pPr defTabSz="713230">
              <a:defRPr sz="2800"/>
            </a:pPr>
            <a:r>
              <a:t>NEW BUSINESS</a:t>
            </a:r>
          </a:p>
          <a:p>
            <a:pPr defTabSz="713230">
              <a:defRPr sz="2800"/>
            </a:pPr>
            <a:r>
              <a:t>New Music, Video, Books, Purchases, Concerts, etc.</a:t>
            </a:r>
          </a:p>
        </p:txBody>
      </p:sp>
      <p:sp>
        <p:nvSpPr>
          <p:cNvPr id="239" name="Google Shape;219;p17"/>
          <p:cNvSpPr txBox="1">
            <a:spLocks noGrp="1"/>
          </p:cNvSpPr>
          <p:nvPr>
            <p:ph type="body" idx="1"/>
          </p:nvPr>
        </p:nvSpPr>
        <p:spPr>
          <a:xfrm>
            <a:off x="508615" y="1548567"/>
            <a:ext cx="11174770" cy="5146083"/>
          </a:xfrm>
          <a:prstGeom prst="rect">
            <a:avLst/>
          </a:prstGeom>
        </p:spPr>
        <p:txBody>
          <a:bodyPr>
            <a:normAutofit fontScale="92500" lnSpcReduction="10000"/>
          </a:bodyPr>
          <a:lstStyle/>
          <a:p>
            <a:pPr marL="0" lvl="1" indent="0" defTabSz="649223">
              <a:lnSpc>
                <a:spcPct val="96000"/>
              </a:lnSpc>
              <a:spcBef>
                <a:spcPts val="0"/>
              </a:spcBef>
              <a:buSzTx/>
              <a:buNone/>
              <a:defRPr sz="2700" b="1"/>
            </a:pPr>
            <a:r>
              <a:rPr dirty="0"/>
              <a:t>VCL Top 5 of 2025</a:t>
            </a:r>
          </a:p>
          <a:p>
            <a:pPr marL="0" lvl="1" indent="0" defTabSz="649223">
              <a:lnSpc>
                <a:spcPct val="96000"/>
              </a:lnSpc>
              <a:spcBef>
                <a:spcPts val="0"/>
              </a:spcBef>
              <a:buSzTx/>
              <a:buNone/>
              <a:defRPr sz="2000" b="1"/>
            </a:pPr>
            <a:endParaRPr dirty="0"/>
          </a:p>
          <a:p>
            <a:pPr marL="0" lvl="1" indent="0" defTabSz="649223">
              <a:lnSpc>
                <a:spcPct val="96000"/>
              </a:lnSpc>
              <a:spcBef>
                <a:spcPts val="0"/>
              </a:spcBef>
              <a:buSzTx/>
              <a:buNone/>
              <a:defRPr b="1">
                <a:latin typeface="+mn-lt"/>
                <a:ea typeface="+mn-ea"/>
                <a:cs typeface="+mn-cs"/>
                <a:sym typeface="Arial"/>
              </a:defRPr>
            </a:pPr>
            <a:r>
              <a:rPr dirty="0"/>
              <a:t>Joe:</a:t>
            </a:r>
            <a:r>
              <a:rPr b="0" dirty="0"/>
              <a:t> 1) Bad Bunny, 2) Lady Gaga, 3) Rosalia, 4) Dijon Baby, 5) Brittany Spears 25th anniversary release of Oops, I Did It Again</a:t>
            </a:r>
          </a:p>
          <a:p>
            <a:pPr marL="0" indent="0" defTabSz="649223">
              <a:lnSpc>
                <a:spcPct val="72000"/>
              </a:lnSpc>
              <a:spcBef>
                <a:spcPts val="700"/>
              </a:spcBef>
              <a:buSzTx/>
              <a:buNone/>
              <a:defRPr b="1">
                <a:latin typeface="+mn-lt"/>
                <a:ea typeface="+mn-ea"/>
                <a:cs typeface="+mn-cs"/>
                <a:sym typeface="Arial"/>
              </a:defRPr>
            </a:pPr>
            <a:endParaRPr b="0" dirty="0"/>
          </a:p>
          <a:p>
            <a:pPr marL="0" indent="0" defTabSz="649223">
              <a:lnSpc>
                <a:spcPct val="110000"/>
              </a:lnSpc>
              <a:spcBef>
                <a:spcPts val="700"/>
              </a:spcBef>
              <a:buSzTx/>
              <a:buNone/>
              <a:defRPr b="1">
                <a:latin typeface="+mn-lt"/>
                <a:ea typeface="+mn-ea"/>
                <a:cs typeface="+mn-cs"/>
                <a:sym typeface="Arial"/>
              </a:defRPr>
            </a:pPr>
            <a:r>
              <a:rPr dirty="0"/>
              <a:t>John: </a:t>
            </a:r>
            <a:r>
              <a:rPr b="0" dirty="0"/>
              <a:t>Wednesday - Bleeds, Jeff Tweedy - Twilight Overdrive, </a:t>
            </a:r>
            <a:r>
              <a:rPr b="0" dirty="0">
                <a:solidFill>
                  <a:schemeClr val="accent1"/>
                </a:solidFill>
              </a:rPr>
              <a:t>Geese - Getting Killed</a:t>
            </a:r>
            <a:r>
              <a:rPr b="0" dirty="0"/>
              <a:t>, Hot TNT - Raspberry Moon, The Men - Buyer Beware</a:t>
            </a:r>
          </a:p>
          <a:p>
            <a:pPr marL="0" indent="0" defTabSz="649223">
              <a:lnSpc>
                <a:spcPct val="72000"/>
              </a:lnSpc>
              <a:spcBef>
                <a:spcPts val="700"/>
              </a:spcBef>
              <a:buSzTx/>
              <a:buNone/>
              <a:defRPr b="1">
                <a:latin typeface="+mn-lt"/>
                <a:ea typeface="+mn-ea"/>
                <a:cs typeface="+mn-cs"/>
                <a:sym typeface="Arial"/>
              </a:defRPr>
            </a:pPr>
            <a:endParaRPr dirty="0">
              <a:latin typeface="Century Gothic"/>
              <a:ea typeface="Century Gothic"/>
              <a:cs typeface="Century Gothic"/>
              <a:sym typeface="Century Gothic"/>
            </a:endParaRPr>
          </a:p>
          <a:p>
            <a:pPr marL="0" indent="0" defTabSz="649223">
              <a:lnSpc>
                <a:spcPct val="110000"/>
              </a:lnSpc>
              <a:spcBef>
                <a:spcPts val="700"/>
              </a:spcBef>
              <a:buSzTx/>
              <a:buNone/>
              <a:defRPr b="1">
                <a:latin typeface="+mn-lt"/>
                <a:ea typeface="+mn-ea"/>
                <a:cs typeface="+mn-cs"/>
                <a:sym typeface="Arial"/>
              </a:defRPr>
            </a:pPr>
            <a:r>
              <a:rPr dirty="0"/>
              <a:t>Adam:</a:t>
            </a:r>
            <a:r>
              <a:rPr b="0" dirty="0"/>
              <a:t> 1) Throwing Muses - Moonlight Concessions, 2) Blood Orange - Essex Honey, 3) Destroyer - Dan’s Boogie, 4) Gelli Haha - Switcheroo, 5) Panda Bear - Sinister Gift</a:t>
            </a:r>
          </a:p>
          <a:p>
            <a:pPr marL="0" indent="0" defTabSz="649223">
              <a:lnSpc>
                <a:spcPct val="72000"/>
              </a:lnSpc>
              <a:spcBef>
                <a:spcPts val="700"/>
              </a:spcBef>
              <a:buSzTx/>
              <a:buNone/>
              <a:defRPr b="1">
                <a:latin typeface="+mn-lt"/>
                <a:ea typeface="+mn-ea"/>
                <a:cs typeface="+mn-cs"/>
                <a:sym typeface="Arial"/>
              </a:defRPr>
            </a:pPr>
            <a:endParaRPr b="0" dirty="0"/>
          </a:p>
          <a:p>
            <a:pPr marL="0" indent="0" defTabSz="649223">
              <a:lnSpc>
                <a:spcPct val="110000"/>
              </a:lnSpc>
              <a:spcBef>
                <a:spcPts val="700"/>
              </a:spcBef>
              <a:buSzTx/>
              <a:buNone/>
              <a:defRPr b="1">
                <a:latin typeface="+mn-lt"/>
                <a:ea typeface="+mn-ea"/>
                <a:cs typeface="+mn-cs"/>
                <a:sym typeface="Arial"/>
              </a:defRPr>
            </a:pPr>
            <a:r>
              <a:rPr dirty="0"/>
              <a:t>Lucas:</a:t>
            </a:r>
            <a:r>
              <a:rPr b="0" dirty="0"/>
              <a:t> 1) Alex G - Headlights, 2) </a:t>
            </a:r>
            <a:r>
              <a:rPr b="0" dirty="0">
                <a:solidFill>
                  <a:schemeClr val="accent1"/>
                </a:solidFill>
              </a:rPr>
              <a:t>Geese - Getting Killed</a:t>
            </a:r>
            <a:r>
              <a:rPr b="0" dirty="0"/>
              <a:t>, 3) </a:t>
            </a:r>
            <a:r>
              <a:rPr b="0" dirty="0" err="1"/>
              <a:t>Snocaps</a:t>
            </a:r>
            <a:r>
              <a:rPr b="0" dirty="0"/>
              <a:t> - </a:t>
            </a:r>
            <a:r>
              <a:rPr b="0" dirty="0" err="1"/>
              <a:t>Snocaps</a:t>
            </a:r>
            <a:r>
              <a:rPr b="0" dirty="0"/>
              <a:t>, 4) Wet Leg - Moisturizer, 5) Perfume Genius </a:t>
            </a:r>
            <a:r>
              <a:rPr lang="en-US" b="0" dirty="0"/>
              <a:t>–</a:t>
            </a:r>
            <a:r>
              <a:rPr b="0" dirty="0"/>
              <a:t> Glory</a:t>
            </a:r>
            <a:endParaRPr lang="en-US" dirty="0">
              <a:sym typeface="Arial"/>
            </a:endParaRPr>
          </a:p>
          <a:p>
            <a:pPr marL="0" indent="0" defTabSz="649223">
              <a:lnSpc>
                <a:spcPct val="110000"/>
              </a:lnSpc>
              <a:spcBef>
                <a:spcPts val="700"/>
              </a:spcBef>
              <a:buSzTx/>
              <a:buNone/>
              <a:defRPr b="1">
                <a:latin typeface="+mn-lt"/>
                <a:ea typeface="+mn-ea"/>
                <a:cs typeface="+mn-cs"/>
                <a:sym typeface="Arial"/>
              </a:defRPr>
            </a:pPr>
            <a:r>
              <a:rPr lang="en-US" dirty="0">
                <a:sym typeface="Arial"/>
              </a:rPr>
              <a:t>Chris: 1) Nation of Language – Dance Called Memory, 2) Deftones – Private Music, 3) Pixel Grip – </a:t>
            </a:r>
            <a:r>
              <a:rPr lang="en-US" dirty="0" err="1">
                <a:sym typeface="Arial"/>
              </a:rPr>
              <a:t>Percepticide</a:t>
            </a:r>
            <a:r>
              <a:rPr lang="en-US" dirty="0">
                <a:sym typeface="Arial"/>
              </a:rPr>
              <a:t>: The Death of Reality, 4) Sleep Token – Even In Arcadia, 5) Automatic – Is It Now? (Runner up – Snapped Ankles – Hard Times Furious Dancing) </a:t>
            </a:r>
            <a:endParaRPr lang="en-US" dirty="0"/>
          </a:p>
          <a:p>
            <a:pPr marL="0" indent="0" defTabSz="649223">
              <a:lnSpc>
                <a:spcPct val="120000"/>
              </a:lnSpc>
              <a:spcBef>
                <a:spcPts val="700"/>
              </a:spcBef>
              <a:buSzTx/>
              <a:buNone/>
              <a:defRPr b="1">
                <a:latin typeface="+mn-lt"/>
                <a:ea typeface="+mn-ea"/>
                <a:cs typeface="+mn-cs"/>
                <a:sym typeface="Arial"/>
              </a:defRPr>
            </a:pPr>
            <a:endParaRPr lang="en-US" b="0" dirty="0"/>
          </a:p>
          <a:p>
            <a:pPr marL="0" indent="0" defTabSz="649223">
              <a:lnSpc>
                <a:spcPct val="120000"/>
              </a:lnSpc>
              <a:spcBef>
                <a:spcPts val="700"/>
              </a:spcBef>
              <a:buSzTx/>
              <a:buNone/>
              <a:defRPr b="1">
                <a:latin typeface="+mn-lt"/>
                <a:ea typeface="+mn-ea"/>
                <a:cs typeface="+mn-cs"/>
                <a:sym typeface="Arial"/>
              </a:defRPr>
            </a:pPr>
            <a:endParaRPr lang="en-US" dirty="0"/>
          </a:p>
          <a:p>
            <a:pPr marL="0" indent="0" defTabSz="649223">
              <a:lnSpc>
                <a:spcPct val="120000"/>
              </a:lnSpc>
              <a:spcBef>
                <a:spcPts val="700"/>
              </a:spcBef>
              <a:buSzTx/>
              <a:buNone/>
              <a:defRPr b="1">
                <a:latin typeface="+mn-lt"/>
                <a:ea typeface="+mn-ea"/>
                <a:cs typeface="+mn-cs"/>
                <a:sym typeface="Arial"/>
              </a:defRPr>
            </a:pPr>
            <a:endParaRPr b="0"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Google Shape;173;g323a3024ecd_0_13"/>
          <p:cNvSpPr txBox="1">
            <a:spLocks noGrp="1"/>
          </p:cNvSpPr>
          <p:nvPr>
            <p:ph type="title"/>
          </p:nvPr>
        </p:nvSpPr>
        <p:spPr>
          <a:xfrm>
            <a:off x="6507093" y="464670"/>
            <a:ext cx="5225402" cy="694503"/>
          </a:xfrm>
          <a:prstGeom prst="rect">
            <a:avLst/>
          </a:prstGeom>
        </p:spPr>
        <p:txBody>
          <a:bodyPr/>
          <a:lstStyle>
            <a:lvl1pPr>
              <a:defRPr sz="3600"/>
            </a:lvl1pPr>
          </a:lstStyle>
          <a:p>
            <a:r>
              <a:t>WARM UP ALBUM TWO</a:t>
            </a:r>
          </a:p>
        </p:txBody>
      </p:sp>
      <p:sp>
        <p:nvSpPr>
          <p:cNvPr id="242" name="Google Shape;174;g323a3024ecd_0_13"/>
          <p:cNvSpPr txBox="1">
            <a:spLocks noGrp="1"/>
          </p:cNvSpPr>
          <p:nvPr>
            <p:ph type="body" sz="half" idx="1"/>
          </p:nvPr>
        </p:nvSpPr>
        <p:spPr>
          <a:xfrm>
            <a:off x="87697" y="1562349"/>
            <a:ext cx="6251572" cy="5028528"/>
          </a:xfrm>
          <a:prstGeom prst="rect">
            <a:avLst/>
          </a:prstGeom>
        </p:spPr>
        <p:txBody>
          <a:bodyPr/>
          <a:lstStyle/>
          <a:p>
            <a:pPr marL="0" indent="0" defTabSz="886967">
              <a:spcBef>
                <a:spcPts val="0"/>
              </a:spcBef>
              <a:buSzTx/>
              <a:buNone/>
              <a:defRPr sz="2100" b="1"/>
            </a:pPr>
            <a:r>
              <a:t>Balthazar - Rats</a:t>
            </a:r>
          </a:p>
          <a:p>
            <a:pPr marL="0" indent="0" defTabSz="886967">
              <a:spcBef>
                <a:spcPts val="0"/>
              </a:spcBef>
              <a:buSzTx/>
              <a:buNone/>
              <a:defRPr sz="2100" b="1"/>
            </a:pPr>
            <a:endParaRPr/>
          </a:p>
          <a:p>
            <a:pPr marL="685800" lvl="1" indent="-228600">
              <a:spcBef>
                <a:spcPts val="500"/>
              </a:spcBef>
              <a:buSzPts val="2000"/>
              <a:defRPr sz="2000"/>
            </a:pPr>
            <a:r>
              <a:t>Released: October 15, 2012</a:t>
            </a:r>
          </a:p>
          <a:p>
            <a:pPr marL="685800" lvl="1" indent="-228600">
              <a:spcBef>
                <a:spcPts val="500"/>
              </a:spcBef>
              <a:buSzPts val="2000"/>
              <a:defRPr sz="2000"/>
            </a:pPr>
            <a:r>
              <a:t>Label: Munich Records</a:t>
            </a:r>
          </a:p>
          <a:p>
            <a:pPr marL="685800" lvl="1" indent="-228600">
              <a:spcBef>
                <a:spcPts val="500"/>
              </a:spcBef>
              <a:buSzPts val="2000"/>
              <a:defRPr sz="2000"/>
            </a:pPr>
            <a:r>
              <a:t>Producer: Jinte Deprez, Maarten Devoldere</a:t>
            </a:r>
          </a:p>
          <a:p>
            <a:pPr marL="708659" lvl="1" indent="-251459"/>
            <a:r>
              <a:t>The album was mixed by </a:t>
            </a:r>
            <a:r>
              <a:rPr>
                <a:solidFill>
                  <a:srgbClr val="3366CC"/>
                </a:solidFill>
                <a:hlinkClick r:id="rId2"/>
              </a:rPr>
              <a:t>Noah Georgeson</a:t>
            </a:r>
            <a:r>
              <a:t> (</a:t>
            </a:r>
            <a:r>
              <a:rPr>
                <a:solidFill>
                  <a:srgbClr val="3366CC"/>
                </a:solidFill>
                <a:hlinkClick r:id="rId3"/>
              </a:rPr>
              <a:t>Devendra Banhart</a:t>
            </a:r>
            <a:r>
              <a:t>, </a:t>
            </a:r>
            <a:r>
              <a:rPr>
                <a:solidFill>
                  <a:srgbClr val="3366CC"/>
                </a:solidFill>
                <a:hlinkClick r:id="rId4"/>
              </a:rPr>
              <a:t>The Strokes</a:t>
            </a:r>
            <a:r>
              <a:t>) in Los Angeles. At the </a:t>
            </a:r>
            <a:r>
              <a:rPr>
                <a:solidFill>
                  <a:srgbClr val="3366CC"/>
                </a:solidFill>
                <a:hlinkClick r:id="rId5"/>
              </a:rPr>
              <a:t>Music Industry Awards</a:t>
            </a:r>
            <a:r>
              <a:t> in 2012, the band again won the award for best album.</a:t>
            </a:r>
            <a:r>
              <a:rPr sz="1280" baseline="31999">
                <a:solidFill>
                  <a:srgbClr val="3366CC"/>
                </a:solidFill>
                <a:hlinkClick r:id="rId6"/>
              </a:rPr>
              <a:t>[7]</a:t>
            </a:r>
            <a:r>
              <a:t> Recognition for the album went beyond Belgium and the Netherlands: in France, the prestigious newspaper </a:t>
            </a:r>
            <a:r>
              <a:rPr>
                <a:solidFill>
                  <a:srgbClr val="3366CC"/>
                </a:solidFill>
                <a:hlinkClick r:id="rId7"/>
              </a:rPr>
              <a:t>Libération</a:t>
            </a:r>
            <a:r>
              <a:t> claimed it was the best album released in 2012.</a:t>
            </a:r>
            <a:r>
              <a:rPr sz="1280" baseline="31999">
                <a:solidFill>
                  <a:srgbClr val="3366CC"/>
                </a:solidFill>
                <a:hlinkClick r:id="rId8"/>
              </a:rPr>
              <a:t>[8]</a:t>
            </a:r>
            <a:r>
              <a:rPr sz="1280" baseline="31999">
                <a:solidFill>
                  <a:srgbClr val="3366CC"/>
                </a:solidFill>
                <a:hlinkClick r:id="rId9"/>
              </a:rPr>
              <a:t>[9]</a:t>
            </a:r>
          </a:p>
        </p:txBody>
      </p:sp>
      <p:pic>
        <p:nvPicPr>
          <p:cNvPr id="243" name="Image" descr="Image"/>
          <p:cNvPicPr>
            <a:picLocks noChangeAspect="1"/>
          </p:cNvPicPr>
          <p:nvPr/>
        </p:nvPicPr>
        <p:blipFill>
          <a:blip r:embed="rId10"/>
          <a:stretch>
            <a:fillRect/>
          </a:stretch>
        </p:blipFill>
        <p:spPr>
          <a:xfrm>
            <a:off x="6597214" y="1492591"/>
            <a:ext cx="5225401" cy="4674200"/>
          </a:xfrm>
          <a:prstGeom prst="rect">
            <a:avLst/>
          </a:prstGeom>
          <a:ln w="12700">
            <a:miter lim="400000"/>
          </a:ln>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Title 1"/>
          <p:cNvSpPr txBox="1">
            <a:spLocks noGrp="1"/>
          </p:cNvSpPr>
          <p:nvPr>
            <p:ph type="title"/>
          </p:nvPr>
        </p:nvSpPr>
        <p:spPr>
          <a:xfrm>
            <a:off x="2756262" y="3742704"/>
            <a:ext cx="8610601" cy="1293029"/>
          </a:xfrm>
          <a:prstGeom prst="rect">
            <a:avLst/>
          </a:prstGeom>
        </p:spPr>
        <p:txBody>
          <a:bodyPr/>
          <a:lstStyle/>
          <a:p>
            <a:r>
              <a:rPr dirty="0"/>
              <a:t>Musicology</a:t>
            </a:r>
            <a:br>
              <a:rPr lang="en-US" dirty="0"/>
            </a:br>
            <a:r>
              <a:rPr lang="en-US" sz="1200" dirty="0"/>
              <a:t>by Chris Clement</a:t>
            </a:r>
            <a:endParaRPr sz="1200"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5d117485-9c13-4c16-83dc-beb7bb33d12a.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e97925a8-01fa-4312-b361-fcab9163c457.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99a3c4dd-9873-4f92-a108-8ae88666a4b9.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8a7d8c08-6b3f-4653-987e-bcc713892b85.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27b72312-5b76-452b-b2ea-4916630dbc26.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18418ba1-d1d1-4a9e-b3dd-08c1fa8c6d9d.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0c786f52-d269-4d1a-ab62-696e5fb76e78.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bbf943f4-4e70-4075-964b-acde27c8c3fe.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descr="/tmp/beautiful_ai_exports/1736f3bf-8df9-44f3-9918-ef23f7a0ca6e.jpg"/>
          <p:cNvPicPr>
            <a:picLocks noChangeAspect="1"/>
          </p:cNvPicPr>
          <p:nvPr/>
        </p:nvPicPr>
        <p:blipFill>
          <a:blip r:embed="rId3"/>
          <a:src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Google Shape;238;p50"/>
          <p:cNvSpPr txBox="1">
            <a:spLocks noGrp="1"/>
          </p:cNvSpPr>
          <p:nvPr>
            <p:ph type="title"/>
          </p:nvPr>
        </p:nvSpPr>
        <p:spPr>
          <a:xfrm>
            <a:off x="8150686" y="336779"/>
            <a:ext cx="2950781" cy="694616"/>
          </a:xfrm>
          <a:prstGeom prst="rect">
            <a:avLst/>
          </a:prstGeom>
        </p:spPr>
        <p:txBody>
          <a:bodyPr/>
          <a:lstStyle>
            <a:lvl1pPr defTabSz="896111">
              <a:defRPr sz="3900"/>
            </a:lvl1pPr>
          </a:lstStyle>
          <a:p>
            <a:r>
              <a:t>HEADLINER</a:t>
            </a:r>
          </a:p>
        </p:txBody>
      </p:sp>
      <p:sp>
        <p:nvSpPr>
          <p:cNvPr id="264" name="Google Shape;174;g323a3024ecd_0_13"/>
          <p:cNvSpPr txBox="1">
            <a:spLocks noGrp="1"/>
          </p:cNvSpPr>
          <p:nvPr>
            <p:ph type="body" sz="half" idx="1"/>
          </p:nvPr>
        </p:nvSpPr>
        <p:spPr>
          <a:xfrm>
            <a:off x="139948" y="2001603"/>
            <a:ext cx="6495984" cy="4634329"/>
          </a:xfrm>
          <a:prstGeom prst="rect">
            <a:avLst/>
          </a:prstGeom>
        </p:spPr>
        <p:txBody>
          <a:bodyPr/>
          <a:lstStyle/>
          <a:p>
            <a:pPr marL="0" indent="0" defTabSz="886967">
              <a:spcBef>
                <a:spcPts val="0"/>
              </a:spcBef>
              <a:buSzTx/>
              <a:buNone/>
              <a:defRPr sz="2100" b="1"/>
            </a:pPr>
            <a:r>
              <a:t>The Temper Trap - Conditions</a:t>
            </a:r>
          </a:p>
          <a:p>
            <a:pPr>
              <a:buSzPts val="1600"/>
              <a:defRPr sz="1600" b="1"/>
            </a:pPr>
            <a:r>
              <a:t>Release Date</a:t>
            </a:r>
            <a:r>
              <a:rPr b="0"/>
              <a:t>: </a:t>
            </a:r>
            <a:r>
              <a:rPr b="0" i="1"/>
              <a:t>June 19, 2009</a:t>
            </a:r>
            <a:endParaRPr b="0"/>
          </a:p>
          <a:p>
            <a:pPr>
              <a:buSzPts val="1600"/>
              <a:defRPr sz="1600" b="1"/>
            </a:pPr>
            <a:r>
              <a:t>Record Label</a:t>
            </a:r>
            <a:r>
              <a:rPr b="0"/>
              <a:t>: Liberation (AUS), Infectious (UK), Glassnote/Columbia (US)</a:t>
            </a:r>
          </a:p>
          <a:p>
            <a:pPr>
              <a:buSzPts val="1600"/>
              <a:defRPr sz="1600" b="1"/>
            </a:pPr>
            <a:r>
              <a:t>Producer</a:t>
            </a:r>
            <a:r>
              <a:rPr b="0"/>
              <a:t>: Jim Abbiss</a:t>
            </a:r>
          </a:p>
          <a:p>
            <a:pPr marL="0" indent="0">
              <a:buClrTx/>
              <a:buSzTx/>
              <a:buFontTx/>
              <a:buNone/>
              <a:defRPr sz="1600" b="1"/>
            </a:pPr>
            <a:endParaRPr b="0"/>
          </a:p>
          <a:p>
            <a:pPr marL="0" indent="0">
              <a:buClrTx/>
              <a:buSzTx/>
              <a:buFontTx/>
              <a:buNone/>
              <a:defRPr sz="1600" b="1"/>
            </a:pPr>
            <a:r>
              <a:t>Legacy</a:t>
            </a:r>
            <a:endParaRPr b="0"/>
          </a:p>
          <a:p>
            <a:pPr marL="0" indent="0">
              <a:buClrTx/>
              <a:buSzTx/>
              <a:buFontTx/>
              <a:buNone/>
              <a:defRPr sz="1600" b="1" i="1"/>
            </a:pPr>
            <a:r>
              <a:rPr b="0"/>
              <a:t>Conditions</a:t>
            </a:r>
            <a:r>
              <a:rPr b="0" i="0"/>
              <a:t> established The Temper Trap as a significant act in the late-2000s indie rock scene. Its blend of soaring hooks and atmospheric production helped the band transition from the Melbourne indie circuit to international stages, with “Sweet Disposition” becoming one of the era’s defining indie anthems.</a:t>
            </a:r>
          </a:p>
        </p:txBody>
      </p:sp>
      <p:pic>
        <p:nvPicPr>
          <p:cNvPr id="265" name="Image" descr="Image"/>
          <p:cNvPicPr>
            <a:picLocks noChangeAspect="1"/>
          </p:cNvPicPr>
          <p:nvPr/>
        </p:nvPicPr>
        <p:blipFill>
          <a:blip r:embed="rId2"/>
          <a:stretch>
            <a:fillRect/>
          </a:stretch>
        </p:blipFill>
        <p:spPr>
          <a:xfrm>
            <a:off x="7016307" y="1581324"/>
            <a:ext cx="4634329" cy="4634329"/>
          </a:xfrm>
          <a:prstGeom prst="rect">
            <a:avLst/>
          </a:prstGeom>
          <a:ln w="12700">
            <a:miter lim="400000"/>
          </a:ln>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Google Shape;173;g323a3024ecd_0_13"/>
          <p:cNvSpPr txBox="1">
            <a:spLocks noGrp="1"/>
          </p:cNvSpPr>
          <p:nvPr>
            <p:ph type="title"/>
          </p:nvPr>
        </p:nvSpPr>
        <p:spPr>
          <a:xfrm>
            <a:off x="5876251" y="336775"/>
            <a:ext cx="5225401" cy="694502"/>
          </a:xfrm>
          <a:prstGeom prst="rect">
            <a:avLst/>
          </a:prstGeom>
        </p:spPr>
        <p:txBody>
          <a:bodyPr/>
          <a:lstStyle>
            <a:lvl1pPr>
              <a:defRPr sz="3600"/>
            </a:lvl1pPr>
          </a:lstStyle>
          <a:p>
            <a:r>
              <a:t>HEADLINER</a:t>
            </a:r>
          </a:p>
        </p:txBody>
      </p:sp>
      <p:pic>
        <p:nvPicPr>
          <p:cNvPr id="268" name="Image" descr="Image"/>
          <p:cNvPicPr>
            <a:picLocks noChangeAspect="1"/>
          </p:cNvPicPr>
          <p:nvPr/>
        </p:nvPicPr>
        <p:blipFill>
          <a:blip r:embed="rId2"/>
          <a:stretch>
            <a:fillRect/>
          </a:stretch>
        </p:blipFill>
        <p:spPr>
          <a:xfrm>
            <a:off x="246737" y="1737018"/>
            <a:ext cx="7009498" cy="1624481"/>
          </a:xfrm>
          <a:prstGeom prst="rect">
            <a:avLst/>
          </a:prstGeom>
          <a:ln w="12700">
            <a:miter lim="400000"/>
          </a:ln>
        </p:spPr>
      </p:pic>
      <p:pic>
        <p:nvPicPr>
          <p:cNvPr id="269" name="Image" descr="Image"/>
          <p:cNvPicPr>
            <a:picLocks noChangeAspect="1"/>
          </p:cNvPicPr>
          <p:nvPr/>
        </p:nvPicPr>
        <p:blipFill>
          <a:blip r:embed="rId3"/>
          <a:stretch>
            <a:fillRect/>
          </a:stretch>
        </p:blipFill>
        <p:spPr>
          <a:xfrm>
            <a:off x="7363914" y="1298088"/>
            <a:ext cx="4634329" cy="4634329"/>
          </a:xfrm>
          <a:prstGeom prst="rect">
            <a:avLst/>
          </a:prstGeom>
          <a:ln w="12700">
            <a:miter lim="400000"/>
          </a:ln>
        </p:spPr>
      </p:pic>
      <p:pic>
        <p:nvPicPr>
          <p:cNvPr id="270" name="Image" descr="Image"/>
          <p:cNvPicPr>
            <a:picLocks noChangeAspect="1"/>
          </p:cNvPicPr>
          <p:nvPr/>
        </p:nvPicPr>
        <p:blipFill>
          <a:blip r:embed="rId4"/>
          <a:stretch>
            <a:fillRect/>
          </a:stretch>
        </p:blipFill>
        <p:spPr>
          <a:xfrm>
            <a:off x="252420" y="3667650"/>
            <a:ext cx="6998131" cy="2991430"/>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Google Shape;173;g323a3024ecd_0_13"/>
          <p:cNvSpPr txBox="1">
            <a:spLocks noGrp="1"/>
          </p:cNvSpPr>
          <p:nvPr>
            <p:ph type="title"/>
          </p:nvPr>
        </p:nvSpPr>
        <p:spPr>
          <a:xfrm>
            <a:off x="5876251" y="336775"/>
            <a:ext cx="5225401" cy="694502"/>
          </a:xfrm>
          <a:prstGeom prst="rect">
            <a:avLst/>
          </a:prstGeom>
        </p:spPr>
        <p:txBody>
          <a:bodyPr/>
          <a:lstStyle>
            <a:lvl1pPr>
              <a:defRPr sz="3600"/>
            </a:lvl1pPr>
          </a:lstStyle>
          <a:p>
            <a:r>
              <a:t>ALBUM TWO</a:t>
            </a:r>
          </a:p>
        </p:txBody>
      </p:sp>
      <p:pic>
        <p:nvPicPr>
          <p:cNvPr id="273" name="Image" descr="Image"/>
          <p:cNvPicPr>
            <a:picLocks noChangeAspect="1"/>
          </p:cNvPicPr>
          <p:nvPr/>
        </p:nvPicPr>
        <p:blipFill>
          <a:blip r:embed="rId2"/>
          <a:stretch>
            <a:fillRect/>
          </a:stretch>
        </p:blipFill>
        <p:spPr>
          <a:xfrm>
            <a:off x="7363914" y="1298088"/>
            <a:ext cx="4634329" cy="4634329"/>
          </a:xfrm>
          <a:prstGeom prst="rect">
            <a:avLst/>
          </a:prstGeom>
          <a:ln w="12700">
            <a:miter lim="400000"/>
          </a:ln>
        </p:spPr>
      </p:pic>
      <p:pic>
        <p:nvPicPr>
          <p:cNvPr id="274" name="Image" descr="Image"/>
          <p:cNvPicPr>
            <a:picLocks noChangeAspect="1"/>
          </p:cNvPicPr>
          <p:nvPr/>
        </p:nvPicPr>
        <p:blipFill>
          <a:blip r:embed="rId3"/>
          <a:stretch>
            <a:fillRect/>
          </a:stretch>
        </p:blipFill>
        <p:spPr>
          <a:xfrm>
            <a:off x="141617" y="1700211"/>
            <a:ext cx="7417884" cy="2185114"/>
          </a:xfrm>
          <a:prstGeom prst="rect">
            <a:avLst/>
          </a:prstGeom>
          <a:ln w="12700">
            <a:miter lim="400000"/>
          </a:ln>
        </p:spPr>
      </p:pic>
      <p:pic>
        <p:nvPicPr>
          <p:cNvPr id="275" name="Image" descr="Image"/>
          <p:cNvPicPr>
            <a:picLocks noChangeAspect="1"/>
          </p:cNvPicPr>
          <p:nvPr/>
        </p:nvPicPr>
        <p:blipFill>
          <a:blip r:embed="rId4"/>
          <a:stretch>
            <a:fillRect/>
          </a:stretch>
        </p:blipFill>
        <p:spPr>
          <a:xfrm>
            <a:off x="141617" y="4154670"/>
            <a:ext cx="7417884" cy="2187941"/>
          </a:xfrm>
          <a:prstGeom prst="rect">
            <a:avLst/>
          </a:prstGeom>
          <a:ln w="12700">
            <a:miter lim="400000"/>
          </a:ln>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Google Shape;173;g323a3024ecd_0_13"/>
          <p:cNvSpPr txBox="1">
            <a:spLocks noGrp="1"/>
          </p:cNvSpPr>
          <p:nvPr>
            <p:ph type="title"/>
          </p:nvPr>
        </p:nvSpPr>
        <p:spPr>
          <a:xfrm>
            <a:off x="5876251" y="336775"/>
            <a:ext cx="5225401" cy="694502"/>
          </a:xfrm>
          <a:prstGeom prst="rect">
            <a:avLst/>
          </a:prstGeom>
        </p:spPr>
        <p:txBody>
          <a:bodyPr/>
          <a:lstStyle>
            <a:lvl1pPr>
              <a:defRPr sz="3600"/>
            </a:lvl1pPr>
          </a:lstStyle>
          <a:p>
            <a:r>
              <a:t>HEADLINER</a:t>
            </a:r>
          </a:p>
        </p:txBody>
      </p:sp>
      <p:pic>
        <p:nvPicPr>
          <p:cNvPr id="278" name="Image" descr="Image"/>
          <p:cNvPicPr>
            <a:picLocks noChangeAspect="1"/>
          </p:cNvPicPr>
          <p:nvPr/>
        </p:nvPicPr>
        <p:blipFill>
          <a:blip r:embed="rId2"/>
          <a:stretch>
            <a:fillRect/>
          </a:stretch>
        </p:blipFill>
        <p:spPr>
          <a:xfrm>
            <a:off x="7363914" y="1298088"/>
            <a:ext cx="4634329" cy="4634329"/>
          </a:xfrm>
          <a:prstGeom prst="rect">
            <a:avLst/>
          </a:prstGeom>
          <a:ln w="12700">
            <a:miter lim="400000"/>
          </a:ln>
        </p:spPr>
      </p:pic>
      <p:pic>
        <p:nvPicPr>
          <p:cNvPr id="279" name="Image" descr="Image"/>
          <p:cNvPicPr>
            <a:picLocks noChangeAspect="1"/>
          </p:cNvPicPr>
          <p:nvPr/>
        </p:nvPicPr>
        <p:blipFill>
          <a:blip r:embed="rId3"/>
          <a:stretch>
            <a:fillRect/>
          </a:stretch>
        </p:blipFill>
        <p:spPr>
          <a:xfrm>
            <a:off x="228792" y="1732359"/>
            <a:ext cx="7106241" cy="4294485"/>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Google Shape;289;p30"/>
          <p:cNvSpPr txBox="1">
            <a:spLocks noGrp="1"/>
          </p:cNvSpPr>
          <p:nvPr>
            <p:ph type="title"/>
          </p:nvPr>
        </p:nvSpPr>
        <p:spPr>
          <a:xfrm>
            <a:off x="2895600" y="764373"/>
            <a:ext cx="8610600" cy="1293028"/>
          </a:xfrm>
          <a:prstGeom prst="rect">
            <a:avLst/>
          </a:prstGeom>
        </p:spPr>
        <p:txBody>
          <a:bodyPr/>
          <a:lstStyle/>
          <a:p>
            <a:r>
              <a:t>ROTATION</a:t>
            </a:r>
          </a:p>
        </p:txBody>
      </p:sp>
      <p:sp>
        <p:nvSpPr>
          <p:cNvPr id="282" name="Google Shape;290;p30"/>
          <p:cNvSpPr txBox="1">
            <a:spLocks noGrp="1"/>
          </p:cNvSpPr>
          <p:nvPr>
            <p:ph type="body" idx="1"/>
          </p:nvPr>
        </p:nvSpPr>
        <p:spPr>
          <a:xfrm>
            <a:off x="685800" y="2194560"/>
            <a:ext cx="10820400" cy="4024125"/>
          </a:xfrm>
          <a:prstGeom prst="rect">
            <a:avLst/>
          </a:prstGeom>
        </p:spPr>
        <p:txBody>
          <a:bodyPr/>
          <a:lstStyle/>
          <a:p>
            <a:pPr marL="228600" indent="-228600">
              <a:spcBef>
                <a:spcPts val="0"/>
              </a:spcBef>
            </a:pPr>
            <a:r>
              <a:t>Chris</a:t>
            </a:r>
          </a:p>
          <a:p>
            <a:pPr marL="228600" indent="-228600"/>
            <a:r>
              <a:t>Joe</a:t>
            </a:r>
          </a:p>
          <a:p>
            <a:pPr marL="228600" indent="-228600"/>
            <a:r>
              <a:t>John</a:t>
            </a:r>
          </a:p>
          <a:p>
            <a:pPr marL="228600" indent="-228600"/>
            <a:r>
              <a:t>Adam</a:t>
            </a:r>
          </a:p>
          <a:p>
            <a:pPr marL="228600" indent="-228600"/>
            <a:r>
              <a:t>Lucas</a:t>
            </a:r>
          </a:p>
          <a:p>
            <a:pPr marL="0" indent="139700">
              <a:buSzTx/>
              <a:buNone/>
            </a:pPr>
            <a:endParaRPr/>
          </a:p>
          <a:p>
            <a:pPr marL="228600" indent="-228600"/>
            <a:r>
              <a:t>Whoever is MC, they have music and booze, whoever is on deck, they have notes and food. Notes taken by Adam unless not present.</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Google Shape;301;p23"/>
          <p:cNvSpPr txBox="1">
            <a:spLocks noGrp="1"/>
          </p:cNvSpPr>
          <p:nvPr>
            <p:ph type="title"/>
          </p:nvPr>
        </p:nvSpPr>
        <p:spPr>
          <a:xfrm>
            <a:off x="2895600" y="764373"/>
            <a:ext cx="8610600" cy="1293028"/>
          </a:xfrm>
          <a:prstGeom prst="rect">
            <a:avLst/>
          </a:prstGeom>
        </p:spPr>
        <p:txBody>
          <a:bodyPr/>
          <a:lstStyle/>
          <a:p>
            <a:r>
              <a:t>WRAP UP</a:t>
            </a:r>
          </a:p>
        </p:txBody>
      </p:sp>
      <p:sp>
        <p:nvSpPr>
          <p:cNvPr id="285" name="Google Shape;302;p23"/>
          <p:cNvSpPr txBox="1">
            <a:spLocks noGrp="1"/>
          </p:cNvSpPr>
          <p:nvPr>
            <p:ph type="body" idx="1"/>
          </p:nvPr>
        </p:nvSpPr>
        <p:spPr>
          <a:xfrm>
            <a:off x="685800" y="2194560"/>
            <a:ext cx="10820400" cy="4024125"/>
          </a:xfrm>
          <a:prstGeom prst="rect">
            <a:avLst/>
          </a:prstGeom>
        </p:spPr>
        <p:txBody>
          <a:bodyPr/>
          <a:lstStyle/>
          <a:p>
            <a:pPr marL="228600" indent="-228600">
              <a:spcBef>
                <a:spcPts val="0"/>
              </a:spcBef>
            </a:pPr>
            <a:r>
              <a:t>Next Meeting</a:t>
            </a:r>
          </a:p>
          <a:p>
            <a:pPr marL="685800" lvl="1" indent="-228600">
              <a:spcBef>
                <a:spcPts val="500"/>
              </a:spcBef>
              <a:buSzPts val="2000"/>
              <a:defRPr sz="2000"/>
            </a:pPr>
            <a:r>
              <a:t>Date:  February 12,2026</a:t>
            </a:r>
          </a:p>
          <a:p>
            <a:pPr marL="685800" lvl="1" indent="-228600">
              <a:spcBef>
                <a:spcPts val="500"/>
              </a:spcBef>
              <a:buSzPts val="2000"/>
              <a:defRPr sz="2000"/>
            </a:pPr>
            <a:r>
              <a:t>Host: Music &amp; Cocktails: Lucas</a:t>
            </a:r>
          </a:p>
          <a:p>
            <a:pPr marL="685800" lvl="1" indent="-228600">
              <a:spcBef>
                <a:spcPts val="500"/>
              </a:spcBef>
              <a:buSzPts val="2000"/>
              <a:defRPr sz="2000"/>
            </a:pPr>
            <a:r>
              <a:t>Food: Chris</a:t>
            </a:r>
          </a:p>
          <a:p>
            <a:pPr marL="685800" lvl="1" indent="-228600">
              <a:spcBef>
                <a:spcPts val="500"/>
              </a:spcBef>
              <a:buSzPts val="2000"/>
              <a:defRPr sz="2000"/>
            </a:pPr>
            <a:r>
              <a:t>Notes: Adam (if not present, revert to person with food)</a:t>
            </a:r>
          </a:p>
          <a:p>
            <a:pPr marL="685800" lvl="1" indent="-228600">
              <a:spcBef>
                <a:spcPts val="500"/>
              </a:spcBef>
              <a:buSzPts val="2000"/>
              <a:defRPr sz="2000"/>
            </a:pPr>
            <a:r>
              <a:t>Final Thoughts</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Google Shape;307;p57"/>
          <p:cNvSpPr txBox="1">
            <a:spLocks noGrp="1"/>
          </p:cNvSpPr>
          <p:nvPr>
            <p:ph type="title"/>
          </p:nvPr>
        </p:nvSpPr>
        <p:spPr>
          <a:xfrm>
            <a:off x="822433" y="2109365"/>
            <a:ext cx="10820401" cy="2801939"/>
          </a:xfrm>
          <a:prstGeom prst="rect">
            <a:avLst/>
          </a:prstGeom>
        </p:spPr>
        <p:txBody>
          <a:bodyPr/>
          <a:lstStyle/>
          <a:p>
            <a:r>
              <a:t>APPENDICES</a:t>
            </a:r>
          </a:p>
        </p:txBody>
      </p:sp>
      <p:sp>
        <p:nvSpPr>
          <p:cNvPr id="288" name="Google Shape;308;p57"/>
          <p:cNvSpPr txBox="1">
            <a:spLocks noGrp="1"/>
          </p:cNvSpPr>
          <p:nvPr>
            <p:ph type="body" sz="quarter" idx="1"/>
          </p:nvPr>
        </p:nvSpPr>
        <p:spPr>
          <a:xfrm>
            <a:off x="1161101" y="4997560"/>
            <a:ext cx="10490201" cy="955678"/>
          </a:xfrm>
          <a:prstGeom prst="rect">
            <a:avLst/>
          </a:prstGeom>
        </p:spPr>
        <p:txBody>
          <a:bodyPr/>
          <a:lstStyle>
            <a:lvl1pPr indent="0">
              <a:spcBef>
                <a:spcPts val="0"/>
              </a:spcBef>
            </a:lvl1pPr>
          </a:lstStyle>
          <a:p>
            <a:r>
              <a:t>For reference only</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Google Shape;289;p58"/>
          <p:cNvSpPr txBox="1">
            <a:spLocks noGrp="1"/>
          </p:cNvSpPr>
          <p:nvPr>
            <p:ph type="title"/>
          </p:nvPr>
        </p:nvSpPr>
        <p:spPr>
          <a:xfrm>
            <a:off x="2715358" y="151232"/>
            <a:ext cx="8611559" cy="795255"/>
          </a:xfrm>
          <a:prstGeom prst="rect">
            <a:avLst/>
          </a:prstGeom>
        </p:spPr>
        <p:txBody>
          <a:bodyPr/>
          <a:lstStyle/>
          <a:p>
            <a:r>
              <a:t>HISTORY</a:t>
            </a:r>
          </a:p>
        </p:txBody>
      </p:sp>
      <p:graphicFrame>
        <p:nvGraphicFramePr>
          <p:cNvPr id="291" name="Google Shape;290;p58"/>
          <p:cNvGraphicFramePr/>
          <p:nvPr/>
        </p:nvGraphicFramePr>
        <p:xfrm>
          <a:off x="756549" y="1331016"/>
          <a:ext cx="10678901" cy="4079350"/>
        </p:xfrm>
        <a:graphic>
          <a:graphicData uri="http://schemas.openxmlformats.org/drawingml/2006/table">
            <a:tbl>
              <a:tblPr firstRow="1" bandRow="1">
                <a:tableStyleId>{4C3C2611-4C71-4FC5-86AE-919BDF0F9419}</a:tableStyleId>
              </a:tblPr>
              <a:tblGrid>
                <a:gridCol w="382500">
                  <a:extLst>
                    <a:ext uri="{9D8B030D-6E8A-4147-A177-3AD203B41FA5}">
                      <a16:colId xmlns:a16="http://schemas.microsoft.com/office/drawing/2014/main" val="20000"/>
                    </a:ext>
                  </a:extLst>
                </a:gridCol>
                <a:gridCol w="1769574">
                  <a:extLst>
                    <a:ext uri="{9D8B030D-6E8A-4147-A177-3AD203B41FA5}">
                      <a16:colId xmlns:a16="http://schemas.microsoft.com/office/drawing/2014/main" val="20001"/>
                    </a:ext>
                  </a:extLst>
                </a:gridCol>
                <a:gridCol w="890075">
                  <a:extLst>
                    <a:ext uri="{9D8B030D-6E8A-4147-A177-3AD203B41FA5}">
                      <a16:colId xmlns:a16="http://schemas.microsoft.com/office/drawing/2014/main" val="20002"/>
                    </a:ext>
                  </a:extLst>
                </a:gridCol>
                <a:gridCol w="2070675">
                  <a:extLst>
                    <a:ext uri="{9D8B030D-6E8A-4147-A177-3AD203B41FA5}">
                      <a16:colId xmlns:a16="http://schemas.microsoft.com/office/drawing/2014/main" val="20003"/>
                    </a:ext>
                  </a:extLst>
                </a:gridCol>
                <a:gridCol w="5566075">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1</a:t>
                      </a:r>
                    </a:p>
                  </a:txBody>
                  <a:tcPr marL="9525" marR="9525" marT="9525" marB="9525" anchor="b" horzOverflow="overflow"/>
                </a:tc>
                <a:tc>
                  <a:txBody>
                    <a:bodyPr/>
                    <a:lstStyle/>
                    <a:p>
                      <a:pPr algn="ctr">
                        <a:defRPr sz="1800"/>
                      </a:pPr>
                      <a:r>
                        <a:rPr sz="1400">
                          <a:solidFill>
                            <a:srgbClr val="FFFFFF"/>
                          </a:solidFill>
                          <a:sym typeface="Arial"/>
                        </a:rPr>
                        <a:t>1/22/2015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Sazerac</a:t>
                      </a:r>
                    </a:p>
                  </a:txBody>
                  <a:tcPr marL="9525" marR="9525" marT="9525" marB="9525" anchor="b" horzOverflow="overflow"/>
                </a:tc>
                <a:tc>
                  <a:txBody>
                    <a:bodyPr/>
                    <a:lstStyle/>
                    <a:p>
                      <a:pPr algn="l">
                        <a:defRPr sz="1800"/>
                      </a:pPr>
                      <a:r>
                        <a:rPr sz="1400">
                          <a:solidFill>
                            <a:srgbClr val="FFFFFF"/>
                          </a:solidFill>
                          <a:sym typeface="Arial"/>
                        </a:rPr>
                        <a:t>King Crimson In the Court of the Crimson King</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2</a:t>
                      </a:r>
                    </a:p>
                  </a:txBody>
                  <a:tcPr marL="9525" marR="9525" marT="9525" marB="9525" anchor="b" horzOverflow="overflow"/>
                </a:tc>
                <a:tc>
                  <a:txBody>
                    <a:bodyPr/>
                    <a:lstStyle/>
                    <a:p>
                      <a:pPr algn="ctr">
                        <a:defRPr sz="1800"/>
                      </a:pPr>
                      <a:r>
                        <a:rPr sz="1400">
                          <a:solidFill>
                            <a:srgbClr val="FFFFFF"/>
                          </a:solidFill>
                          <a:sym typeface="Arial"/>
                        </a:rPr>
                        <a:t>2/26/2015</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Sidecar</a:t>
                      </a:r>
                    </a:p>
                  </a:txBody>
                  <a:tcPr marL="9525" marR="9525" marT="9525" marB="9525" anchor="b" horzOverflow="overflow"/>
                </a:tc>
                <a:tc>
                  <a:txBody>
                    <a:bodyPr/>
                    <a:lstStyle/>
                    <a:p>
                      <a:pPr algn="l">
                        <a:defRPr sz="1800"/>
                      </a:pPr>
                      <a:r>
                        <a:rPr sz="1400">
                          <a:solidFill>
                            <a:srgbClr val="FFFFFF"/>
                          </a:solidFill>
                          <a:sym typeface="Arial"/>
                        </a:rPr>
                        <a:t>Mountain Nantucket Sleighride</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3</a:t>
                      </a:r>
                    </a:p>
                  </a:txBody>
                  <a:tcPr marL="9525" marR="9525" marT="9525" marB="9525" anchor="b" horzOverflow="overflow"/>
                </a:tc>
                <a:tc>
                  <a:txBody>
                    <a:bodyPr/>
                    <a:lstStyle/>
                    <a:p>
                      <a:pPr algn="ctr">
                        <a:defRPr sz="1800"/>
                      </a:pPr>
                      <a:r>
                        <a:rPr sz="1400">
                          <a:solidFill>
                            <a:srgbClr val="FFFFFF"/>
                          </a:solidFill>
                          <a:sym typeface="Arial"/>
                        </a:rPr>
                        <a:t>3/27/2015</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Rusty Nail</a:t>
                      </a:r>
                    </a:p>
                  </a:txBody>
                  <a:tcPr marL="9525" marR="9525" marT="9525" marB="9525" anchor="b" horzOverflow="overflow"/>
                </a:tc>
                <a:tc>
                  <a:txBody>
                    <a:bodyPr/>
                    <a:lstStyle/>
                    <a:p>
                      <a:pPr algn="l">
                        <a:defRPr sz="1800"/>
                      </a:pPr>
                      <a:r>
                        <a:rPr sz="1400">
                          <a:solidFill>
                            <a:srgbClr val="FFFFFF"/>
                          </a:solidFill>
                          <a:sym typeface="Arial"/>
                        </a:rPr>
                        <a:t>Sebado, Yo La Tengo, Ben Lee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4</a:t>
                      </a:r>
                    </a:p>
                  </a:txBody>
                  <a:tcPr marL="9525" marR="9525" marT="9525" marB="9525" anchor="b" horzOverflow="overflow"/>
                </a:tc>
                <a:tc>
                  <a:txBody>
                    <a:bodyPr/>
                    <a:lstStyle/>
                    <a:p>
                      <a:pPr algn="ctr">
                        <a:defRPr sz="1800"/>
                      </a:pPr>
                      <a:r>
                        <a:rPr sz="1400">
                          <a:solidFill>
                            <a:srgbClr val="FFFFFF"/>
                          </a:solidFill>
                          <a:sym typeface="Arial"/>
                        </a:rPr>
                        <a:t>4/23/2015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Harvey Wallbanger</a:t>
                      </a:r>
                    </a:p>
                  </a:txBody>
                  <a:tcPr marL="9525" marR="9525" marT="9525" marB="9525" anchor="b" horzOverflow="overflow"/>
                </a:tc>
                <a:tc>
                  <a:txBody>
                    <a:bodyPr/>
                    <a:lstStyle/>
                    <a:p>
                      <a:pPr algn="l">
                        <a:defRPr sz="1800"/>
                      </a:pPr>
                      <a:r>
                        <a:rPr sz="1400">
                          <a:solidFill>
                            <a:srgbClr val="FFFFFF"/>
                          </a:solidFill>
                          <a:sym typeface="Arial"/>
                        </a:rPr>
                        <a:t>The Knife Silent Shout</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5</a:t>
                      </a:r>
                    </a:p>
                  </a:txBody>
                  <a:tcPr marL="9525" marR="9525" marT="9525" marB="9525" anchor="b" horzOverflow="overflow"/>
                </a:tc>
                <a:tc>
                  <a:txBody>
                    <a:bodyPr/>
                    <a:lstStyle/>
                    <a:p>
                      <a:pPr algn="ctr">
                        <a:defRPr sz="1800"/>
                      </a:pPr>
                      <a:r>
                        <a:rPr sz="1400">
                          <a:solidFill>
                            <a:srgbClr val="FFFFFF"/>
                          </a:solidFill>
                          <a:sym typeface="Arial"/>
                        </a:rPr>
                        <a:t>7/29/2015</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Rum Ball</a:t>
                      </a:r>
                    </a:p>
                  </a:txBody>
                  <a:tcPr marL="9525" marR="9525" marT="9525" marB="9525" anchor="b" horzOverflow="overflow"/>
                </a:tc>
                <a:tc>
                  <a:txBody>
                    <a:bodyPr/>
                    <a:lstStyle/>
                    <a:p>
                      <a:pPr algn="l">
                        <a:defRPr sz="1800"/>
                      </a:pPr>
                      <a:r>
                        <a:rPr sz="1400">
                          <a:solidFill>
                            <a:srgbClr val="FFFFFF"/>
                          </a:solidFill>
                          <a:sym typeface="Arial"/>
                        </a:rPr>
                        <a:t>Jefferson Airplane Surrealistic Pillow, Talking Heads Talking Heads:77</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6</a:t>
                      </a:r>
                    </a:p>
                  </a:txBody>
                  <a:tcPr marL="9525" marR="9525" marT="9525" marB="9525" anchor="b" horzOverflow="overflow"/>
                </a:tc>
                <a:tc>
                  <a:txBody>
                    <a:bodyPr/>
                    <a:lstStyle/>
                    <a:p>
                      <a:pPr algn="ctr">
                        <a:defRPr sz="1800"/>
                      </a:pPr>
                      <a:r>
                        <a:rPr sz="1400">
                          <a:solidFill>
                            <a:srgbClr val="FFFFFF"/>
                          </a:solidFill>
                          <a:sym typeface="Arial"/>
                        </a:rPr>
                        <a:t>11/5/2015</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Old Fashion</a:t>
                      </a:r>
                    </a:p>
                  </a:txBody>
                  <a:tcPr marL="9525" marR="9525" marT="9525" marB="9525" anchor="b" horzOverflow="overflow"/>
                </a:tc>
                <a:tc>
                  <a:txBody>
                    <a:bodyPr/>
                    <a:lstStyle/>
                    <a:p>
                      <a:pPr algn="l">
                        <a:defRPr sz="1800"/>
                      </a:pPr>
                      <a:r>
                        <a:rPr sz="1400">
                          <a:solidFill>
                            <a:srgbClr val="FFFFFF"/>
                          </a:solidFill>
                          <a:sym typeface="Arial"/>
                        </a:rPr>
                        <a:t>The Afghan Whigs Black Love</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7</a:t>
                      </a:r>
                    </a:p>
                  </a:txBody>
                  <a:tcPr marL="9525" marR="9525" marT="9525" marB="9525" anchor="b" horzOverflow="overflow"/>
                </a:tc>
                <a:tc>
                  <a:txBody>
                    <a:bodyPr/>
                    <a:lstStyle/>
                    <a:p>
                      <a:pPr algn="ctr">
                        <a:defRPr sz="1800"/>
                      </a:pPr>
                      <a:r>
                        <a:rPr sz="1400">
                          <a:solidFill>
                            <a:srgbClr val="FFFFFF"/>
                          </a:solidFill>
                          <a:sym typeface="Arial"/>
                        </a:rPr>
                        <a:t>12/17/2015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Between the Sheets</a:t>
                      </a:r>
                    </a:p>
                  </a:txBody>
                  <a:tcPr marL="9525" marR="9525" marT="9525" marB="9525" anchor="b" horzOverflow="overflow"/>
                </a:tc>
                <a:tc>
                  <a:txBody>
                    <a:bodyPr/>
                    <a:lstStyle/>
                    <a:p>
                      <a:pPr algn="l">
                        <a:defRPr sz="1800"/>
                      </a:pPr>
                      <a:r>
                        <a:rPr sz="1400">
                          <a:solidFill>
                            <a:srgbClr val="FFFFFF"/>
                          </a:solidFill>
                          <a:sym typeface="Arial"/>
                        </a:rPr>
                        <a:t>The Stooges Raw Power</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8</a:t>
                      </a:r>
                    </a:p>
                  </a:txBody>
                  <a:tcPr marL="9525" marR="9525" marT="9525" marB="9525" anchor="b" horzOverflow="overflow"/>
                </a:tc>
                <a:tc>
                  <a:txBody>
                    <a:bodyPr/>
                    <a:lstStyle/>
                    <a:p>
                      <a:pPr algn="ctr">
                        <a:defRPr sz="1800"/>
                      </a:pPr>
                      <a:r>
                        <a:rPr sz="1400">
                          <a:solidFill>
                            <a:srgbClr val="FFFFFF"/>
                          </a:solidFill>
                          <a:sym typeface="Arial"/>
                        </a:rPr>
                        <a:t>1/26/2016</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Whiskey Sour</a:t>
                      </a:r>
                    </a:p>
                  </a:txBody>
                  <a:tcPr marL="9525" marR="9525" marT="9525" marB="9525" anchor="b" horzOverflow="overflow"/>
                </a:tc>
                <a:tc>
                  <a:txBody>
                    <a:bodyPr/>
                    <a:lstStyle/>
                    <a:p>
                      <a:pPr algn="l">
                        <a:defRPr sz="1800"/>
                      </a:pPr>
                      <a:r>
                        <a:rPr sz="1400">
                          <a:solidFill>
                            <a:srgbClr val="FFFFFF"/>
                          </a:solidFill>
                          <a:sym typeface="Arial"/>
                        </a:rPr>
                        <a:t>James Brown Say it Loud, David Bowie tribute</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9</a:t>
                      </a:r>
                    </a:p>
                  </a:txBody>
                  <a:tcPr marL="9525" marR="9525" marT="9525" marB="9525" anchor="b" horzOverflow="overflow"/>
                </a:tc>
                <a:tc>
                  <a:txBody>
                    <a:bodyPr/>
                    <a:lstStyle/>
                    <a:p>
                      <a:pPr algn="ctr">
                        <a:defRPr sz="1800"/>
                      </a:pPr>
                      <a:r>
                        <a:rPr sz="1400">
                          <a:solidFill>
                            <a:srgbClr val="FFFFFF"/>
                          </a:solidFill>
                          <a:sym typeface="Arial"/>
                        </a:rPr>
                        <a:t>3/25/2016</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Negroni</a:t>
                      </a:r>
                    </a:p>
                  </a:txBody>
                  <a:tcPr marL="9525" marR="9525" marT="9525" marB="9525" anchor="b" horzOverflow="overflow"/>
                </a:tc>
                <a:tc>
                  <a:txBody>
                    <a:bodyPr/>
                    <a:lstStyle/>
                    <a:p>
                      <a:pPr algn="l">
                        <a:defRPr sz="1800"/>
                      </a:pPr>
                      <a:r>
                        <a:rPr sz="1400">
                          <a:solidFill>
                            <a:srgbClr val="FFFFFF"/>
                          </a:solidFill>
                          <a:sym typeface="Arial"/>
                        </a:rPr>
                        <a:t>Paul Simon Graceland, Arcade Fire Funeral, Vampire Weekend Vampire Weekend</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10</a:t>
                      </a:r>
                    </a:p>
                  </a:txBody>
                  <a:tcPr marL="9525" marR="9525" marT="9525" marB="9525" anchor="b" horzOverflow="overflow"/>
                </a:tc>
                <a:tc>
                  <a:txBody>
                    <a:bodyPr/>
                    <a:lstStyle/>
                    <a:p>
                      <a:pPr algn="ctr">
                        <a:defRPr sz="1800"/>
                      </a:pPr>
                      <a:r>
                        <a:rPr sz="1400">
                          <a:solidFill>
                            <a:srgbClr val="FFFFFF"/>
                          </a:solidFill>
                          <a:sym typeface="Arial"/>
                        </a:rPr>
                        <a:t>5/26/2016</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Bloody Mary</a:t>
                      </a:r>
                    </a:p>
                  </a:txBody>
                  <a:tcPr marL="9525" marR="9525" marT="9525" marB="9525" anchor="b" horzOverflow="overflow"/>
                </a:tc>
                <a:tc>
                  <a:txBody>
                    <a:bodyPr/>
                    <a:lstStyle/>
                    <a:p>
                      <a:pPr algn="l">
                        <a:defRPr sz="1800"/>
                      </a:pPr>
                      <a:r>
                        <a:rPr sz="1400">
                          <a:solidFill>
                            <a:srgbClr val="FFFFFF"/>
                          </a:solidFill>
                          <a:sym typeface="Arial"/>
                        </a:rPr>
                        <a:t>The Replacements Pleased to Meet You, The Jam Setting Sons, Big Star #1 Record</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Google Shape;295;p59"/>
          <p:cNvSpPr txBox="1">
            <a:spLocks noGrp="1"/>
          </p:cNvSpPr>
          <p:nvPr>
            <p:ph type="title"/>
          </p:nvPr>
        </p:nvSpPr>
        <p:spPr>
          <a:xfrm>
            <a:off x="2753982" y="160736"/>
            <a:ext cx="8609797" cy="802197"/>
          </a:xfrm>
          <a:prstGeom prst="rect">
            <a:avLst/>
          </a:prstGeom>
        </p:spPr>
        <p:txBody>
          <a:bodyPr/>
          <a:lstStyle/>
          <a:p>
            <a:r>
              <a:t>HISTORY</a:t>
            </a:r>
          </a:p>
        </p:txBody>
      </p:sp>
      <p:graphicFrame>
        <p:nvGraphicFramePr>
          <p:cNvPr id="294" name="Google Shape;296;p59"/>
          <p:cNvGraphicFramePr/>
          <p:nvPr/>
        </p:nvGraphicFramePr>
        <p:xfrm>
          <a:off x="723887" y="1229931"/>
          <a:ext cx="10744225" cy="4079351"/>
        </p:xfrm>
        <a:graphic>
          <a:graphicData uri="http://schemas.openxmlformats.org/drawingml/2006/table">
            <a:tbl>
              <a:tblPr firstRow="1" bandRow="1">
                <a:tableStyleId>{4C3C2611-4C71-4FC5-86AE-919BDF0F9419}</a:tableStyleId>
              </a:tblPr>
              <a:tblGrid>
                <a:gridCol w="391550">
                  <a:extLst>
                    <a:ext uri="{9D8B030D-6E8A-4147-A177-3AD203B41FA5}">
                      <a16:colId xmlns:a16="http://schemas.microsoft.com/office/drawing/2014/main" val="20000"/>
                    </a:ext>
                  </a:extLst>
                </a:gridCol>
                <a:gridCol w="1485800">
                  <a:extLst>
                    <a:ext uri="{9D8B030D-6E8A-4147-A177-3AD203B41FA5}">
                      <a16:colId xmlns:a16="http://schemas.microsoft.com/office/drawing/2014/main" val="20001"/>
                    </a:ext>
                  </a:extLst>
                </a:gridCol>
                <a:gridCol w="629200">
                  <a:extLst>
                    <a:ext uri="{9D8B030D-6E8A-4147-A177-3AD203B41FA5}">
                      <a16:colId xmlns:a16="http://schemas.microsoft.com/office/drawing/2014/main" val="20002"/>
                    </a:ext>
                  </a:extLst>
                </a:gridCol>
                <a:gridCol w="1996400">
                  <a:extLst>
                    <a:ext uri="{9D8B030D-6E8A-4147-A177-3AD203B41FA5}">
                      <a16:colId xmlns:a16="http://schemas.microsoft.com/office/drawing/2014/main" val="20003"/>
                    </a:ext>
                  </a:extLst>
                </a:gridCol>
                <a:gridCol w="6241275">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11</a:t>
                      </a:r>
                    </a:p>
                  </a:txBody>
                  <a:tcPr marL="9525" marR="9525" marT="9525" marB="9525" anchor="b" horzOverflow="overflow"/>
                </a:tc>
                <a:tc>
                  <a:txBody>
                    <a:bodyPr/>
                    <a:lstStyle/>
                    <a:p>
                      <a:pPr algn="ctr">
                        <a:defRPr sz="1800"/>
                      </a:pPr>
                      <a:r>
                        <a:rPr sz="1400">
                          <a:solidFill>
                            <a:srgbClr val="FFFFFF"/>
                          </a:solidFill>
                          <a:sym typeface="Arial"/>
                        </a:rPr>
                        <a:t>8/10/2016</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Stinger</a:t>
                      </a:r>
                    </a:p>
                  </a:txBody>
                  <a:tcPr marL="9525" marR="9525" marT="9525" marB="9525" anchor="b" horzOverflow="overflow"/>
                </a:tc>
                <a:tc>
                  <a:txBody>
                    <a:bodyPr/>
                    <a:lstStyle/>
                    <a:p>
                      <a:pPr algn="l">
                        <a:defRPr sz="1800"/>
                      </a:pPr>
                      <a:r>
                        <a:rPr sz="1400">
                          <a:solidFill>
                            <a:srgbClr val="FFFFFF"/>
                          </a:solidFill>
                          <a:sym typeface="Arial"/>
                        </a:rPr>
                        <a:t>Joy Division Unknown Pleasures, Genesis Selling England by the Pound, Radiohead A Moon Shaped Pool</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12</a:t>
                      </a:r>
                    </a:p>
                  </a:txBody>
                  <a:tcPr marL="9525" marR="9525" marT="9525" marB="9525" anchor="b" horzOverflow="overflow"/>
                </a:tc>
                <a:tc>
                  <a:txBody>
                    <a:bodyPr/>
                    <a:lstStyle/>
                    <a:p>
                      <a:pPr algn="ctr">
                        <a:defRPr sz="1800"/>
                      </a:pPr>
                      <a:r>
                        <a:rPr sz="1400">
                          <a:solidFill>
                            <a:srgbClr val="FFFFFF"/>
                          </a:solidFill>
                          <a:sym typeface="Arial"/>
                        </a:rPr>
                        <a:t>9/29/2016</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Soft Wink</a:t>
                      </a:r>
                    </a:p>
                  </a:txBody>
                  <a:tcPr marL="9525" marR="9525" marT="9525" marB="9525" anchor="b" horzOverflow="overflow"/>
                </a:tc>
                <a:tc>
                  <a:txBody>
                    <a:bodyPr/>
                    <a:lstStyle/>
                    <a:p>
                      <a:pPr algn="l">
                        <a:defRPr sz="1800"/>
                      </a:pPr>
                      <a:r>
                        <a:rPr sz="1400">
                          <a:solidFill>
                            <a:srgbClr val="FFFFFF"/>
                          </a:solidFill>
                          <a:sym typeface="Arial"/>
                        </a:rPr>
                        <a:t>Adrian Belew Young Lions, Robin Trower Bridge of Sighs, Santana Moonflower</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13</a:t>
                      </a:r>
                    </a:p>
                  </a:txBody>
                  <a:tcPr marL="9525" marR="9525" marT="9525" marB="9525" anchor="b" horzOverflow="overflow"/>
                </a:tc>
                <a:tc>
                  <a:txBody>
                    <a:bodyPr/>
                    <a:lstStyle/>
                    <a:p>
                      <a:pPr algn="ctr">
                        <a:defRPr sz="1800"/>
                      </a:pPr>
                      <a:r>
                        <a:rPr sz="1400">
                          <a:solidFill>
                            <a:srgbClr val="FFFFFF"/>
                          </a:solidFill>
                          <a:sym typeface="Arial"/>
                        </a:rPr>
                        <a:t>12/8/2016</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The Magnificent Bastard</a:t>
                      </a:r>
                    </a:p>
                  </a:txBody>
                  <a:tcPr marL="9525" marR="9525" marT="9525" marB="9525" anchor="b" horzOverflow="overflow"/>
                </a:tc>
                <a:tc>
                  <a:txBody>
                    <a:bodyPr/>
                    <a:lstStyle/>
                    <a:p>
                      <a:pPr algn="l">
                        <a:defRPr sz="1800"/>
                      </a:pPr>
                      <a:r>
                        <a:rPr sz="1400">
                          <a:solidFill>
                            <a:srgbClr val="FFFFFF"/>
                          </a:solidFill>
                          <a:sym typeface="Arial"/>
                        </a:rPr>
                        <a:t>Frightened Rabbits Midnight Organ Fight, Leonard Cohen Personal Problems, Bob Dylan Blood on the Tracks</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14</a:t>
                      </a:r>
                    </a:p>
                  </a:txBody>
                  <a:tcPr marL="9525" marR="9525" marT="9525" marB="9525" anchor="b" horzOverflow="overflow"/>
                </a:tc>
                <a:tc>
                  <a:txBody>
                    <a:bodyPr/>
                    <a:lstStyle/>
                    <a:p>
                      <a:pPr algn="ctr">
                        <a:defRPr sz="1800"/>
                      </a:pPr>
                      <a:r>
                        <a:rPr sz="1400">
                          <a:solidFill>
                            <a:srgbClr val="FFFFFF"/>
                          </a:solidFill>
                          <a:sym typeface="Arial"/>
                        </a:rPr>
                        <a:t>1/26/2017</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Manhattan</a:t>
                      </a:r>
                    </a:p>
                  </a:txBody>
                  <a:tcPr marL="9525" marR="9525" marT="9525" marB="9525" anchor="b" horzOverflow="overflow"/>
                </a:tc>
                <a:tc>
                  <a:txBody>
                    <a:bodyPr/>
                    <a:lstStyle/>
                    <a:p>
                      <a:pPr algn="l">
                        <a:defRPr sz="1800"/>
                      </a:pPr>
                      <a:r>
                        <a:rPr sz="1400">
                          <a:solidFill>
                            <a:srgbClr val="FFFFFF"/>
                          </a:solidFill>
                          <a:sym typeface="Arial"/>
                        </a:rPr>
                        <a:t>Galaxie 500 On Fire, Morphine Cure for Pain, Built to Spill Perfect from Now On</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15</a:t>
                      </a:r>
                    </a:p>
                  </a:txBody>
                  <a:tcPr marL="9525" marR="9525" marT="9525" marB="9525" anchor="b" horzOverflow="overflow"/>
                </a:tc>
                <a:tc>
                  <a:txBody>
                    <a:bodyPr/>
                    <a:lstStyle/>
                    <a:p>
                      <a:pPr algn="ctr">
                        <a:defRPr sz="1800"/>
                      </a:pPr>
                      <a:r>
                        <a:rPr sz="1400">
                          <a:solidFill>
                            <a:srgbClr val="FFFFFF"/>
                          </a:solidFill>
                          <a:sym typeface="Arial"/>
                        </a:rPr>
                        <a:t>3/9/2017</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Vieux Carre</a:t>
                      </a:r>
                    </a:p>
                  </a:txBody>
                  <a:tcPr marL="9525" marR="9525" marT="9525" marB="9525" anchor="b" horzOverflow="overflow"/>
                </a:tc>
                <a:tc>
                  <a:txBody>
                    <a:bodyPr/>
                    <a:lstStyle/>
                    <a:p>
                      <a:pPr algn="l">
                        <a:defRPr sz="1800"/>
                      </a:pPr>
                      <a:r>
                        <a:rPr sz="1400">
                          <a:solidFill>
                            <a:srgbClr val="FFFFFF"/>
                          </a:solidFill>
                          <a:sym typeface="Arial"/>
                        </a:rPr>
                        <a:t>MC5 Kick Out the Jams, Mastodon Crack the Skye, Black Sabbath Black Sabbath Vol 4</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16</a:t>
                      </a:r>
                    </a:p>
                  </a:txBody>
                  <a:tcPr marL="9525" marR="9525" marT="9525" marB="9525" anchor="b" horzOverflow="overflow"/>
                </a:tc>
                <a:tc>
                  <a:txBody>
                    <a:bodyPr/>
                    <a:lstStyle/>
                    <a:p>
                      <a:pPr algn="ctr">
                        <a:defRPr sz="1800"/>
                      </a:pPr>
                      <a:r>
                        <a:rPr sz="1400">
                          <a:solidFill>
                            <a:srgbClr val="FFFFFF"/>
                          </a:solidFill>
                          <a:sym typeface="Arial"/>
                        </a:rPr>
                        <a:t>5/4/2017</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Vodka Martini (Kangaroo)</a:t>
                      </a:r>
                    </a:p>
                  </a:txBody>
                  <a:tcPr marL="9525" marR="9525" marT="9525" marB="9525" anchor="b" horzOverflow="overflow"/>
                </a:tc>
                <a:tc>
                  <a:txBody>
                    <a:bodyPr/>
                    <a:lstStyle/>
                    <a:p>
                      <a:pPr algn="l">
                        <a:defRPr sz="1800"/>
                      </a:pPr>
                      <a:r>
                        <a:rPr sz="1400">
                          <a:solidFill>
                            <a:srgbClr val="FFFFFF"/>
                          </a:solidFill>
                          <a:sym typeface="Arial"/>
                        </a:rPr>
                        <a:t>Live Mental Jewelry, Kansas Leftoverture, Allman Brothers At Fillmore East</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17</a:t>
                      </a:r>
                    </a:p>
                  </a:txBody>
                  <a:tcPr marL="9525" marR="9525" marT="9525" marB="9525" anchor="b" horzOverflow="overflow"/>
                </a:tc>
                <a:tc>
                  <a:txBody>
                    <a:bodyPr/>
                    <a:lstStyle/>
                    <a:p>
                      <a:pPr algn="ctr">
                        <a:defRPr sz="1800"/>
                      </a:pPr>
                      <a:r>
                        <a:rPr sz="1400">
                          <a:solidFill>
                            <a:srgbClr val="FFFFFF"/>
                          </a:solidFill>
                          <a:sym typeface="Arial"/>
                        </a:rPr>
                        <a:t>8/10/2017</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The Sun Also Sets</a:t>
                      </a:r>
                    </a:p>
                  </a:txBody>
                  <a:tcPr marL="9525" marR="9525" marT="9525" marB="9525" anchor="b" horzOverflow="overflow"/>
                </a:tc>
                <a:tc>
                  <a:txBody>
                    <a:bodyPr/>
                    <a:lstStyle/>
                    <a:p>
                      <a:pPr algn="l">
                        <a:defRPr sz="1800"/>
                      </a:pPr>
                      <a:r>
                        <a:rPr sz="1400">
                          <a:solidFill>
                            <a:srgbClr val="FFFFFF"/>
                          </a:solidFill>
                          <a:sym typeface="Arial"/>
                        </a:rPr>
                        <a:t>Interpol Turn On The Bright Lights, Serge Gainsbourg &amp; Jane Burkin Jane Burkin/Serge Gainsbourg, Modest Mouse The Moon &amp; Antarctica</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18</a:t>
                      </a:r>
                    </a:p>
                  </a:txBody>
                  <a:tcPr marL="9525" marR="9525" marT="9525" marB="9525" anchor="b" horzOverflow="overflow"/>
                </a:tc>
                <a:tc>
                  <a:txBody>
                    <a:bodyPr/>
                    <a:lstStyle/>
                    <a:p>
                      <a:pPr algn="ctr">
                        <a:defRPr sz="1800"/>
                      </a:pPr>
                      <a:r>
                        <a:rPr sz="1400">
                          <a:solidFill>
                            <a:srgbClr val="FFFFFF"/>
                          </a:solidFill>
                          <a:sym typeface="Arial"/>
                        </a:rPr>
                        <a:t>9/14/2017</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Moscow Mule</a:t>
                      </a:r>
                    </a:p>
                  </a:txBody>
                  <a:tcPr marL="9525" marR="9525" marT="9525" marB="9525" anchor="b" horzOverflow="overflow"/>
                </a:tc>
                <a:tc>
                  <a:txBody>
                    <a:bodyPr/>
                    <a:lstStyle/>
                    <a:p>
                      <a:pPr algn="l">
                        <a:defRPr sz="1800"/>
                      </a:pPr>
                      <a:r>
                        <a:rPr sz="1400">
                          <a:solidFill>
                            <a:srgbClr val="FFFFFF"/>
                          </a:solidFill>
                          <a:sym typeface="Arial"/>
                        </a:rPr>
                        <a:t>David Bowie Pinups, Steve Earle Townes: The Basics, Kurt Vile Believe I’m Going Down, (also played*John Mayer – Where the Light Is, Steely Dan – Aja)</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19</a:t>
                      </a:r>
                    </a:p>
                  </a:txBody>
                  <a:tcPr marL="9525" marR="9525" marT="9525" marB="9525" anchor="b" horzOverflow="overflow"/>
                </a:tc>
                <a:tc>
                  <a:txBody>
                    <a:bodyPr/>
                    <a:lstStyle/>
                    <a:p>
                      <a:pPr algn="ctr">
                        <a:defRPr sz="1800"/>
                      </a:pPr>
                      <a:r>
                        <a:rPr sz="1400">
                          <a:solidFill>
                            <a:srgbClr val="FFFFFF"/>
                          </a:solidFill>
                          <a:sym typeface="Arial"/>
                        </a:rPr>
                        <a:t>10/26/2017</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The Aviation</a:t>
                      </a:r>
                    </a:p>
                  </a:txBody>
                  <a:tcPr marL="9525" marR="9525" marT="9525" marB="9525" anchor="b" horzOverflow="overflow"/>
                </a:tc>
                <a:tc>
                  <a:txBody>
                    <a:bodyPr/>
                    <a:lstStyle/>
                    <a:p>
                      <a:pPr algn="l">
                        <a:defRPr sz="1800"/>
                      </a:pPr>
                      <a:r>
                        <a:rPr sz="1400">
                          <a:solidFill>
                            <a:srgbClr val="FFFFFF"/>
                          </a:solidFill>
                          <a:sym typeface="Arial"/>
                        </a:rPr>
                        <a:t>Spoon Ga Ga Ga Ga Ga, Fleetwood Mac Rumours, R.E.M. Murmur</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20</a:t>
                      </a:r>
                    </a:p>
                  </a:txBody>
                  <a:tcPr marL="9525" marR="9525" marT="9525" marB="9525" anchor="b" horzOverflow="overflow"/>
                </a:tc>
                <a:tc>
                  <a:txBody>
                    <a:bodyPr/>
                    <a:lstStyle/>
                    <a:p>
                      <a:pPr algn="ctr">
                        <a:defRPr sz="1800"/>
                      </a:pPr>
                      <a:r>
                        <a:rPr sz="1400">
                          <a:solidFill>
                            <a:srgbClr val="FFFFFF"/>
                          </a:solidFill>
                          <a:sym typeface="Arial"/>
                        </a:rPr>
                        <a:t>1/25/2018</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Black Russian</a:t>
                      </a:r>
                    </a:p>
                  </a:txBody>
                  <a:tcPr marL="9525" marR="9525" marT="9525" marB="9525" anchor="b" horzOverflow="overflow"/>
                </a:tc>
                <a:tc>
                  <a:txBody>
                    <a:bodyPr/>
                    <a:lstStyle/>
                    <a:p>
                      <a:pPr algn="l">
                        <a:defRPr sz="1800"/>
                      </a:pPr>
                      <a:r>
                        <a:rPr sz="1400">
                          <a:solidFill>
                            <a:srgbClr val="FFFFFF"/>
                          </a:solidFill>
                          <a:sym typeface="Arial"/>
                        </a:rPr>
                        <a:t>Widespread Panic - VCL Mix Edition, J. Geils - The Morning After, Jethro Tull - Thick As A Brick</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Google Shape;301;p60"/>
          <p:cNvSpPr txBox="1">
            <a:spLocks noGrp="1"/>
          </p:cNvSpPr>
          <p:nvPr>
            <p:ph type="title"/>
          </p:nvPr>
        </p:nvSpPr>
        <p:spPr>
          <a:xfrm>
            <a:off x="2895600" y="220482"/>
            <a:ext cx="8610600" cy="800184"/>
          </a:xfrm>
          <a:prstGeom prst="rect">
            <a:avLst/>
          </a:prstGeom>
        </p:spPr>
        <p:txBody>
          <a:bodyPr/>
          <a:lstStyle/>
          <a:p>
            <a:r>
              <a:t>HISTORY</a:t>
            </a:r>
          </a:p>
        </p:txBody>
      </p:sp>
      <p:graphicFrame>
        <p:nvGraphicFramePr>
          <p:cNvPr id="297" name="Google Shape;302;p60"/>
          <p:cNvGraphicFramePr/>
          <p:nvPr/>
        </p:nvGraphicFramePr>
        <p:xfrm>
          <a:off x="723887" y="1272707"/>
          <a:ext cx="10744225" cy="4079351"/>
        </p:xfrm>
        <a:graphic>
          <a:graphicData uri="http://schemas.openxmlformats.org/drawingml/2006/table">
            <a:tbl>
              <a:tblPr firstRow="1" bandRow="1">
                <a:tableStyleId>{4C3C2611-4C71-4FC5-86AE-919BDF0F9419}</a:tableStyleId>
              </a:tblPr>
              <a:tblGrid>
                <a:gridCol w="382500">
                  <a:extLst>
                    <a:ext uri="{9D8B030D-6E8A-4147-A177-3AD203B41FA5}">
                      <a16:colId xmlns:a16="http://schemas.microsoft.com/office/drawing/2014/main" val="20000"/>
                    </a:ext>
                  </a:extLst>
                </a:gridCol>
                <a:gridCol w="1295375">
                  <a:extLst>
                    <a:ext uri="{9D8B030D-6E8A-4147-A177-3AD203B41FA5}">
                      <a16:colId xmlns:a16="http://schemas.microsoft.com/office/drawing/2014/main" val="20001"/>
                    </a:ext>
                  </a:extLst>
                </a:gridCol>
                <a:gridCol w="630175">
                  <a:extLst>
                    <a:ext uri="{9D8B030D-6E8A-4147-A177-3AD203B41FA5}">
                      <a16:colId xmlns:a16="http://schemas.microsoft.com/office/drawing/2014/main" val="20002"/>
                    </a:ext>
                  </a:extLst>
                </a:gridCol>
                <a:gridCol w="2252325">
                  <a:extLst>
                    <a:ext uri="{9D8B030D-6E8A-4147-A177-3AD203B41FA5}">
                      <a16:colId xmlns:a16="http://schemas.microsoft.com/office/drawing/2014/main" val="20003"/>
                    </a:ext>
                  </a:extLst>
                </a:gridCol>
                <a:gridCol w="618385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 </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21</a:t>
                      </a:r>
                    </a:p>
                  </a:txBody>
                  <a:tcPr marL="9525" marR="9525" marT="9525" marB="9525" anchor="b" horzOverflow="overflow"/>
                </a:tc>
                <a:tc>
                  <a:txBody>
                    <a:bodyPr/>
                    <a:lstStyle/>
                    <a:p>
                      <a:pPr algn="ctr">
                        <a:defRPr sz="1800"/>
                      </a:pPr>
                      <a:r>
                        <a:rPr sz="1400">
                          <a:solidFill>
                            <a:srgbClr val="FFFFFF"/>
                          </a:solidFill>
                          <a:sym typeface="Arial"/>
                        </a:rPr>
                        <a:t>3/8/2018</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Black Ginger</a:t>
                      </a:r>
                    </a:p>
                  </a:txBody>
                  <a:tcPr marL="9525" marR="9525" marT="9525" marB="9525" anchor="b" horzOverflow="overflow"/>
                </a:tc>
                <a:tc>
                  <a:txBody>
                    <a:bodyPr/>
                    <a:lstStyle/>
                    <a:p>
                      <a:pPr algn="l">
                        <a:defRPr sz="1800"/>
                      </a:pPr>
                      <a:r>
                        <a:rPr sz="1400">
                          <a:solidFill>
                            <a:srgbClr val="FFFFFF"/>
                          </a:solidFill>
                          <a:sym typeface="Arial"/>
                        </a:rPr>
                        <a:t>Stone Roses The Stone Roses, Grouplove Never Trust a Happy Song, The Wombats Beautiful People Will Ruin Your Life</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22</a:t>
                      </a:r>
                    </a:p>
                  </a:txBody>
                  <a:tcPr marL="9525" marR="9525" marT="9525" marB="9525" anchor="b" horzOverflow="overflow"/>
                </a:tc>
                <a:tc>
                  <a:txBody>
                    <a:bodyPr/>
                    <a:lstStyle/>
                    <a:p>
                      <a:pPr algn="ctr">
                        <a:defRPr sz="1800"/>
                      </a:pPr>
                      <a:r>
                        <a:rPr sz="1400">
                          <a:solidFill>
                            <a:srgbClr val="FFFFFF"/>
                          </a:solidFill>
                          <a:sym typeface="Arial"/>
                        </a:rPr>
                        <a:t>5/10/2018</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Old Pal</a:t>
                      </a:r>
                    </a:p>
                  </a:txBody>
                  <a:tcPr marL="9525" marR="9525" marT="9525" marB="9525" anchor="b" horzOverflow="overflow"/>
                </a:tc>
                <a:tc>
                  <a:txBody>
                    <a:bodyPr/>
                    <a:lstStyle/>
                    <a:p>
                      <a:pPr algn="l">
                        <a:defRPr sz="1800"/>
                      </a:pPr>
                      <a:r>
                        <a:rPr sz="1400">
                          <a:solidFill>
                            <a:srgbClr val="FFFFFF"/>
                          </a:solidFill>
                          <a:sym typeface="Arial"/>
                        </a:rPr>
                        <a:t>Wilco Yankee Hotel Foxtrot, Pavement Slanted and Enchanted, Sonic Youth Daydream Nation</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23</a:t>
                      </a:r>
                    </a:p>
                  </a:txBody>
                  <a:tcPr marL="9525" marR="9525" marT="9525" marB="9525" anchor="b" horzOverflow="overflow"/>
                </a:tc>
                <a:tc>
                  <a:txBody>
                    <a:bodyPr/>
                    <a:lstStyle/>
                    <a:p>
                      <a:pPr algn="ctr">
                        <a:defRPr sz="1800"/>
                      </a:pPr>
                      <a:r>
                        <a:rPr sz="1400">
                          <a:solidFill>
                            <a:srgbClr val="FFFFFF"/>
                          </a:solidFill>
                          <a:sym typeface="Arial"/>
                        </a:rPr>
                        <a:t>8/9/2018</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Hemingway Daiquiri</a:t>
                      </a:r>
                    </a:p>
                  </a:txBody>
                  <a:tcPr marL="9525" marR="9525" marT="9525" marB="9525" anchor="b" horzOverflow="overflow"/>
                </a:tc>
                <a:tc>
                  <a:txBody>
                    <a:bodyPr/>
                    <a:lstStyle/>
                    <a:p>
                      <a:pPr algn="l">
                        <a:defRPr sz="1800"/>
                      </a:pPr>
                      <a:r>
                        <a:rPr sz="1400">
                          <a:solidFill>
                            <a:srgbClr val="FFFFFF"/>
                          </a:solidFill>
                          <a:sym typeface="Arial"/>
                        </a:rPr>
                        <a:t>The Orwells Discgraceland, Sleater Kinney Dig Me Out, Pixies Doolittle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24</a:t>
                      </a:r>
                    </a:p>
                  </a:txBody>
                  <a:tcPr marL="9525" marR="9525" marT="9525" marB="9525" anchor="b" horzOverflow="overflow"/>
                </a:tc>
                <a:tc>
                  <a:txBody>
                    <a:bodyPr/>
                    <a:lstStyle/>
                    <a:p>
                      <a:pPr algn="ctr">
                        <a:defRPr sz="1800"/>
                      </a:pPr>
                      <a:r>
                        <a:rPr sz="1400">
                          <a:solidFill>
                            <a:srgbClr val="FFFFFF"/>
                          </a:solidFill>
                          <a:sym typeface="Arial"/>
                        </a:rPr>
                        <a:t>11/1/2018</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The Packie</a:t>
                      </a:r>
                    </a:p>
                  </a:txBody>
                  <a:tcPr marL="9525" marR="9525" marT="9525" marB="9525" anchor="b" horzOverflow="overflow"/>
                </a:tc>
                <a:tc>
                  <a:txBody>
                    <a:bodyPr/>
                    <a:lstStyle/>
                    <a:p>
                      <a:pPr algn="l">
                        <a:defRPr sz="1800"/>
                      </a:pPr>
                      <a:r>
                        <a:rPr sz="1400">
                          <a:solidFill>
                            <a:srgbClr val="FFFFFF"/>
                          </a:solidFill>
                          <a:sym typeface="Arial"/>
                        </a:rPr>
                        <a:t>Los Campesinos No Blues, John Prine Bruised Orange</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25</a:t>
                      </a:r>
                    </a:p>
                  </a:txBody>
                  <a:tcPr marL="9525" marR="9525" marT="9525" marB="9525" anchor="b" horzOverflow="overflow"/>
                </a:tc>
                <a:tc>
                  <a:txBody>
                    <a:bodyPr/>
                    <a:lstStyle/>
                    <a:p>
                      <a:pPr algn="ctr">
                        <a:defRPr sz="1800"/>
                      </a:pPr>
                      <a:r>
                        <a:rPr sz="1400">
                          <a:solidFill>
                            <a:srgbClr val="FFFFFF"/>
                          </a:solidFill>
                          <a:sym typeface="Arial"/>
                        </a:rPr>
                        <a:t>1/24/2019</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The Scofflaw</a:t>
                      </a:r>
                    </a:p>
                  </a:txBody>
                  <a:tcPr marL="9525" marR="9525" marT="9525" marB="9525" anchor="b" horzOverflow="overflow"/>
                </a:tc>
                <a:tc>
                  <a:txBody>
                    <a:bodyPr/>
                    <a:lstStyle/>
                    <a:p>
                      <a:pPr algn="l">
                        <a:defRPr sz="1800"/>
                      </a:pPr>
                      <a:r>
                        <a:rPr sz="1400">
                          <a:solidFill>
                            <a:srgbClr val="FFFFFF"/>
                          </a:solidFill>
                          <a:sym typeface="Arial"/>
                        </a:rPr>
                        <a:t>Led Zeppelin Led Zeppelin I, Led Zeppelin Led Zeppelin II</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26</a:t>
                      </a:r>
                    </a:p>
                  </a:txBody>
                  <a:tcPr marL="9525" marR="9525" marT="9525" marB="9525" anchor="b" horzOverflow="overflow"/>
                </a:tc>
                <a:tc>
                  <a:txBody>
                    <a:bodyPr/>
                    <a:lstStyle/>
                    <a:p>
                      <a:pPr algn="ctr">
                        <a:defRPr sz="1800"/>
                      </a:pPr>
                      <a:r>
                        <a:rPr sz="1400">
                          <a:solidFill>
                            <a:srgbClr val="FFFFFF"/>
                          </a:solidFill>
                          <a:sym typeface="Arial"/>
                        </a:rPr>
                        <a:t>3/7/2019</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Hurricane</a:t>
                      </a:r>
                    </a:p>
                  </a:txBody>
                  <a:tcPr marL="9525" marR="9525" marT="9525" marB="9525" anchor="b" horzOverflow="overflow"/>
                </a:tc>
                <a:tc>
                  <a:txBody>
                    <a:bodyPr/>
                    <a:lstStyle/>
                    <a:p>
                      <a:pPr algn="l">
                        <a:defRPr sz="1800"/>
                      </a:pPr>
                      <a:r>
                        <a:rPr sz="1400">
                          <a:solidFill>
                            <a:srgbClr val="FFFFFF"/>
                          </a:solidFill>
                          <a:sym typeface="Arial"/>
                        </a:rPr>
                        <a:t>Mott The Hoople All The Young Dudes, Roy Buchanan That’s What I Am Here For</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27</a:t>
                      </a:r>
                    </a:p>
                  </a:txBody>
                  <a:tcPr marL="9525" marR="9525" marT="9525" marB="9525" anchor="b" horzOverflow="overflow"/>
                </a:tc>
                <a:tc>
                  <a:txBody>
                    <a:bodyPr/>
                    <a:lstStyle/>
                    <a:p>
                      <a:pPr algn="ctr">
                        <a:defRPr sz="1800"/>
                      </a:pPr>
                      <a:r>
                        <a:rPr sz="1400">
                          <a:solidFill>
                            <a:srgbClr val="FFFFFF"/>
                          </a:solidFill>
                          <a:sym typeface="Arial"/>
                        </a:rPr>
                        <a:t>5/2/2019</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Dark &amp; Stormy</a:t>
                      </a:r>
                    </a:p>
                  </a:txBody>
                  <a:tcPr marL="9525" marR="9525" marT="9525" marB="9525" anchor="b" horzOverflow="overflow"/>
                </a:tc>
                <a:tc>
                  <a:txBody>
                    <a:bodyPr/>
                    <a:lstStyle/>
                    <a:p>
                      <a:pPr algn="l">
                        <a:defRPr sz="1800"/>
                      </a:pPr>
                      <a:r>
                        <a:rPr sz="1400">
                          <a:solidFill>
                            <a:srgbClr val="FFFFFF"/>
                          </a:solidFill>
                          <a:sym typeface="Arial"/>
                        </a:rPr>
                        <a:t>Tears for Fears Elemental, Beck Guero</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28</a:t>
                      </a:r>
                    </a:p>
                  </a:txBody>
                  <a:tcPr marL="9525" marR="9525" marT="9525" marB="9525" anchor="b" horzOverflow="overflow"/>
                </a:tc>
                <a:tc>
                  <a:txBody>
                    <a:bodyPr/>
                    <a:lstStyle/>
                    <a:p>
                      <a:pPr algn="ctr">
                        <a:defRPr sz="1800"/>
                      </a:pPr>
                      <a:r>
                        <a:rPr sz="1400">
                          <a:solidFill>
                            <a:srgbClr val="FFFFFF"/>
                          </a:solidFill>
                          <a:sym typeface="Arial"/>
                        </a:rPr>
                        <a:t>9/5/2019</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The Kentucky Buck</a:t>
                      </a:r>
                    </a:p>
                  </a:txBody>
                  <a:tcPr marL="9525" marR="9525" marT="9525" marB="9525" anchor="b" horzOverflow="overflow"/>
                </a:tc>
                <a:tc>
                  <a:txBody>
                    <a:bodyPr/>
                    <a:lstStyle/>
                    <a:p>
                      <a:pPr algn="l">
                        <a:defRPr sz="1800"/>
                      </a:pPr>
                      <a:r>
                        <a:rPr sz="1400">
                          <a:solidFill>
                            <a:srgbClr val="FFFFFF"/>
                          </a:solidFill>
                          <a:sym typeface="Arial"/>
                        </a:rPr>
                        <a:t>Dinosaur Jr You’re Living All Over Me, J. Mascis Elastic Days</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29</a:t>
                      </a:r>
                    </a:p>
                  </a:txBody>
                  <a:tcPr marL="9525" marR="9525" marT="9525" marB="9525" anchor="b" horzOverflow="overflow"/>
                </a:tc>
                <a:tc>
                  <a:txBody>
                    <a:bodyPr/>
                    <a:lstStyle/>
                    <a:p>
                      <a:pPr algn="ctr">
                        <a:defRPr sz="1800"/>
                      </a:pPr>
                      <a:r>
                        <a:rPr sz="1400">
                          <a:solidFill>
                            <a:srgbClr val="FFFFFF"/>
                          </a:solidFill>
                          <a:sym typeface="Arial"/>
                        </a:rPr>
                        <a:t>10/7/2019</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Harvest Moon Old-Fashioned</a:t>
                      </a:r>
                    </a:p>
                  </a:txBody>
                  <a:tcPr marL="9525" marR="9525" marT="9525" marB="9525" anchor="b" horzOverflow="overflow"/>
                </a:tc>
                <a:tc>
                  <a:txBody>
                    <a:bodyPr/>
                    <a:lstStyle/>
                    <a:p>
                      <a:pPr algn="l">
                        <a:defRPr sz="1800"/>
                      </a:pPr>
                      <a:r>
                        <a:rPr sz="1400">
                          <a:solidFill>
                            <a:srgbClr val="FFFFFF"/>
                          </a:solidFill>
                          <a:sym typeface="Arial"/>
                        </a:rPr>
                        <a:t>Japandroids Celebration Rock, Arcade Fire Funeral</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30</a:t>
                      </a:r>
                    </a:p>
                  </a:txBody>
                  <a:tcPr marL="9525" marR="9525" marT="9525" marB="9525" anchor="b" horzOverflow="overflow"/>
                </a:tc>
                <a:tc>
                  <a:txBody>
                    <a:bodyPr/>
                    <a:lstStyle/>
                    <a:p>
                      <a:pPr algn="ctr">
                        <a:defRPr sz="1800"/>
                      </a:pPr>
                      <a:r>
                        <a:rPr sz="1400">
                          <a:solidFill>
                            <a:srgbClr val="FFFFFF"/>
                          </a:solidFill>
                          <a:sym typeface="Arial"/>
                        </a:rPr>
                        <a:t>1/23/2020</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French 75 </a:t>
                      </a:r>
                    </a:p>
                  </a:txBody>
                  <a:tcPr marL="9525" marR="9525" marT="9525" marB="9525" anchor="b" horzOverflow="overflow"/>
                </a:tc>
                <a:tc>
                  <a:txBody>
                    <a:bodyPr/>
                    <a:lstStyle/>
                    <a:p>
                      <a:pPr algn="l">
                        <a:defRPr sz="1800"/>
                      </a:pPr>
                      <a:r>
                        <a:rPr sz="1400">
                          <a:solidFill>
                            <a:srgbClr val="FFFFFF"/>
                          </a:solidFill>
                          <a:sym typeface="Arial"/>
                        </a:rPr>
                        <a:t>Father John Misty Fear Fun, Van Morrison Astral Weeks</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Google Shape;307;p61"/>
          <p:cNvSpPr txBox="1">
            <a:spLocks noGrp="1"/>
          </p:cNvSpPr>
          <p:nvPr>
            <p:ph type="title"/>
          </p:nvPr>
        </p:nvSpPr>
        <p:spPr>
          <a:xfrm>
            <a:off x="2845829" y="207336"/>
            <a:ext cx="8610601" cy="802548"/>
          </a:xfrm>
          <a:prstGeom prst="rect">
            <a:avLst/>
          </a:prstGeom>
        </p:spPr>
        <p:txBody>
          <a:bodyPr/>
          <a:lstStyle/>
          <a:p>
            <a:r>
              <a:t>HISTORY</a:t>
            </a:r>
          </a:p>
        </p:txBody>
      </p:sp>
      <p:graphicFrame>
        <p:nvGraphicFramePr>
          <p:cNvPr id="300" name="Google Shape;308;p61"/>
          <p:cNvGraphicFramePr/>
          <p:nvPr/>
        </p:nvGraphicFramePr>
        <p:xfrm>
          <a:off x="723875" y="1339737"/>
          <a:ext cx="10744250" cy="4079351"/>
        </p:xfrm>
        <a:graphic>
          <a:graphicData uri="http://schemas.openxmlformats.org/drawingml/2006/table">
            <a:tbl>
              <a:tblPr firstRow="1" bandRow="1">
                <a:tableStyleId>{4C3C2611-4C71-4FC5-86AE-919BDF0F9419}</a:tableStyleId>
              </a:tblPr>
              <a:tblGrid>
                <a:gridCol w="446650">
                  <a:extLst>
                    <a:ext uri="{9D8B030D-6E8A-4147-A177-3AD203B41FA5}">
                      <a16:colId xmlns:a16="http://schemas.microsoft.com/office/drawing/2014/main" val="20000"/>
                    </a:ext>
                  </a:extLst>
                </a:gridCol>
                <a:gridCol w="1409675">
                  <a:extLst>
                    <a:ext uri="{9D8B030D-6E8A-4147-A177-3AD203B41FA5}">
                      <a16:colId xmlns:a16="http://schemas.microsoft.com/office/drawing/2014/main" val="20001"/>
                    </a:ext>
                  </a:extLst>
                </a:gridCol>
                <a:gridCol w="604050">
                  <a:extLst>
                    <a:ext uri="{9D8B030D-6E8A-4147-A177-3AD203B41FA5}">
                      <a16:colId xmlns:a16="http://schemas.microsoft.com/office/drawing/2014/main" val="20002"/>
                    </a:ext>
                  </a:extLst>
                </a:gridCol>
                <a:gridCol w="2594225">
                  <a:extLst>
                    <a:ext uri="{9D8B030D-6E8A-4147-A177-3AD203B41FA5}">
                      <a16:colId xmlns:a16="http://schemas.microsoft.com/office/drawing/2014/main" val="20003"/>
                    </a:ext>
                  </a:extLst>
                </a:gridCol>
                <a:gridCol w="568965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300">
                          <a:solidFill>
                            <a:srgbClr val="FFFFFF"/>
                          </a:solidFill>
                          <a:sym typeface="Arial"/>
                        </a:rPr>
                        <a:t>31</a:t>
                      </a:r>
                    </a:p>
                  </a:txBody>
                  <a:tcPr marL="9525" marR="9525" marT="9525" marB="9525" anchor="b" horzOverflow="overflow"/>
                </a:tc>
                <a:tc>
                  <a:txBody>
                    <a:bodyPr/>
                    <a:lstStyle/>
                    <a:p>
                      <a:pPr algn="ctr">
                        <a:defRPr sz="1800"/>
                      </a:pPr>
                      <a:r>
                        <a:rPr sz="1300">
                          <a:solidFill>
                            <a:srgbClr val="FFFFFF"/>
                          </a:solidFill>
                          <a:sym typeface="Arial"/>
                        </a:rPr>
                        <a:t>6/11/2020</a:t>
                      </a:r>
                    </a:p>
                  </a:txBody>
                  <a:tcPr marL="9525" marR="9525" marT="9525" marB="9525" anchor="b" horzOverflow="overflow"/>
                </a:tc>
                <a:tc>
                  <a:txBody>
                    <a:bodyPr/>
                    <a:lstStyle/>
                    <a:p>
                      <a:pPr algn="ctr">
                        <a:defRPr sz="1800"/>
                      </a:pPr>
                      <a:r>
                        <a:rPr sz="1300">
                          <a:solidFill>
                            <a:srgbClr val="FFFFFF"/>
                          </a:solidFill>
                          <a:sym typeface="Arial"/>
                        </a:rPr>
                        <a:t>Chris</a:t>
                      </a:r>
                    </a:p>
                  </a:txBody>
                  <a:tcPr marL="9525" marR="9525" marT="9525" marB="9525" anchor="b" horzOverflow="overflow"/>
                </a:tc>
                <a:tc>
                  <a:txBody>
                    <a:bodyPr/>
                    <a:lstStyle/>
                    <a:p>
                      <a:pPr algn="l">
                        <a:defRPr sz="1800"/>
                      </a:pPr>
                      <a:r>
                        <a:rPr sz="1300">
                          <a:solidFill>
                            <a:srgbClr val="FFFFFF"/>
                          </a:solidFill>
                          <a:sym typeface="Arial"/>
                        </a:rPr>
                        <a:t>Ward 8</a:t>
                      </a:r>
                    </a:p>
                  </a:txBody>
                  <a:tcPr marL="9525" marR="9525" marT="9525" marB="9525" anchor="b" horzOverflow="overflow"/>
                </a:tc>
                <a:tc>
                  <a:txBody>
                    <a:bodyPr/>
                    <a:lstStyle/>
                    <a:p>
                      <a:pPr algn="l">
                        <a:defRPr sz="1800"/>
                      </a:pPr>
                      <a:r>
                        <a:rPr sz="1300">
                          <a:solidFill>
                            <a:srgbClr val="FFFFFF"/>
                          </a:solidFill>
                          <a:sym typeface="Arial"/>
                        </a:rPr>
                        <a:t>Band of Horses – Everything All the Time; Brand New – The Devil and God Are Raging Inside Me; TV on the Radio – Return to Cookie Mountain</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300">
                          <a:solidFill>
                            <a:srgbClr val="FFFFFF"/>
                          </a:solidFill>
                          <a:sym typeface="Arial"/>
                        </a:rPr>
                        <a:t>32</a:t>
                      </a:r>
                    </a:p>
                  </a:txBody>
                  <a:tcPr marL="9525" marR="9525" marT="9525" marB="9525" anchor="b" horzOverflow="overflow"/>
                </a:tc>
                <a:tc>
                  <a:txBody>
                    <a:bodyPr/>
                    <a:lstStyle/>
                    <a:p>
                      <a:pPr algn="ctr">
                        <a:defRPr sz="1800"/>
                      </a:pPr>
                      <a:r>
                        <a:rPr sz="1300">
                          <a:solidFill>
                            <a:srgbClr val="FFFFFF"/>
                          </a:solidFill>
                          <a:sym typeface="Arial"/>
                        </a:rPr>
                        <a:t>8/6/2020</a:t>
                      </a:r>
                    </a:p>
                  </a:txBody>
                  <a:tcPr marL="9525" marR="9525" marT="9525" marB="9525" anchor="b" horzOverflow="overflow"/>
                </a:tc>
                <a:tc>
                  <a:txBody>
                    <a:bodyPr/>
                    <a:lstStyle/>
                    <a:p>
                      <a:pPr algn="ctr">
                        <a:defRPr sz="1800"/>
                      </a:pPr>
                      <a:r>
                        <a:rPr sz="1300">
                          <a:solidFill>
                            <a:srgbClr val="FFFFFF"/>
                          </a:solidFill>
                          <a:sym typeface="Arial"/>
                        </a:rPr>
                        <a:t>Joe</a:t>
                      </a:r>
                    </a:p>
                  </a:txBody>
                  <a:tcPr marL="9525" marR="9525" marT="9525" marB="9525" anchor="b" horzOverflow="overflow"/>
                </a:tc>
                <a:tc>
                  <a:txBody>
                    <a:bodyPr/>
                    <a:lstStyle/>
                    <a:p>
                      <a:pPr algn="l">
                        <a:defRPr sz="1300">
                          <a:solidFill>
                            <a:srgbClr val="FFFFFF"/>
                          </a:solidFill>
                          <a:sym typeface="Arial"/>
                        </a:defRPr>
                      </a:pPr>
                      <a:r>
                        <a:t>Bourbon Tasting – Beam’s Choice Collector's Edition 50+; Carleton Tower 50+; Woodford Reserve Double Oaked</a:t>
                      </a:r>
                    </a:p>
                  </a:txBody>
                  <a:tcPr marL="9525" marR="9525" marT="9525" marB="9525" anchor="b" horzOverflow="overflow"/>
                </a:tc>
                <a:tc>
                  <a:txBody>
                    <a:bodyPr/>
                    <a:lstStyle/>
                    <a:p>
                      <a:pPr algn="l">
                        <a:defRPr sz="1800"/>
                      </a:pPr>
                      <a:r>
                        <a:rPr sz="1300">
                          <a:solidFill>
                            <a:srgbClr val="FFFFFF"/>
                          </a:solidFill>
                          <a:sym typeface="Arial"/>
                        </a:rPr>
                        <a:t>Arc Angels – Arc Angels; Yes – Close to the Edge; Good Night Lights – Biggest Fears</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300">
                          <a:solidFill>
                            <a:srgbClr val="FFFFFF"/>
                          </a:solidFill>
                          <a:sym typeface="Arial"/>
                        </a:rPr>
                        <a:t>33</a:t>
                      </a:r>
                    </a:p>
                  </a:txBody>
                  <a:tcPr marL="9525" marR="9525" marT="9525" marB="9525" anchor="b" horzOverflow="overflow"/>
                </a:tc>
                <a:tc>
                  <a:txBody>
                    <a:bodyPr/>
                    <a:lstStyle/>
                    <a:p>
                      <a:pPr algn="ctr">
                        <a:defRPr sz="1800"/>
                      </a:pPr>
                      <a:r>
                        <a:rPr sz="1300">
                          <a:solidFill>
                            <a:srgbClr val="FFFFFF"/>
                          </a:solidFill>
                          <a:sym typeface="Arial"/>
                        </a:rPr>
                        <a:t>9/24/2020</a:t>
                      </a:r>
                    </a:p>
                  </a:txBody>
                  <a:tcPr marL="9525" marR="9525" marT="9525" marB="9525" anchor="b" horzOverflow="overflow"/>
                </a:tc>
                <a:tc>
                  <a:txBody>
                    <a:bodyPr/>
                    <a:lstStyle/>
                    <a:p>
                      <a:pPr algn="ctr">
                        <a:defRPr sz="1800"/>
                      </a:pPr>
                      <a:r>
                        <a:rPr sz="1300">
                          <a:solidFill>
                            <a:srgbClr val="FFFFFF"/>
                          </a:solidFill>
                          <a:sym typeface="Arial"/>
                        </a:rPr>
                        <a:t>John</a:t>
                      </a:r>
                    </a:p>
                  </a:txBody>
                  <a:tcPr marL="9525" marR="9525" marT="9525" marB="9525" anchor="b" horzOverflow="overflow"/>
                </a:tc>
                <a:tc>
                  <a:txBody>
                    <a:bodyPr/>
                    <a:lstStyle/>
                    <a:p>
                      <a:pPr algn="l">
                        <a:defRPr sz="1800"/>
                      </a:pPr>
                      <a:r>
                        <a:rPr sz="1300">
                          <a:solidFill>
                            <a:srgbClr val="FFFFFF"/>
                          </a:solidFill>
                          <a:sym typeface="Arial"/>
                        </a:rPr>
                        <a:t>Vieux Carre</a:t>
                      </a:r>
                    </a:p>
                  </a:txBody>
                  <a:tcPr marL="9525" marR="9525" marT="9525" marB="9525" anchor="b" horzOverflow="overflow"/>
                </a:tc>
                <a:tc>
                  <a:txBody>
                    <a:bodyPr/>
                    <a:lstStyle/>
                    <a:p>
                      <a:pPr algn="l">
                        <a:defRPr sz="1800"/>
                      </a:pPr>
                      <a:r>
                        <a:rPr sz="1300">
                          <a:solidFill>
                            <a:srgbClr val="FFFFFF"/>
                          </a:solidFill>
                          <a:sym typeface="Arial"/>
                        </a:rPr>
                        <a:t>The Church – Starfish; Treepeople – Something Vicious for Tomorrow / Time Whore; Joe Strummer + The Mescaleros - Streetcore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300">
                          <a:solidFill>
                            <a:srgbClr val="FFFFFF"/>
                          </a:solidFill>
                          <a:sym typeface="Arial"/>
                        </a:rPr>
                        <a:t>34</a:t>
                      </a:r>
                    </a:p>
                  </a:txBody>
                  <a:tcPr marL="9525" marR="9525" marT="9525" marB="9525" anchor="b" horzOverflow="overflow"/>
                </a:tc>
                <a:tc>
                  <a:txBody>
                    <a:bodyPr/>
                    <a:lstStyle/>
                    <a:p>
                      <a:pPr algn="ctr">
                        <a:defRPr sz="1800"/>
                      </a:pPr>
                      <a:r>
                        <a:rPr sz="1300">
                          <a:solidFill>
                            <a:srgbClr val="FFFFFF"/>
                          </a:solidFill>
                          <a:sym typeface="Arial"/>
                        </a:rPr>
                        <a:t>11/19/2020</a:t>
                      </a:r>
                    </a:p>
                  </a:txBody>
                  <a:tcPr marL="9525" marR="9525" marT="9525" marB="9525" anchor="b" horzOverflow="overflow"/>
                </a:tc>
                <a:tc>
                  <a:txBody>
                    <a:bodyPr/>
                    <a:lstStyle/>
                    <a:p>
                      <a:pPr algn="ctr">
                        <a:defRPr sz="1800"/>
                      </a:pPr>
                      <a:r>
                        <a:rPr sz="1300">
                          <a:solidFill>
                            <a:srgbClr val="FFFFFF"/>
                          </a:solidFill>
                          <a:sym typeface="Arial"/>
                        </a:rPr>
                        <a:t>Eric</a:t>
                      </a:r>
                    </a:p>
                  </a:txBody>
                  <a:tcPr marL="9525" marR="9525" marT="9525" marB="9525" anchor="b" horzOverflow="overflow"/>
                </a:tc>
                <a:tc>
                  <a:txBody>
                    <a:bodyPr/>
                    <a:lstStyle/>
                    <a:p>
                      <a:pPr algn="l">
                        <a:defRPr sz="1800"/>
                      </a:pPr>
                      <a:r>
                        <a:rPr sz="1300">
                          <a:solidFill>
                            <a:srgbClr val="FFFFFF"/>
                          </a:solidFill>
                          <a:sym typeface="Arial"/>
                        </a:rPr>
                        <a:t>Balvenie 14 Year Old Caribbean Cask Single Malt Scotch</a:t>
                      </a:r>
                    </a:p>
                  </a:txBody>
                  <a:tcPr marL="9525" marR="9525" marT="9525" marB="9525" anchor="b" horzOverflow="overflow"/>
                </a:tc>
                <a:tc>
                  <a:txBody>
                    <a:bodyPr/>
                    <a:lstStyle/>
                    <a:p>
                      <a:pPr algn="l">
                        <a:defRPr sz="1800"/>
                      </a:pPr>
                      <a:r>
                        <a:rPr sz="1300">
                          <a:solidFill>
                            <a:srgbClr val="FFFFFF"/>
                          </a:solidFill>
                          <a:sym typeface="Arial"/>
                        </a:rPr>
                        <a:t>Van Halen – 1984; Haim – Days Are Gone; The Smiths – Louder Than Bombs</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300">
                          <a:solidFill>
                            <a:srgbClr val="FFFFFF"/>
                          </a:solidFill>
                          <a:sym typeface="Arial"/>
                        </a:rPr>
                        <a:t>35</a:t>
                      </a:r>
                    </a:p>
                  </a:txBody>
                  <a:tcPr marL="9525" marR="9525" marT="9525" marB="9525" anchor="b" horzOverflow="overflow"/>
                </a:tc>
                <a:tc>
                  <a:txBody>
                    <a:bodyPr/>
                    <a:lstStyle/>
                    <a:p>
                      <a:pPr algn="ctr">
                        <a:defRPr sz="1800"/>
                      </a:pPr>
                      <a:r>
                        <a:rPr sz="1300">
                          <a:solidFill>
                            <a:srgbClr val="FFFFFF"/>
                          </a:solidFill>
                          <a:sym typeface="Arial"/>
                        </a:rPr>
                        <a:t>3/11/2021</a:t>
                      </a:r>
                    </a:p>
                  </a:txBody>
                  <a:tcPr marL="9525" marR="9525" marT="9525" marB="9525" anchor="b" horzOverflow="overflow"/>
                </a:tc>
                <a:tc>
                  <a:txBody>
                    <a:bodyPr/>
                    <a:lstStyle/>
                    <a:p>
                      <a:pPr algn="ctr">
                        <a:defRPr sz="1800"/>
                      </a:pPr>
                      <a:r>
                        <a:rPr sz="1300">
                          <a:solidFill>
                            <a:srgbClr val="FFFFFF"/>
                          </a:solidFill>
                          <a:sym typeface="Arial"/>
                        </a:rPr>
                        <a:t>Adam</a:t>
                      </a:r>
                    </a:p>
                  </a:txBody>
                  <a:tcPr marL="9525" marR="9525" marT="9525" marB="9525" anchor="b" horzOverflow="overflow"/>
                </a:tc>
                <a:tc>
                  <a:txBody>
                    <a:bodyPr/>
                    <a:lstStyle/>
                    <a:p>
                      <a:pPr algn="l">
                        <a:defRPr sz="1800"/>
                      </a:pPr>
                      <a:r>
                        <a:rPr sz="1300">
                          <a:solidFill>
                            <a:srgbClr val="FFFFFF"/>
                          </a:solidFill>
                          <a:sym typeface="Arial"/>
                        </a:rPr>
                        <a:t>Martinez</a:t>
                      </a:r>
                    </a:p>
                  </a:txBody>
                  <a:tcPr marL="9525" marR="9525" marT="9525" marB="9525" anchor="b" horzOverflow="overflow"/>
                </a:tc>
                <a:tc>
                  <a:txBody>
                    <a:bodyPr/>
                    <a:lstStyle/>
                    <a:p>
                      <a:pPr algn="l">
                        <a:defRPr sz="1800"/>
                      </a:pPr>
                      <a:r>
                        <a:rPr sz="1300">
                          <a:solidFill>
                            <a:srgbClr val="FFFFFF"/>
                          </a:solidFill>
                          <a:sym typeface="Arial"/>
                        </a:rPr>
                        <a:t>Nehiyawak – nipiy, Miles Cane – Coup de Grace, Afghan Whigs – Up In It</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400">
                          <a:solidFill>
                            <a:srgbClr val="FFFFFF"/>
                          </a:solidFill>
                          <a:sym typeface="Arial"/>
                        </a:defRPr>
                      </a:pPr>
                      <a:endParaRPr/>
                    </a:p>
                  </a:txBody>
                  <a:tcPr marL="9525" marR="9525" marT="9525" marB="9525" anchor="b" horzOverflow="overflow"/>
                </a:tc>
                <a:tc>
                  <a:txBody>
                    <a:bodyPr/>
                    <a:lstStyle/>
                    <a:p>
                      <a:pPr algn="ctr">
                        <a:defRPr sz="1800"/>
                      </a:pPr>
                      <a:r>
                        <a:rPr sz="1300">
                          <a:solidFill>
                            <a:srgbClr val="FFFFFF"/>
                          </a:solidFill>
                          <a:sym typeface="Arial"/>
                        </a:rPr>
                        <a:t>0</a:t>
                      </a:r>
                    </a:p>
                  </a:txBody>
                  <a:tcPr marL="9525" marR="9525" marT="9525" marB="9525" anchor="b" horzOverflow="overflow"/>
                </a:tc>
                <a:tc>
                  <a:txBody>
                    <a:bodyPr/>
                    <a:lstStyle/>
                    <a:p>
                      <a:pPr algn="ctr">
                        <a:defRPr sz="1800"/>
                      </a:pPr>
                      <a:r>
                        <a:rPr sz="1300">
                          <a:solidFill>
                            <a:srgbClr val="FFFFFF"/>
                          </a:solidFill>
                          <a:sym typeface="Arial"/>
                        </a:rPr>
                        <a:t>Lucas</a:t>
                      </a:r>
                    </a:p>
                  </a:txBody>
                  <a:tcPr marL="9525" marR="9525" marT="9525" marB="9525" anchor="b" horzOverflow="overflow"/>
                </a:tc>
                <a:tc>
                  <a:txBody>
                    <a:bodyPr/>
                    <a:lstStyle/>
                    <a:p>
                      <a:pPr algn="l">
                        <a:defRPr sz="1800"/>
                      </a:pPr>
                      <a:r>
                        <a:rPr sz="1300">
                          <a:solidFill>
                            <a:srgbClr val="FFFFFF"/>
                          </a:solidFill>
                          <a:sym typeface="Arial"/>
                        </a:rPr>
                        <a:t>0</a:t>
                      </a:r>
                    </a:p>
                  </a:txBody>
                  <a:tcPr marL="9525" marR="9525" marT="9525" marB="9525" anchor="b" horzOverflow="overflow"/>
                </a:tc>
                <a:tc>
                  <a:txBody>
                    <a:bodyPr/>
                    <a:lstStyle/>
                    <a:p>
                      <a:pPr algn="l">
                        <a:defRPr sz="1800"/>
                      </a:pPr>
                      <a:r>
                        <a:rPr sz="1300">
                          <a:solidFill>
                            <a:srgbClr val="FFFFFF"/>
                          </a:solidFill>
                          <a:sym typeface="Arial"/>
                        </a:rPr>
                        <a:t>0</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300">
                          <a:solidFill>
                            <a:srgbClr val="FFFFFF"/>
                          </a:solidFill>
                          <a:sym typeface="Arial"/>
                        </a:rPr>
                        <a:t>36</a:t>
                      </a:r>
                    </a:p>
                  </a:txBody>
                  <a:tcPr marL="9525" marR="9525" marT="9525" marB="9525" anchor="b" horzOverflow="overflow"/>
                </a:tc>
                <a:tc>
                  <a:txBody>
                    <a:bodyPr/>
                    <a:lstStyle/>
                    <a:p>
                      <a:pPr algn="ctr">
                        <a:defRPr sz="1800"/>
                      </a:pPr>
                      <a:r>
                        <a:rPr sz="1300">
                          <a:solidFill>
                            <a:srgbClr val="FFFFFF"/>
                          </a:solidFill>
                          <a:sym typeface="Arial"/>
                        </a:rPr>
                        <a:t>5/13/2021</a:t>
                      </a:r>
                    </a:p>
                  </a:txBody>
                  <a:tcPr marL="9525" marR="9525" marT="9525" marB="9525" anchor="b" horzOverflow="overflow"/>
                </a:tc>
                <a:tc>
                  <a:txBody>
                    <a:bodyPr/>
                    <a:lstStyle/>
                    <a:p>
                      <a:pPr algn="ctr">
                        <a:defRPr sz="1800"/>
                      </a:pPr>
                      <a:r>
                        <a:rPr sz="1300">
                          <a:solidFill>
                            <a:srgbClr val="FFFFFF"/>
                          </a:solidFill>
                          <a:sym typeface="Arial"/>
                        </a:rPr>
                        <a:t>Chris</a:t>
                      </a:r>
                    </a:p>
                  </a:txBody>
                  <a:tcPr marL="9525" marR="9525" marT="9525" marB="9525" anchor="b" horzOverflow="overflow"/>
                </a:tc>
                <a:tc>
                  <a:txBody>
                    <a:bodyPr/>
                    <a:lstStyle/>
                    <a:p>
                      <a:pPr algn="l">
                        <a:defRPr sz="1800"/>
                      </a:pPr>
                      <a:r>
                        <a:rPr sz="1300">
                          <a:solidFill>
                            <a:srgbClr val="FFFFFF"/>
                          </a:solidFill>
                          <a:sym typeface="Arial"/>
                        </a:rPr>
                        <a:t>El Presidente</a:t>
                      </a:r>
                    </a:p>
                  </a:txBody>
                  <a:tcPr marL="9525" marR="9525" marT="9525" marB="9525" anchor="b" horzOverflow="overflow"/>
                </a:tc>
                <a:tc>
                  <a:txBody>
                    <a:bodyPr/>
                    <a:lstStyle/>
                    <a:p>
                      <a:pPr algn="l">
                        <a:defRPr sz="1800"/>
                      </a:pPr>
                      <a:r>
                        <a:rPr sz="1300">
                          <a:solidFill>
                            <a:srgbClr val="FFFFFF"/>
                          </a:solidFill>
                          <a:sym typeface="Arial"/>
                        </a:rPr>
                        <a:t>Television – Marquee Moon, Devo – Q: Are We Not Men? A: We Are Devo; The Clash – London Calling</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37</a:t>
                      </a:r>
                    </a:p>
                  </a:txBody>
                  <a:tcPr marL="9525" marR="9525" marT="9525" marB="9525" anchor="b" horzOverflow="overflow"/>
                </a:tc>
                <a:tc>
                  <a:txBody>
                    <a:bodyPr/>
                    <a:lstStyle/>
                    <a:p>
                      <a:pPr algn="ctr">
                        <a:defRPr sz="1800"/>
                      </a:pPr>
                      <a:r>
                        <a:rPr sz="1400">
                          <a:solidFill>
                            <a:srgbClr val="FFFFFF"/>
                          </a:solidFill>
                          <a:sym typeface="Arial"/>
                        </a:rPr>
                        <a:t>6/10/2021</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The Penicillin</a:t>
                      </a:r>
                    </a:p>
                  </a:txBody>
                  <a:tcPr marL="9525" marR="9525" marT="9525" marB="9525" anchor="b" horzOverflow="overflow"/>
                </a:tc>
                <a:tc>
                  <a:txBody>
                    <a:bodyPr/>
                    <a:lstStyle/>
                    <a:p>
                      <a:pPr algn="l">
                        <a:defRPr sz="1800"/>
                      </a:pPr>
                      <a:r>
                        <a:rPr sz="1400">
                          <a:solidFill>
                            <a:srgbClr val="FFFFFF"/>
                          </a:solidFill>
                          <a:sym typeface="Arial"/>
                        </a:rPr>
                        <a:t>Leon Bridges – Coming Home; Billie Eilish – When We all Fall Asleep, Where Do We Go; Harry Styles – Fine Line</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38</a:t>
                      </a:r>
                    </a:p>
                  </a:txBody>
                  <a:tcPr marL="9525" marR="9525" marT="9525" marB="9525" anchor="b" horzOverflow="overflow"/>
                </a:tc>
                <a:tc>
                  <a:txBody>
                    <a:bodyPr/>
                    <a:lstStyle/>
                    <a:p>
                      <a:pPr algn="ctr">
                        <a:defRPr sz="1800"/>
                      </a:pPr>
                      <a:r>
                        <a:rPr sz="1400">
                          <a:solidFill>
                            <a:srgbClr val="FFFFFF"/>
                          </a:solidFill>
                          <a:sym typeface="Arial"/>
                        </a:rPr>
                        <a:t>9/7/2021</a:t>
                      </a:r>
                    </a:p>
                  </a:txBody>
                  <a:tcPr marL="9525" marR="9525" marT="9525" marB="9525" anchor="b" horzOverflow="overflow"/>
                </a:tc>
                <a:tc>
                  <a:txBody>
                    <a:bodyPr/>
                    <a:lstStyle/>
                    <a:p>
                      <a:pPr algn="ctr">
                        <a:defRPr sz="1800"/>
                      </a:pPr>
                      <a:r>
                        <a:rPr sz="1400">
                          <a:solidFill>
                            <a:srgbClr val="FFFFFF"/>
                          </a:solidFill>
                          <a:sym typeface="Arial"/>
                        </a:rPr>
                        <a:t> Eric</a:t>
                      </a:r>
                    </a:p>
                  </a:txBody>
                  <a:tcPr marL="9525" marR="9525" marT="9525" marB="9525" anchor="b" horzOverflow="overflow"/>
                </a:tc>
                <a:tc>
                  <a:txBody>
                    <a:bodyPr/>
                    <a:lstStyle/>
                    <a:p>
                      <a:pPr algn="l">
                        <a:defRPr sz="1800"/>
                      </a:pPr>
                      <a:r>
                        <a:rPr sz="1400">
                          <a:solidFill>
                            <a:srgbClr val="FFFFFF"/>
                          </a:solidFill>
                          <a:sym typeface="Arial"/>
                        </a:rPr>
                        <a:t>Blood + Sand</a:t>
                      </a:r>
                    </a:p>
                  </a:txBody>
                  <a:tcPr marL="9525" marR="9525" marT="9525" marB="9525" anchor="b" horzOverflow="overflow"/>
                </a:tc>
                <a:tc>
                  <a:txBody>
                    <a:bodyPr/>
                    <a:lstStyle/>
                    <a:p>
                      <a:pPr algn="l">
                        <a:defRPr sz="1800"/>
                      </a:pPr>
                      <a:r>
                        <a:rPr sz="1400">
                          <a:solidFill>
                            <a:srgbClr val="FFFFFF"/>
                          </a:solidFill>
                          <a:sym typeface="Arial"/>
                        </a:rPr>
                        <a:t>William Orbit – My Oracle Lives Uptown; The Connells – Steadman’s Wake; The Stranglers – Dark Matters</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39</a:t>
                      </a:r>
                    </a:p>
                  </a:txBody>
                  <a:tcPr marL="9525" marR="9525" marT="9525" marB="9525" anchor="b" horzOverflow="overflow"/>
                </a:tc>
                <a:tc>
                  <a:txBody>
                    <a:bodyPr/>
                    <a:lstStyle/>
                    <a:p>
                      <a:pPr algn="ctr">
                        <a:defRPr sz="1800"/>
                      </a:pPr>
                      <a:r>
                        <a:rPr sz="1400">
                          <a:solidFill>
                            <a:srgbClr val="FFFFFF"/>
                          </a:solidFill>
                          <a:sym typeface="Arial"/>
                        </a:rPr>
                        <a:t>11/23/2021</a:t>
                      </a:r>
                    </a:p>
                  </a:txBody>
                  <a:tcPr marL="9525" marR="9525" marT="9525" marB="9525" anchor="b" horzOverflow="overflow"/>
                </a:tc>
                <a:tc>
                  <a:txBody>
                    <a:bodyPr/>
                    <a:lstStyle/>
                    <a:p>
                      <a:pPr algn="ctr">
                        <a:defRPr sz="1800"/>
                      </a:pPr>
                      <a:r>
                        <a:rPr sz="1400">
                          <a:solidFill>
                            <a:srgbClr val="FFFFFF"/>
                          </a:solidFill>
                          <a:sym typeface="Arial"/>
                        </a:rPr>
                        <a:t> John</a:t>
                      </a:r>
                    </a:p>
                  </a:txBody>
                  <a:tcPr marL="9525" marR="9525" marT="9525" marB="9525" anchor="b" horzOverflow="overflow"/>
                </a:tc>
                <a:tc>
                  <a:txBody>
                    <a:bodyPr/>
                    <a:lstStyle/>
                    <a:p>
                      <a:pPr algn="l">
                        <a:defRPr sz="1800"/>
                      </a:pPr>
                      <a:r>
                        <a:rPr sz="1400">
                          <a:solidFill>
                            <a:srgbClr val="FFFFFF"/>
                          </a:solidFill>
                          <a:sym typeface="Arial"/>
                        </a:rPr>
                        <a:t> 81 Old Fashion</a:t>
                      </a:r>
                    </a:p>
                  </a:txBody>
                  <a:tcPr marL="9525" marR="9525" marT="9525" marB="9525" anchor="b" horzOverflow="overflow"/>
                </a:tc>
                <a:tc>
                  <a:txBody>
                    <a:bodyPr/>
                    <a:lstStyle/>
                    <a:p>
                      <a:pPr algn="l">
                        <a:defRPr sz="1800"/>
                      </a:pPr>
                      <a:r>
                        <a:rPr sz="1400">
                          <a:solidFill>
                            <a:srgbClr val="FFFFFF"/>
                          </a:solidFill>
                          <a:sym typeface="Arial"/>
                        </a:rPr>
                        <a:t>Dry Cleaning – New Long Leg; The War on Drugs – I Don’t Live Here Anymore; My Morning Jacket – My Morning Jacket</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Google Shape;313;p62"/>
          <p:cNvSpPr txBox="1">
            <a:spLocks noGrp="1"/>
          </p:cNvSpPr>
          <p:nvPr>
            <p:ph type="title"/>
          </p:nvPr>
        </p:nvSpPr>
        <p:spPr>
          <a:xfrm>
            <a:off x="2895600" y="159278"/>
            <a:ext cx="8610600" cy="800788"/>
          </a:xfrm>
          <a:prstGeom prst="rect">
            <a:avLst/>
          </a:prstGeom>
        </p:spPr>
        <p:txBody>
          <a:bodyPr/>
          <a:lstStyle/>
          <a:p>
            <a:r>
              <a:t>HISTORY</a:t>
            </a:r>
          </a:p>
        </p:txBody>
      </p:sp>
      <p:graphicFrame>
        <p:nvGraphicFramePr>
          <p:cNvPr id="303" name="Google Shape;314;p62"/>
          <p:cNvGraphicFramePr/>
          <p:nvPr/>
        </p:nvGraphicFramePr>
        <p:xfrm>
          <a:off x="723887" y="1282232"/>
          <a:ext cx="10744225" cy="4079351"/>
        </p:xfrm>
        <a:graphic>
          <a:graphicData uri="http://schemas.openxmlformats.org/drawingml/2006/table">
            <a:tbl>
              <a:tblPr firstRow="1" bandRow="1">
                <a:tableStyleId>{4C3C2611-4C71-4FC5-86AE-919BDF0F9419}</a:tableStyleId>
              </a:tblPr>
              <a:tblGrid>
                <a:gridCol w="464000">
                  <a:extLst>
                    <a:ext uri="{9D8B030D-6E8A-4147-A177-3AD203B41FA5}">
                      <a16:colId xmlns:a16="http://schemas.microsoft.com/office/drawing/2014/main" val="20000"/>
                    </a:ext>
                  </a:extLst>
                </a:gridCol>
                <a:gridCol w="1370725">
                  <a:extLst>
                    <a:ext uri="{9D8B030D-6E8A-4147-A177-3AD203B41FA5}">
                      <a16:colId xmlns:a16="http://schemas.microsoft.com/office/drawing/2014/main" val="20001"/>
                    </a:ext>
                  </a:extLst>
                </a:gridCol>
                <a:gridCol w="681300">
                  <a:extLst>
                    <a:ext uri="{9D8B030D-6E8A-4147-A177-3AD203B41FA5}">
                      <a16:colId xmlns:a16="http://schemas.microsoft.com/office/drawing/2014/main" val="20002"/>
                    </a:ext>
                  </a:extLst>
                </a:gridCol>
                <a:gridCol w="1516750">
                  <a:extLst>
                    <a:ext uri="{9D8B030D-6E8A-4147-A177-3AD203B41FA5}">
                      <a16:colId xmlns:a16="http://schemas.microsoft.com/office/drawing/2014/main" val="20003"/>
                    </a:ext>
                  </a:extLst>
                </a:gridCol>
                <a:gridCol w="6711450">
                  <a:extLst>
                    <a:ext uri="{9D8B030D-6E8A-4147-A177-3AD203B41FA5}">
                      <a16:colId xmlns:a16="http://schemas.microsoft.com/office/drawing/2014/main" val="20004"/>
                    </a:ext>
                  </a:extLst>
                </a:gridCol>
              </a:tblGrid>
              <a:tr h="370850">
                <a:tc>
                  <a:txBody>
                    <a:bodyPr/>
                    <a:lstStyle/>
                    <a:p>
                      <a:pPr algn="ctr">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40</a:t>
                      </a:r>
                    </a:p>
                  </a:txBody>
                  <a:tcPr marL="9525" marR="9525" marT="9525" marB="9525" anchor="b" horzOverflow="overflow"/>
                </a:tc>
                <a:tc>
                  <a:txBody>
                    <a:bodyPr/>
                    <a:lstStyle/>
                    <a:p>
                      <a:pPr algn="ctr">
                        <a:defRPr sz="1800"/>
                      </a:pPr>
                      <a:r>
                        <a:rPr sz="1400">
                          <a:solidFill>
                            <a:srgbClr val="FFFFFF"/>
                          </a:solidFill>
                          <a:sym typeface="Arial"/>
                        </a:rPr>
                        <a:t> 04/14/2022</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Toronto</a:t>
                      </a:r>
                    </a:p>
                  </a:txBody>
                  <a:tcPr marL="9525" marR="9525" marT="9525" marB="9525" anchor="b" horzOverflow="overflow"/>
                </a:tc>
                <a:tc>
                  <a:txBody>
                    <a:bodyPr/>
                    <a:lstStyle/>
                    <a:p>
                      <a:pPr algn="l">
                        <a:defRPr sz="1400">
                          <a:solidFill>
                            <a:srgbClr val="FFFFFF"/>
                          </a:solidFill>
                          <a:sym typeface="Arial"/>
                        </a:defRPr>
                      </a:pPr>
                      <a:r>
                        <a:t>The Charlatans UK – Between 10</a:t>
                      </a:r>
                      <a:r>
                        <a:rPr baseline="30000"/>
                        <a:t>th</a:t>
                      </a:r>
                      <a:r>
                        <a:t> + 11</a:t>
                      </a:r>
                      <a:r>
                        <a:rPr baseline="30000"/>
                        <a:t>th</a:t>
                      </a:r>
                      <a:r>
                        <a:t>, Gomez – Bring It On, IDLES - CRAWLER</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400">
                          <a:solidFill>
                            <a:srgbClr val="FFFFFF"/>
                          </a:solidFill>
                          <a:sym typeface="Arial"/>
                        </a:defRPr>
                      </a:pPr>
                      <a:endParaRPr/>
                    </a:p>
                  </a:txBody>
                  <a:tcPr marL="9525" marR="9525" marT="9525" marB="9525" anchor="b" horzOverflow="overflow"/>
                </a:tc>
                <a:tc>
                  <a:txBody>
                    <a:bodyPr/>
                    <a:lstStyle/>
                    <a:p>
                      <a:pPr algn="ctr">
                        <a:defRPr sz="1800"/>
                      </a:pPr>
                      <a:r>
                        <a:rPr sz="1400">
                          <a:solidFill>
                            <a:srgbClr val="FFFFFF"/>
                          </a:solidFill>
                          <a:sym typeface="Arial"/>
                        </a:rPr>
                        <a:t>0</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0</a:t>
                      </a:r>
                    </a:p>
                  </a:txBody>
                  <a:tcPr marL="9525" marR="9525" marT="9525" marB="9525" anchor="b" horzOverflow="overflow"/>
                </a:tc>
                <a:tc>
                  <a:txBody>
                    <a:bodyPr/>
                    <a:lstStyle/>
                    <a:p>
                      <a:pPr algn="l">
                        <a:defRPr sz="1800"/>
                      </a:pPr>
                      <a:r>
                        <a:rPr sz="1400">
                          <a:solidFill>
                            <a:srgbClr val="FFFFFF"/>
                          </a:solidFill>
                          <a:sym typeface="Arial"/>
                        </a:rPr>
                        <a:t>0</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41</a:t>
                      </a:r>
                    </a:p>
                  </a:txBody>
                  <a:tcPr marL="9525" marR="9525" marT="9525" marB="9525" anchor="b" horzOverflow="overflow"/>
                </a:tc>
                <a:tc>
                  <a:txBody>
                    <a:bodyPr/>
                    <a:lstStyle/>
                    <a:p>
                      <a:pPr algn="ctr">
                        <a:defRPr sz="1800"/>
                      </a:pPr>
                      <a:r>
                        <a:rPr sz="1400">
                          <a:solidFill>
                            <a:srgbClr val="FFFFFF"/>
                          </a:solidFill>
                          <a:sym typeface="Arial"/>
                        </a:rPr>
                        <a:t>6/9/2022</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Tuxedo No. 2</a:t>
                      </a:r>
                    </a:p>
                  </a:txBody>
                  <a:tcPr marL="9525" marR="9525" marT="9525" marB="9525" anchor="b" horzOverflow="overflow"/>
                </a:tc>
                <a:tc>
                  <a:txBody>
                    <a:bodyPr/>
                    <a:lstStyle/>
                    <a:p>
                      <a:pPr algn="l">
                        <a:defRPr sz="1800"/>
                      </a:pPr>
                      <a:r>
                        <a:rPr sz="1400">
                          <a:solidFill>
                            <a:srgbClr val="FFFFFF"/>
                          </a:solidFill>
                          <a:sym typeface="Arial"/>
                        </a:rPr>
                        <a:t>Depeche Mode – Speak &amp; Spell; Kraftwerk – Computer World; The Police – Ghost in the Machine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42</a:t>
                      </a:r>
                    </a:p>
                  </a:txBody>
                  <a:tcPr marL="9525" marR="9525" marT="9525" marB="9525" anchor="b" horzOverflow="overflow"/>
                </a:tc>
                <a:tc>
                  <a:txBody>
                    <a:bodyPr/>
                    <a:lstStyle/>
                    <a:p>
                      <a:pPr algn="ctr">
                        <a:defRPr sz="1800"/>
                      </a:pPr>
                      <a:r>
                        <a:rPr sz="1400">
                          <a:solidFill>
                            <a:srgbClr val="FFFFFF"/>
                          </a:solidFill>
                          <a:sym typeface="Arial"/>
                        </a:rPr>
                        <a:t>7/14/2022</a:t>
                      </a:r>
                    </a:p>
                  </a:txBody>
                  <a:tcPr marL="9525" marR="9525" marT="9525" marB="9525" anchor="b" horzOverflow="overflow"/>
                </a:tc>
                <a:tc>
                  <a:txBody>
                    <a:bodyPr/>
                    <a:lstStyle/>
                    <a:p>
                      <a:pPr algn="ctr">
                        <a:defRPr sz="1800"/>
                      </a:pPr>
                      <a:r>
                        <a:rPr sz="1400">
                          <a:solidFill>
                            <a:srgbClr val="FFFFFF"/>
                          </a:solidFill>
                          <a:sym typeface="Arial"/>
                        </a:rPr>
                        <a:t>Joe </a:t>
                      </a:r>
                    </a:p>
                  </a:txBody>
                  <a:tcPr marL="9525" marR="9525" marT="9525" marB="9525" anchor="b" horzOverflow="overflow"/>
                </a:tc>
                <a:tc>
                  <a:txBody>
                    <a:bodyPr/>
                    <a:lstStyle/>
                    <a:p>
                      <a:pPr algn="l">
                        <a:defRPr sz="1800"/>
                      </a:pPr>
                      <a:r>
                        <a:rPr sz="1400">
                          <a:solidFill>
                            <a:srgbClr val="FFFFFF"/>
                          </a:solidFill>
                          <a:sym typeface="Arial"/>
                        </a:rPr>
                        <a:t>Brown Derby</a:t>
                      </a:r>
                    </a:p>
                  </a:txBody>
                  <a:tcPr marL="9525" marR="9525" marT="9525" marB="9525" anchor="b" horzOverflow="overflow"/>
                </a:tc>
                <a:tc>
                  <a:txBody>
                    <a:bodyPr/>
                    <a:lstStyle/>
                    <a:p>
                      <a:pPr algn="l">
                        <a:defRPr sz="1800"/>
                      </a:pPr>
                      <a:r>
                        <a:rPr sz="1400">
                          <a:solidFill>
                            <a:srgbClr val="FFFFFF"/>
                          </a:solidFill>
                          <a:sym typeface="Arial"/>
                        </a:rPr>
                        <a:t>Beautiful Bob Seger – Live Bullet; Gil Scott-Heron – Pieces of a Man; Tears for Fears – Tipping Point</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43</a:t>
                      </a:r>
                    </a:p>
                  </a:txBody>
                  <a:tcPr marL="9525" marR="9525" marT="9525" marB="9525" anchor="b" horzOverflow="overflow"/>
                </a:tc>
                <a:tc>
                  <a:txBody>
                    <a:bodyPr/>
                    <a:lstStyle/>
                    <a:p>
                      <a:pPr algn="ctr">
                        <a:defRPr sz="1800"/>
                      </a:pPr>
                      <a:r>
                        <a:rPr sz="1400">
                          <a:solidFill>
                            <a:srgbClr val="FFFFFF"/>
                          </a:solidFill>
                          <a:sym typeface="Arial"/>
                        </a:rPr>
                        <a:t>8/11/2022</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Painkiller</a:t>
                      </a:r>
                    </a:p>
                  </a:txBody>
                  <a:tcPr marL="9525" marR="9525" marT="9525" marB="9525" anchor="b" horzOverflow="overflow"/>
                </a:tc>
                <a:tc>
                  <a:txBody>
                    <a:bodyPr/>
                    <a:lstStyle/>
                    <a:p>
                      <a:pPr algn="l">
                        <a:defRPr sz="1800"/>
                      </a:pPr>
                      <a:r>
                        <a:rPr sz="1400">
                          <a:solidFill>
                            <a:srgbClr val="FFFFFF"/>
                          </a:solidFill>
                          <a:sym typeface="Arial"/>
                        </a:rPr>
                        <a:t>Echo &amp; the bunnymen - Evergreen; Twenty One Pilots - Vessel;  Metric - The Art of Doubt</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44</a:t>
                      </a:r>
                    </a:p>
                  </a:txBody>
                  <a:tcPr marL="9525" marR="9525" marT="9525" marB="9525" anchor="b" horzOverflow="overflow"/>
                </a:tc>
                <a:tc>
                  <a:txBody>
                    <a:bodyPr/>
                    <a:lstStyle/>
                    <a:p>
                      <a:pPr algn="ctr">
                        <a:defRPr sz="1800"/>
                      </a:pPr>
                      <a:r>
                        <a:rPr sz="1400">
                          <a:solidFill>
                            <a:srgbClr val="FFFFFF"/>
                          </a:solidFill>
                          <a:sym typeface="Arial"/>
                        </a:rPr>
                        <a:t>9/15/2022</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Stone Fence</a:t>
                      </a:r>
                    </a:p>
                  </a:txBody>
                  <a:tcPr marL="9525" marR="9525" marT="9525" marB="9525" anchor="b" horzOverflow="overflow"/>
                </a:tc>
                <a:tc>
                  <a:txBody>
                    <a:bodyPr/>
                    <a:lstStyle/>
                    <a:p>
                      <a:pPr algn="l">
                        <a:defRPr sz="1800"/>
                      </a:pPr>
                      <a:r>
                        <a:rPr sz="1400">
                          <a:solidFill>
                            <a:srgbClr val="FFFFFF"/>
                          </a:solidFill>
                          <a:sym typeface="Arial"/>
                        </a:rPr>
                        <a:t>The Doors – The Doors; The Strokes – This is It</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45</a:t>
                      </a:r>
                    </a:p>
                  </a:txBody>
                  <a:tcPr marL="9525" marR="9525" marT="9525" marB="9525" anchor="b" horzOverflow="overflow"/>
                </a:tc>
                <a:tc>
                  <a:txBody>
                    <a:bodyPr/>
                    <a:lstStyle/>
                    <a:p>
                      <a:pPr algn="ctr">
                        <a:defRPr sz="1800"/>
                      </a:pPr>
                      <a:r>
                        <a:rPr sz="1400">
                          <a:solidFill>
                            <a:srgbClr val="FFFFFF"/>
                          </a:solidFill>
                          <a:sym typeface="Arial"/>
                        </a:rPr>
                        <a:t>11/17/2022</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Cynar Flip</a:t>
                      </a:r>
                    </a:p>
                  </a:txBody>
                  <a:tcPr marL="9525" marR="9525" marT="9525" marB="9525" anchor="b" horzOverflow="overflow"/>
                </a:tc>
                <a:tc>
                  <a:txBody>
                    <a:bodyPr/>
                    <a:lstStyle/>
                    <a:p>
                      <a:pPr algn="l">
                        <a:defRPr sz="1800"/>
                      </a:pPr>
                      <a:r>
                        <a:rPr sz="1400">
                          <a:solidFill>
                            <a:srgbClr val="FFFFFF"/>
                          </a:solidFill>
                          <a:sym typeface="Arial"/>
                        </a:rPr>
                        <a:t>Ron Gallo - HEAVY META; The Foo Fighters – The Colour and the Shape </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46</a:t>
                      </a:r>
                    </a:p>
                  </a:txBody>
                  <a:tcPr marL="0" marR="0" marT="0" marB="0" anchor="b" horzOverflow="overflow"/>
                </a:tc>
                <a:tc>
                  <a:txBody>
                    <a:bodyPr/>
                    <a:lstStyle/>
                    <a:p>
                      <a:pPr>
                        <a:defRPr sz="1800"/>
                      </a:pPr>
                      <a:r>
                        <a:rPr sz="1400">
                          <a:solidFill>
                            <a:srgbClr val="FFFFFF"/>
                          </a:solidFill>
                          <a:sym typeface="Arial"/>
                        </a:rPr>
                        <a:t>1/12/2023</a:t>
                      </a:r>
                    </a:p>
                  </a:txBody>
                  <a:tcPr marL="0" marR="0" marT="0" marB="0" anchor="b" horzOverflow="overflow"/>
                </a:tc>
                <a:tc>
                  <a:txBody>
                    <a:bodyPr/>
                    <a:lstStyle/>
                    <a:p>
                      <a:pPr algn="ctr">
                        <a:defRPr sz="1800"/>
                      </a:pPr>
                      <a:r>
                        <a:rPr sz="1400">
                          <a:solidFill>
                            <a:srgbClr val="FFFFFF"/>
                          </a:solidFill>
                          <a:sym typeface="Arial"/>
                        </a:rPr>
                        <a:t>Lucas</a:t>
                      </a:r>
                    </a:p>
                  </a:txBody>
                  <a:tcPr marL="0" marR="0" marT="0" marB="0" anchor="b" horzOverflow="overflow"/>
                </a:tc>
                <a:tc>
                  <a:txBody>
                    <a:bodyPr/>
                    <a:lstStyle/>
                    <a:p>
                      <a:pPr algn="l">
                        <a:defRPr sz="1800"/>
                      </a:pPr>
                      <a:r>
                        <a:rPr sz="1400">
                          <a:solidFill>
                            <a:srgbClr val="FFFFFF"/>
                          </a:solidFill>
                          <a:sym typeface="Arial"/>
                        </a:rPr>
                        <a:t>Paloma</a:t>
                      </a:r>
                    </a:p>
                  </a:txBody>
                  <a:tcPr marL="0" marR="0" marT="0" marB="0" anchor="b" horzOverflow="overflow"/>
                </a:tc>
                <a:tc>
                  <a:txBody>
                    <a:bodyPr/>
                    <a:lstStyle/>
                    <a:p>
                      <a:pPr algn="l">
                        <a:defRPr sz="1800"/>
                      </a:pPr>
                      <a:r>
                        <a:rPr sz="1400">
                          <a:solidFill>
                            <a:srgbClr val="FFFFFF"/>
                          </a:solidFill>
                          <a:sym typeface="Arial"/>
                        </a:rPr>
                        <a:t>Sky Perriera – Night Time, My Time; Bloc Party – Silent Alarm</a:t>
                      </a:r>
                    </a:p>
                  </a:txBody>
                  <a:tcPr marL="0" marR="0" marT="0" marB="0"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47</a:t>
                      </a:r>
                    </a:p>
                  </a:txBody>
                  <a:tcPr marL="0" marR="0" marT="0" marB="0" anchor="b" horzOverflow="overflow"/>
                </a:tc>
                <a:tc>
                  <a:txBody>
                    <a:bodyPr/>
                    <a:lstStyle/>
                    <a:p>
                      <a:pPr>
                        <a:defRPr sz="1800"/>
                      </a:pPr>
                      <a:r>
                        <a:rPr sz="1400">
                          <a:solidFill>
                            <a:srgbClr val="FFFFFF"/>
                          </a:solidFill>
                          <a:sym typeface="Arial"/>
                        </a:rPr>
                        <a:t>3/9/2023</a:t>
                      </a:r>
                    </a:p>
                  </a:txBody>
                  <a:tcPr marL="0" marR="0" marT="0" marB="0" anchor="b" horzOverflow="overflow"/>
                </a:tc>
                <a:tc>
                  <a:txBody>
                    <a:bodyPr/>
                    <a:lstStyle/>
                    <a:p>
                      <a:pPr algn="ctr">
                        <a:defRPr sz="1800"/>
                      </a:pPr>
                      <a:r>
                        <a:rPr sz="1400">
                          <a:solidFill>
                            <a:srgbClr val="FFFFFF"/>
                          </a:solidFill>
                          <a:sym typeface="Arial"/>
                        </a:rPr>
                        <a:t>Chris</a:t>
                      </a:r>
                    </a:p>
                  </a:txBody>
                  <a:tcPr marL="0" marR="0" marT="0" marB="0" anchor="b" horzOverflow="overflow"/>
                </a:tc>
                <a:tc>
                  <a:txBody>
                    <a:bodyPr/>
                    <a:lstStyle/>
                    <a:p>
                      <a:pPr algn="l">
                        <a:defRPr sz="1800"/>
                      </a:pPr>
                      <a:r>
                        <a:rPr sz="1400">
                          <a:solidFill>
                            <a:srgbClr val="FFFFFF"/>
                          </a:solidFill>
                          <a:sym typeface="Arial"/>
                        </a:rPr>
                        <a:t>The Clover Club</a:t>
                      </a:r>
                    </a:p>
                  </a:txBody>
                  <a:tcPr marL="0" marR="0" marT="0" marB="0" anchor="b" horzOverflow="overflow"/>
                </a:tc>
                <a:tc>
                  <a:txBody>
                    <a:bodyPr/>
                    <a:lstStyle/>
                    <a:p>
                      <a:pPr algn="l">
                        <a:defRPr sz="1800"/>
                      </a:pPr>
                      <a:r>
                        <a:rPr sz="1400">
                          <a:solidFill>
                            <a:srgbClr val="FFFFFF"/>
                          </a:solidFill>
                          <a:sym typeface="Arial"/>
                        </a:rPr>
                        <a:t>Cut/Copy – In Ghost Colours; The Cure – Kiss Me, Kiss Me, Kiss Me</a:t>
                      </a:r>
                    </a:p>
                  </a:txBody>
                  <a:tcPr marL="0" marR="0" marT="0" marB="0"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48</a:t>
                      </a:r>
                    </a:p>
                  </a:txBody>
                  <a:tcPr marL="0" marR="0" marT="0" marB="0" anchor="b" horzOverflow="overflow"/>
                </a:tc>
                <a:tc>
                  <a:txBody>
                    <a:bodyPr/>
                    <a:lstStyle/>
                    <a:p>
                      <a:pPr>
                        <a:defRPr sz="1800"/>
                      </a:pPr>
                      <a:r>
                        <a:rPr sz="1400">
                          <a:solidFill>
                            <a:srgbClr val="FFFFFF"/>
                          </a:solidFill>
                          <a:sym typeface="Arial"/>
                        </a:rPr>
                        <a:t>4/20/2023</a:t>
                      </a:r>
                    </a:p>
                  </a:txBody>
                  <a:tcPr marL="0" marR="0" marT="0" marB="0" anchor="b" horzOverflow="overflow"/>
                </a:tc>
                <a:tc>
                  <a:txBody>
                    <a:bodyPr/>
                    <a:lstStyle/>
                    <a:p>
                      <a:pPr algn="ctr">
                        <a:defRPr sz="1800"/>
                      </a:pPr>
                      <a:r>
                        <a:rPr sz="1400">
                          <a:solidFill>
                            <a:srgbClr val="FFFFFF"/>
                          </a:solidFill>
                          <a:sym typeface="Arial"/>
                        </a:rPr>
                        <a:t>Joe</a:t>
                      </a:r>
                    </a:p>
                  </a:txBody>
                  <a:tcPr marL="0" marR="0" marT="0" marB="0" anchor="b" horzOverflow="overflow"/>
                </a:tc>
                <a:tc>
                  <a:txBody>
                    <a:bodyPr/>
                    <a:lstStyle/>
                    <a:p>
                      <a:pPr algn="l">
                        <a:defRPr sz="1800"/>
                      </a:pPr>
                      <a:r>
                        <a:rPr sz="1400">
                          <a:solidFill>
                            <a:srgbClr val="FFFFFF"/>
                          </a:solidFill>
                          <a:sym typeface="Arial"/>
                        </a:rPr>
                        <a:t>The New Fashioned</a:t>
                      </a:r>
                    </a:p>
                  </a:txBody>
                  <a:tcPr marL="0" marR="0" marT="0" marB="0" anchor="b" horzOverflow="overflow"/>
                </a:tc>
                <a:tc>
                  <a:txBody>
                    <a:bodyPr/>
                    <a:lstStyle/>
                    <a:p>
                      <a:pPr algn="l">
                        <a:defRPr sz="1800"/>
                      </a:pPr>
                      <a:r>
                        <a:rPr sz="1400">
                          <a:solidFill>
                            <a:srgbClr val="FFFFFF"/>
                          </a:solidFill>
                          <a:sym typeface="Arial"/>
                        </a:rPr>
                        <a:t>Supertramp – Crime of the Century; St. Paul &amp; The Broken Bones – The Alien Coast; Sharon Jones &amp; The Dap Kings – 100 Days 100 Nights</a:t>
                      </a:r>
                    </a:p>
                  </a:txBody>
                  <a:tcPr marL="0" marR="0" marT="0" marB="0"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Google Shape;319;p63"/>
          <p:cNvSpPr txBox="1">
            <a:spLocks noGrp="1"/>
          </p:cNvSpPr>
          <p:nvPr>
            <p:ph type="title"/>
          </p:nvPr>
        </p:nvSpPr>
        <p:spPr>
          <a:xfrm>
            <a:off x="2779730" y="236524"/>
            <a:ext cx="8610601" cy="929029"/>
          </a:xfrm>
          <a:prstGeom prst="rect">
            <a:avLst/>
          </a:prstGeom>
        </p:spPr>
        <p:txBody>
          <a:bodyPr/>
          <a:lstStyle/>
          <a:p>
            <a:r>
              <a:t>HISTORY</a:t>
            </a:r>
          </a:p>
        </p:txBody>
      </p:sp>
      <p:graphicFrame>
        <p:nvGraphicFramePr>
          <p:cNvPr id="306" name="Google Shape;320;p63"/>
          <p:cNvGraphicFramePr/>
          <p:nvPr/>
        </p:nvGraphicFramePr>
        <p:xfrm>
          <a:off x="723887" y="1279846"/>
          <a:ext cx="10744224" cy="4079350"/>
        </p:xfrm>
        <a:graphic>
          <a:graphicData uri="http://schemas.openxmlformats.org/drawingml/2006/table">
            <a:tbl>
              <a:tblPr firstRow="1" bandRow="1">
                <a:tableStyleId>{4C3C2611-4C71-4FC5-86AE-919BDF0F9419}</a:tableStyleId>
              </a:tblPr>
              <a:tblGrid>
                <a:gridCol w="436824">
                  <a:extLst>
                    <a:ext uri="{9D8B030D-6E8A-4147-A177-3AD203B41FA5}">
                      <a16:colId xmlns:a16="http://schemas.microsoft.com/office/drawing/2014/main" val="20000"/>
                    </a:ext>
                  </a:extLst>
                </a:gridCol>
                <a:gridCol w="1424600">
                  <a:extLst>
                    <a:ext uri="{9D8B030D-6E8A-4147-A177-3AD203B41FA5}">
                      <a16:colId xmlns:a16="http://schemas.microsoft.com/office/drawing/2014/main" val="20001"/>
                    </a:ext>
                  </a:extLst>
                </a:gridCol>
                <a:gridCol w="673850">
                  <a:extLst>
                    <a:ext uri="{9D8B030D-6E8A-4147-A177-3AD203B41FA5}">
                      <a16:colId xmlns:a16="http://schemas.microsoft.com/office/drawing/2014/main" val="20002"/>
                    </a:ext>
                  </a:extLst>
                </a:gridCol>
                <a:gridCol w="2129750">
                  <a:extLst>
                    <a:ext uri="{9D8B030D-6E8A-4147-A177-3AD203B41FA5}">
                      <a16:colId xmlns:a16="http://schemas.microsoft.com/office/drawing/2014/main" val="20003"/>
                    </a:ext>
                  </a:extLst>
                </a:gridCol>
                <a:gridCol w="607920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49</a:t>
                      </a:r>
                    </a:p>
                  </a:txBody>
                  <a:tcPr marL="9525" marR="9525" marT="9525" marB="9525" anchor="b" horzOverflow="overflow"/>
                </a:tc>
                <a:tc>
                  <a:txBody>
                    <a:bodyPr/>
                    <a:lstStyle/>
                    <a:p>
                      <a:pPr algn="ctr">
                        <a:defRPr sz="1800"/>
                      </a:pPr>
                      <a:r>
                        <a:rPr sz="1400">
                          <a:solidFill>
                            <a:srgbClr val="FFFFFF"/>
                          </a:solidFill>
                          <a:sym typeface="Arial"/>
                        </a:rPr>
                        <a:t>6/8/2023</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Eric’s Fancy</a:t>
                      </a:r>
                    </a:p>
                  </a:txBody>
                  <a:tcPr marL="9525" marR="9525" marT="9525" marB="9525" anchor="b" horzOverflow="overflow"/>
                </a:tc>
                <a:tc>
                  <a:txBody>
                    <a:bodyPr/>
                    <a:lstStyle/>
                    <a:p>
                      <a:pPr algn="l">
                        <a:defRPr sz="1800"/>
                      </a:pPr>
                      <a:r>
                        <a:rPr sz="1400">
                          <a:solidFill>
                            <a:srgbClr val="FFFFFF"/>
                          </a:solidFill>
                          <a:sym typeface="Arial"/>
                        </a:rPr>
                        <a:t> The Police - Zenyatta Mondatta; INXS – The Swing; Jackson Browne – Late For The Sky</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50</a:t>
                      </a:r>
                    </a:p>
                  </a:txBody>
                  <a:tcPr marL="9525" marR="9525" marT="9525" marB="9525" anchor="b" horzOverflow="overflow"/>
                </a:tc>
                <a:tc>
                  <a:txBody>
                    <a:bodyPr/>
                    <a:lstStyle/>
                    <a:p>
                      <a:pPr algn="ctr">
                        <a:defRPr sz="1800"/>
                      </a:pPr>
                      <a:r>
                        <a:rPr sz="1400">
                          <a:solidFill>
                            <a:srgbClr val="FFFFFF"/>
                          </a:solidFill>
                          <a:sym typeface="Arial"/>
                        </a:rPr>
                        <a:t>7/13/2023</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El Diablo</a:t>
                      </a:r>
                    </a:p>
                  </a:txBody>
                  <a:tcPr marL="9525" marR="9525" marT="9525" marB="9525" anchor="b" horzOverflow="overflow"/>
                </a:tc>
                <a:tc>
                  <a:txBody>
                    <a:bodyPr/>
                    <a:lstStyle/>
                    <a:p>
                      <a:pPr algn="l">
                        <a:defRPr sz="1800"/>
                      </a:pPr>
                      <a:r>
                        <a:rPr sz="1400">
                          <a:solidFill>
                            <a:srgbClr val="FFFFFF"/>
                          </a:solidFill>
                          <a:sym typeface="Arial"/>
                        </a:rPr>
                        <a:t>Todd Rundgren - A Wizard / A True Star; Pink Floyd - Animals; Yo La Tengo - This Stupid World</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51</a:t>
                      </a:r>
                    </a:p>
                  </a:txBody>
                  <a:tcPr marL="9525" marR="9525" marT="9525" marB="9525" anchor="b" horzOverflow="overflow"/>
                </a:tc>
                <a:tc>
                  <a:txBody>
                    <a:bodyPr/>
                    <a:lstStyle/>
                    <a:p>
                      <a:pPr algn="ctr">
                        <a:defRPr sz="1800"/>
                      </a:pPr>
                      <a:r>
                        <a:rPr sz="1400">
                          <a:solidFill>
                            <a:srgbClr val="FFFFFF"/>
                          </a:solidFill>
                          <a:sym typeface="Arial"/>
                        </a:rPr>
                        <a:t>9/21/2023</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Ginger Pear Bourbon</a:t>
                      </a:r>
                    </a:p>
                  </a:txBody>
                  <a:tcPr marL="9525" marR="9525" marT="9525" marB="9525" anchor="b" horzOverflow="overflow"/>
                </a:tc>
                <a:tc>
                  <a:txBody>
                    <a:bodyPr/>
                    <a:lstStyle/>
                    <a:p>
                      <a:pPr algn="l">
                        <a:defRPr sz="1800"/>
                      </a:pPr>
                      <a:r>
                        <a:rPr sz="1400">
                          <a:solidFill>
                            <a:srgbClr val="FFFFFF"/>
                          </a:solidFill>
                          <a:sym typeface="Arial"/>
                        </a:rPr>
                        <a:t>Nilüfer Yanya - PAINLESS, PJ Harvey - Stories from the City, Stories from the Sea; Yeah Yeah Yeahs - Fever to Tell</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52</a:t>
                      </a:r>
                    </a:p>
                  </a:txBody>
                  <a:tcPr marL="9525" marR="9525" marT="9525" marB="9525" anchor="b" horzOverflow="overflow"/>
                </a:tc>
                <a:tc>
                  <a:txBody>
                    <a:bodyPr/>
                    <a:lstStyle/>
                    <a:p>
                      <a:pPr algn="ctr">
                        <a:defRPr sz="1800"/>
                      </a:pPr>
                      <a:r>
                        <a:rPr sz="1400">
                          <a:solidFill>
                            <a:srgbClr val="FFFFFF"/>
                          </a:solidFill>
                          <a:sym typeface="Arial"/>
                        </a:rPr>
                        <a:t>10/19/2023</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Late Night Flight</a:t>
                      </a:r>
                    </a:p>
                  </a:txBody>
                  <a:tcPr marL="9525" marR="9525" marT="9525" marB="9525" anchor="b" horzOverflow="overflow"/>
                </a:tc>
                <a:tc>
                  <a:txBody>
                    <a:bodyPr/>
                    <a:lstStyle/>
                    <a:p>
                      <a:pPr algn="l">
                        <a:defRPr sz="1800"/>
                      </a:pPr>
                      <a:r>
                        <a:rPr sz="1400">
                          <a:solidFill>
                            <a:srgbClr val="FFFFFF"/>
                          </a:solidFill>
                          <a:sym typeface="Arial"/>
                        </a:rPr>
                        <a:t>Fall Out Boy – From Under the Cork Tree, Blink-182 – Blink-182, Taking Back Sunday – Tell All Your Friends</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53</a:t>
                      </a:r>
                    </a:p>
                  </a:txBody>
                  <a:tcPr marL="9525" marR="9525" marT="9525" marB="9525" anchor="b" horzOverflow="overflow"/>
                </a:tc>
                <a:tc>
                  <a:txBody>
                    <a:bodyPr/>
                    <a:lstStyle/>
                    <a:p>
                      <a:pPr algn="ctr">
                        <a:defRPr sz="1800"/>
                      </a:pPr>
                      <a:r>
                        <a:rPr sz="1400">
                          <a:solidFill>
                            <a:srgbClr val="FFFFFF"/>
                          </a:solidFill>
                          <a:sym typeface="Arial"/>
                        </a:rPr>
                        <a:t>11/9/2023</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Turf Club</a:t>
                      </a:r>
                    </a:p>
                  </a:txBody>
                  <a:tcPr marL="9525" marR="9525" marT="9525" marB="9525" anchor="b" horzOverflow="overflow"/>
                </a:tc>
                <a:tc>
                  <a:txBody>
                    <a:bodyPr/>
                    <a:lstStyle/>
                    <a:p>
                      <a:pPr algn="l">
                        <a:defRPr sz="1800"/>
                      </a:pPr>
                      <a:r>
                        <a:rPr sz="1400">
                          <a:solidFill>
                            <a:srgbClr val="FFFFFF"/>
                          </a:solidFill>
                          <a:sym typeface="Arial"/>
                        </a:rPr>
                        <a:t>Killing Joke – Killing Joke; Tubeway Army – Tubeway Army; Nine Inch Nails – The Fragile</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54</a:t>
                      </a:r>
                    </a:p>
                  </a:txBody>
                  <a:tcPr marL="9525" marR="9525" marT="9525" marB="9525" anchor="b" horzOverflow="overflow"/>
                </a:tc>
                <a:tc>
                  <a:txBody>
                    <a:bodyPr/>
                    <a:lstStyle/>
                    <a:p>
                      <a:pPr algn="ctr">
                        <a:defRPr sz="1800"/>
                      </a:pPr>
                      <a:r>
                        <a:rPr sz="1400">
                          <a:solidFill>
                            <a:srgbClr val="FFFFFF"/>
                          </a:solidFill>
                          <a:sym typeface="Arial"/>
                        </a:rPr>
                        <a:t>1/10/2024</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The Cape Codder</a:t>
                      </a:r>
                    </a:p>
                  </a:txBody>
                  <a:tcPr marL="9525" marR="9525" marT="9525" marB="9525" anchor="b" horzOverflow="overflow"/>
                </a:tc>
                <a:tc>
                  <a:txBody>
                    <a:bodyPr/>
                    <a:lstStyle/>
                    <a:p>
                      <a:pPr algn="l">
                        <a:defRPr sz="1800"/>
                      </a:pPr>
                      <a:r>
                        <a:rPr sz="1400">
                          <a:solidFill>
                            <a:srgbClr val="FFFFFF"/>
                          </a:solidFill>
                          <a:sym typeface="Arial"/>
                        </a:rPr>
                        <a:t>Neil Young &amp; Crazy Horse at The Fillmore 1970; First Ever Film Presentation: The Last Waltz</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55</a:t>
                      </a:r>
                    </a:p>
                  </a:txBody>
                  <a:tcPr marL="9525" marR="9525" marT="9525" marB="9525" anchor="b" horzOverflow="overflow"/>
                </a:tc>
                <a:tc>
                  <a:txBody>
                    <a:bodyPr/>
                    <a:lstStyle/>
                    <a:p>
                      <a:pPr algn="ctr">
                        <a:defRPr sz="1800"/>
                      </a:pPr>
                      <a:r>
                        <a:rPr sz="1400">
                          <a:solidFill>
                            <a:srgbClr val="FFFFFF"/>
                          </a:solidFill>
                          <a:sym typeface="Arial"/>
                        </a:rPr>
                        <a:t>3/14/2024</a:t>
                      </a:r>
                    </a:p>
                  </a:txBody>
                  <a:tcPr marL="9525" marR="9525" marT="9525" marB="9525" anchor="b" horzOverflow="overflow"/>
                </a:tc>
                <a:tc>
                  <a:txBody>
                    <a:bodyPr/>
                    <a:lstStyle/>
                    <a:p>
                      <a:pPr algn="ctr">
                        <a:defRPr sz="1800"/>
                      </a:pPr>
                      <a:r>
                        <a:rPr sz="1400">
                          <a:solidFill>
                            <a:srgbClr val="FFFFFF"/>
                          </a:solidFill>
                          <a:sym typeface="Arial"/>
                        </a:rPr>
                        <a:t>Eric</a:t>
                      </a:r>
                    </a:p>
                  </a:txBody>
                  <a:tcPr marL="9525" marR="9525" marT="9525" marB="9525" anchor="b" horzOverflow="overflow"/>
                </a:tc>
                <a:tc>
                  <a:txBody>
                    <a:bodyPr/>
                    <a:lstStyle/>
                    <a:p>
                      <a:pPr algn="l">
                        <a:defRPr sz="1800"/>
                      </a:pPr>
                      <a:r>
                        <a:rPr sz="1400">
                          <a:solidFill>
                            <a:srgbClr val="FFFFFF"/>
                          </a:solidFill>
                          <a:sym typeface="Arial"/>
                        </a:rPr>
                        <a:t>Gold Rush</a:t>
                      </a:r>
                    </a:p>
                  </a:txBody>
                  <a:tcPr marL="9525" marR="9525" marT="9525" marB="9525" anchor="b" horzOverflow="overflow"/>
                </a:tc>
                <a:tc>
                  <a:txBody>
                    <a:bodyPr/>
                    <a:lstStyle/>
                    <a:p>
                      <a:pPr algn="l">
                        <a:defRPr sz="1800"/>
                      </a:pPr>
                      <a:r>
                        <a:rPr sz="1400">
                          <a:solidFill>
                            <a:srgbClr val="FFFFFF"/>
                          </a:solidFill>
                          <a:sym typeface="Arial"/>
                        </a:rPr>
                        <a:t>Johnny Marr + the Healers – Boomslang; Morrissey – Viva Hate; The Smiths – Hatful of Hollow</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56</a:t>
                      </a:r>
                    </a:p>
                  </a:txBody>
                  <a:tcPr marL="9525" marR="9525" marT="9525" marB="9525" anchor="b" horzOverflow="overflow"/>
                </a:tc>
                <a:tc>
                  <a:txBody>
                    <a:bodyPr/>
                    <a:lstStyle/>
                    <a:p>
                      <a:pPr algn="ctr">
                        <a:defRPr sz="1800"/>
                      </a:pPr>
                      <a:r>
                        <a:rPr sz="1400">
                          <a:solidFill>
                            <a:srgbClr val="FFFFFF"/>
                          </a:solidFill>
                          <a:sym typeface="Arial"/>
                        </a:rPr>
                        <a:t>4/11/2024</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Godfather</a:t>
                      </a:r>
                    </a:p>
                  </a:txBody>
                  <a:tcPr marL="9525" marR="9525" marT="9525" marB="9525" anchor="b" horzOverflow="overflow"/>
                </a:tc>
                <a:tc>
                  <a:txBody>
                    <a:bodyPr/>
                    <a:lstStyle/>
                    <a:p>
                      <a:pPr algn="l">
                        <a:defRPr sz="1800"/>
                      </a:pPr>
                      <a:r>
                        <a:rPr sz="1400">
                          <a:solidFill>
                            <a:srgbClr val="FFFFFF"/>
                          </a:solidFill>
                          <a:sym typeface="Arial"/>
                        </a:rPr>
                        <a:t>Woods - Perennial; King Gizzard &amp; the Lizard Wizard - Ice, Death, Planets, Lungs, Mushrooms and Lava; Neil Young - Chrome Dreams</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57</a:t>
                      </a:r>
                    </a:p>
                  </a:txBody>
                  <a:tcPr marL="9525" marR="9525" marT="9525" marB="9525" anchor="b" horzOverflow="overflow"/>
                </a:tc>
                <a:tc>
                  <a:txBody>
                    <a:bodyPr/>
                    <a:lstStyle/>
                    <a:p>
                      <a:pPr algn="ctr">
                        <a:defRPr sz="1800"/>
                      </a:pPr>
                      <a:r>
                        <a:rPr sz="1400">
                          <a:solidFill>
                            <a:srgbClr val="FFFFFF"/>
                          </a:solidFill>
                          <a:sym typeface="Arial"/>
                        </a:rPr>
                        <a:t>5/9/2024</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Oaxaca Old Fashioned</a:t>
                      </a:r>
                    </a:p>
                  </a:txBody>
                  <a:tcPr marL="9525" marR="9525" marT="9525" marB="9525" anchor="b" horzOverflow="overflow"/>
                </a:tc>
                <a:tc>
                  <a:txBody>
                    <a:bodyPr/>
                    <a:lstStyle/>
                    <a:p>
                      <a:pPr algn="l">
                        <a:defRPr sz="1800"/>
                      </a:pPr>
                      <a:r>
                        <a:rPr sz="1400">
                          <a:solidFill>
                            <a:srgbClr val="FFFFFF"/>
                          </a:solidFill>
                          <a:sym typeface="Arial"/>
                        </a:rPr>
                        <a:t>Pet Fox - A Face in Your Life; Momma - Household Name; Shame - Songs of Praise</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800"/>
                      </a:pPr>
                      <a:r>
                        <a:rPr sz="1400">
                          <a:solidFill>
                            <a:srgbClr val="FFFFFF"/>
                          </a:solidFill>
                          <a:sym typeface="Arial"/>
                        </a:rPr>
                        <a:t>58</a:t>
                      </a:r>
                    </a:p>
                  </a:txBody>
                  <a:tcPr marL="9525" marR="9525" marT="9525" marB="9525" anchor="b" horzOverflow="overflow"/>
                </a:tc>
                <a:tc>
                  <a:txBody>
                    <a:bodyPr/>
                    <a:lstStyle/>
                    <a:p>
                      <a:pPr algn="ctr">
                        <a:defRPr sz="1800"/>
                      </a:pPr>
                      <a:r>
                        <a:rPr sz="1400">
                          <a:solidFill>
                            <a:srgbClr val="FFFFFF"/>
                          </a:solidFill>
                          <a:sym typeface="Arial"/>
                        </a:rPr>
                        <a:t>9/12/2024</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Remember the Maine</a:t>
                      </a:r>
                    </a:p>
                  </a:txBody>
                  <a:tcPr marL="9525" marR="9525" marT="9525" marB="9525" anchor="b" horzOverflow="overflow"/>
                </a:tc>
                <a:tc>
                  <a:txBody>
                    <a:bodyPr/>
                    <a:lstStyle/>
                    <a:p>
                      <a:pPr algn="l">
                        <a:defRPr sz="1800"/>
                      </a:pPr>
                      <a:r>
                        <a:rPr sz="1400">
                          <a:solidFill>
                            <a:srgbClr val="FFFFFF"/>
                          </a:solidFill>
                          <a:sym typeface="Arial"/>
                        </a:rPr>
                        <a:t>Bloc Party – A Weekend in the City, Maximo Park – A Certain Trigger, Futureheads – Futureheads (Self Titled)</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Google Shape;319;p63"/>
          <p:cNvSpPr txBox="1">
            <a:spLocks noGrp="1"/>
          </p:cNvSpPr>
          <p:nvPr>
            <p:ph type="title"/>
          </p:nvPr>
        </p:nvSpPr>
        <p:spPr>
          <a:xfrm>
            <a:off x="2779730" y="236524"/>
            <a:ext cx="8610601" cy="929029"/>
          </a:xfrm>
          <a:prstGeom prst="rect">
            <a:avLst/>
          </a:prstGeom>
        </p:spPr>
        <p:txBody>
          <a:bodyPr/>
          <a:lstStyle/>
          <a:p>
            <a:r>
              <a:t>HISTORY</a:t>
            </a:r>
          </a:p>
        </p:txBody>
      </p:sp>
      <p:graphicFrame>
        <p:nvGraphicFramePr>
          <p:cNvPr id="309" name="Google Shape;320;p63"/>
          <p:cNvGraphicFramePr/>
          <p:nvPr/>
        </p:nvGraphicFramePr>
        <p:xfrm>
          <a:off x="723887" y="1279846"/>
          <a:ext cx="10744224" cy="4817150"/>
        </p:xfrm>
        <a:graphic>
          <a:graphicData uri="http://schemas.openxmlformats.org/drawingml/2006/table">
            <a:tbl>
              <a:tblPr firstRow="1" bandRow="1">
                <a:tableStyleId>{4C3C2611-4C71-4FC5-86AE-919BDF0F9419}</a:tableStyleId>
              </a:tblPr>
              <a:tblGrid>
                <a:gridCol w="436824">
                  <a:extLst>
                    <a:ext uri="{9D8B030D-6E8A-4147-A177-3AD203B41FA5}">
                      <a16:colId xmlns:a16="http://schemas.microsoft.com/office/drawing/2014/main" val="20000"/>
                    </a:ext>
                  </a:extLst>
                </a:gridCol>
                <a:gridCol w="1424600">
                  <a:extLst>
                    <a:ext uri="{9D8B030D-6E8A-4147-A177-3AD203B41FA5}">
                      <a16:colId xmlns:a16="http://schemas.microsoft.com/office/drawing/2014/main" val="20001"/>
                    </a:ext>
                  </a:extLst>
                </a:gridCol>
                <a:gridCol w="673850">
                  <a:extLst>
                    <a:ext uri="{9D8B030D-6E8A-4147-A177-3AD203B41FA5}">
                      <a16:colId xmlns:a16="http://schemas.microsoft.com/office/drawing/2014/main" val="20002"/>
                    </a:ext>
                  </a:extLst>
                </a:gridCol>
                <a:gridCol w="2129750">
                  <a:extLst>
                    <a:ext uri="{9D8B030D-6E8A-4147-A177-3AD203B41FA5}">
                      <a16:colId xmlns:a16="http://schemas.microsoft.com/office/drawing/2014/main" val="20003"/>
                    </a:ext>
                  </a:extLst>
                </a:gridCol>
                <a:gridCol w="6079200">
                  <a:extLst>
                    <a:ext uri="{9D8B030D-6E8A-4147-A177-3AD203B41FA5}">
                      <a16:colId xmlns:a16="http://schemas.microsoft.com/office/drawing/2014/main" val="20004"/>
                    </a:ext>
                  </a:extLst>
                </a:gridCol>
              </a:tblGrid>
              <a:tr h="370850">
                <a:tc>
                  <a:txBody>
                    <a:bodyPr/>
                    <a:lstStyle/>
                    <a:p>
                      <a:pPr algn="l">
                        <a:defRPr sz="1800" b="0">
                          <a:solidFill>
                            <a:srgbClr val="000000"/>
                          </a:solidFill>
                        </a:defRPr>
                      </a:pPr>
                      <a:r>
                        <a:rPr b="1">
                          <a:solidFill>
                            <a:srgbClr val="FFFFFF"/>
                          </a:solidFill>
                          <a:sym typeface="Arial"/>
                        </a:rPr>
                        <a:t>#</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Cocktail</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Selections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370850">
                <a:tc>
                  <a:txBody>
                    <a:bodyPr/>
                    <a:lstStyle/>
                    <a:p>
                      <a:pPr algn="ctr">
                        <a:defRPr sz="1800"/>
                      </a:pPr>
                      <a:r>
                        <a:rPr sz="1400">
                          <a:solidFill>
                            <a:srgbClr val="FFFFFF"/>
                          </a:solidFill>
                          <a:sym typeface="Arial"/>
                        </a:rPr>
                        <a:t>60</a:t>
                      </a:r>
                    </a:p>
                  </a:txBody>
                  <a:tcPr marL="9525" marR="9525" marT="9525" marB="9525" anchor="b" horzOverflow="overflow"/>
                </a:tc>
                <a:tc>
                  <a:txBody>
                    <a:bodyPr/>
                    <a:lstStyle/>
                    <a:p>
                      <a:pPr algn="ctr">
                        <a:defRPr sz="1800"/>
                      </a:pPr>
                      <a:r>
                        <a:rPr sz="1400">
                          <a:solidFill>
                            <a:srgbClr val="FFFFFF"/>
                          </a:solidFill>
                          <a:sym typeface="Arial"/>
                        </a:rPr>
                        <a:t>10/10/2024</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Toronto Sour</a:t>
                      </a:r>
                    </a:p>
                  </a:txBody>
                  <a:tcPr marL="9525" marR="9525" marT="9525" marB="9525" anchor="b" horzOverflow="overflow"/>
                </a:tc>
                <a:tc>
                  <a:txBody>
                    <a:bodyPr/>
                    <a:lstStyle/>
                    <a:p>
                      <a:pPr algn="l">
                        <a:defRPr sz="1800"/>
                      </a:pPr>
                      <a:r>
                        <a:rPr sz="1400">
                          <a:solidFill>
                            <a:srgbClr val="FFFFFF"/>
                          </a:solidFill>
                          <a:sym typeface="Arial"/>
                        </a:rPr>
                        <a:t>Fleet Foxes – Fleet Foxes, The National – Boxer, The Smile – Wall of Eyes</a:t>
                      </a:r>
                    </a:p>
                  </a:txBody>
                  <a:tcPr marL="9525" marR="9525" marT="9525" marB="9525" anchor="b" horzOverflow="overflow"/>
                </a:tc>
                <a:extLst>
                  <a:ext uri="{0D108BD9-81ED-4DB2-BD59-A6C34878D82A}">
                    <a16:rowId xmlns:a16="http://schemas.microsoft.com/office/drawing/2014/main" val="10001"/>
                  </a:ext>
                </a:extLst>
              </a:tr>
              <a:tr h="370850">
                <a:tc>
                  <a:txBody>
                    <a:bodyPr/>
                    <a:lstStyle/>
                    <a:p>
                      <a:pPr algn="ctr">
                        <a:defRPr sz="1800"/>
                      </a:pPr>
                      <a:r>
                        <a:rPr sz="1400">
                          <a:solidFill>
                            <a:srgbClr val="FFFFFF"/>
                          </a:solidFill>
                          <a:sym typeface="Arial"/>
                        </a:rPr>
                        <a:t>61</a:t>
                      </a:r>
                    </a:p>
                  </a:txBody>
                  <a:tcPr marL="9525" marR="9525" marT="9525" marB="9525" anchor="b" horzOverflow="overflow"/>
                </a:tc>
                <a:tc>
                  <a:txBody>
                    <a:bodyPr/>
                    <a:lstStyle/>
                    <a:p>
                      <a:pPr algn="ctr">
                        <a:defRPr sz="1800"/>
                      </a:pPr>
                      <a:r>
                        <a:rPr sz="1400">
                          <a:solidFill>
                            <a:srgbClr val="FFFFFF"/>
                          </a:solidFill>
                          <a:sym typeface="Arial"/>
                        </a:rPr>
                        <a:t>11/21/2024</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Blackberry Smash</a:t>
                      </a:r>
                    </a:p>
                  </a:txBody>
                  <a:tcPr marL="9525" marR="9525" marT="9525" marB="9525" anchor="b" horzOverflow="overflow"/>
                </a:tc>
                <a:tc>
                  <a:txBody>
                    <a:bodyPr/>
                    <a:lstStyle/>
                    <a:p>
                      <a:pPr algn="l">
                        <a:defRPr sz="1800"/>
                      </a:pPr>
                      <a:r>
                        <a:rPr sz="1400">
                          <a:solidFill>
                            <a:srgbClr val="FFFFFF"/>
                          </a:solidFill>
                          <a:sym typeface="Arial"/>
                        </a:rPr>
                        <a:t>The Beatles – Abbey Road, Tears for Fears – Songs for a Nervous Planet, Cubeart – Mobbed </a:t>
                      </a:r>
                    </a:p>
                  </a:txBody>
                  <a:tcPr marL="9525" marR="9525" marT="9525" marB="9525" anchor="b" horzOverflow="overflow"/>
                </a:tc>
                <a:extLst>
                  <a:ext uri="{0D108BD9-81ED-4DB2-BD59-A6C34878D82A}">
                    <a16:rowId xmlns:a16="http://schemas.microsoft.com/office/drawing/2014/main" val="10002"/>
                  </a:ext>
                </a:extLst>
              </a:tr>
              <a:tr h="370850">
                <a:tc>
                  <a:txBody>
                    <a:bodyPr/>
                    <a:lstStyle/>
                    <a:p>
                      <a:pPr algn="ctr">
                        <a:defRPr sz="1800"/>
                      </a:pPr>
                      <a:r>
                        <a:rPr sz="1400">
                          <a:solidFill>
                            <a:srgbClr val="FFFFFF"/>
                          </a:solidFill>
                          <a:sym typeface="Arial"/>
                        </a:rPr>
                        <a:t>62</a:t>
                      </a:r>
                    </a:p>
                  </a:txBody>
                  <a:tcPr marL="9525" marR="9525" marT="9525" marB="9525" anchor="b" horzOverflow="overflow"/>
                </a:tc>
                <a:tc>
                  <a:txBody>
                    <a:bodyPr/>
                    <a:lstStyle/>
                    <a:p>
                      <a:pPr algn="ctr">
                        <a:defRPr sz="1800"/>
                      </a:pPr>
                      <a:r>
                        <a:rPr sz="1400">
                          <a:solidFill>
                            <a:srgbClr val="FFFFFF"/>
                          </a:solidFill>
                          <a:sym typeface="Arial"/>
                        </a:rPr>
                        <a:t>1/9/2025</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Pendergast</a:t>
                      </a:r>
                    </a:p>
                  </a:txBody>
                  <a:tcPr marL="9525" marR="9525" marT="9525" marB="9525" anchor="b" horzOverflow="overflow"/>
                </a:tc>
                <a:tc>
                  <a:txBody>
                    <a:bodyPr/>
                    <a:lstStyle/>
                    <a:p>
                      <a:pPr algn="l">
                        <a:defRPr sz="1800"/>
                      </a:pPr>
                      <a:r>
                        <a:rPr sz="1400">
                          <a:solidFill>
                            <a:srgbClr val="FFFFFF"/>
                          </a:solidFill>
                          <a:sym typeface="Arial"/>
                        </a:rPr>
                        <a:t>A Country Western – Life on the Lawn, Young Jesus – The Fool, Kim Deal – Nobody Loves You More</a:t>
                      </a:r>
                    </a:p>
                  </a:txBody>
                  <a:tcPr marL="9525" marR="9525" marT="9525" marB="9525" anchor="b" horzOverflow="overflow"/>
                </a:tc>
                <a:extLst>
                  <a:ext uri="{0D108BD9-81ED-4DB2-BD59-A6C34878D82A}">
                    <a16:rowId xmlns:a16="http://schemas.microsoft.com/office/drawing/2014/main" val="10003"/>
                  </a:ext>
                </a:extLst>
              </a:tr>
              <a:tr h="370850">
                <a:tc>
                  <a:txBody>
                    <a:bodyPr/>
                    <a:lstStyle/>
                    <a:p>
                      <a:pPr algn="ctr">
                        <a:defRPr sz="1800"/>
                      </a:pPr>
                      <a:r>
                        <a:rPr sz="1400">
                          <a:solidFill>
                            <a:srgbClr val="FFFFFF"/>
                          </a:solidFill>
                          <a:sym typeface="Arial"/>
                        </a:rPr>
                        <a:t>63</a:t>
                      </a:r>
                    </a:p>
                  </a:txBody>
                  <a:tcPr marL="9525" marR="9525" marT="9525" marB="9525" anchor="b" horzOverflow="overflow"/>
                </a:tc>
                <a:tc>
                  <a:txBody>
                    <a:bodyPr/>
                    <a:lstStyle/>
                    <a:p>
                      <a:pPr algn="ctr">
                        <a:defRPr sz="1800"/>
                      </a:pPr>
                      <a:r>
                        <a:rPr sz="1400">
                          <a:solidFill>
                            <a:srgbClr val="FFFFFF"/>
                          </a:solidFill>
                          <a:sym typeface="Arial"/>
                        </a:rPr>
                        <a:t>3/13/2025</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EDEDED"/>
                          </a:solidFill>
                          <a:sym typeface="Arial"/>
                        </a:rPr>
                        <a:t>Bubby’s Barrel-Aged Manhattan - Elijah Craig Small Batch Edition</a:t>
                      </a:r>
                    </a:p>
                  </a:txBody>
                  <a:tcPr marL="9525" marR="9525" marT="9525" marB="9525" anchor="b" horzOverflow="overflow"/>
                </a:tc>
                <a:tc>
                  <a:txBody>
                    <a:bodyPr/>
                    <a:lstStyle/>
                    <a:p>
                      <a:pPr algn="l">
                        <a:defRPr sz="1800"/>
                      </a:pPr>
                      <a:r>
                        <a:rPr sz="1400">
                          <a:solidFill>
                            <a:srgbClr val="FFFFFF"/>
                          </a:solidFill>
                          <a:sym typeface="Arial"/>
                        </a:rPr>
                        <a:t>Phantom Planet – Phantom Planet, MGMT – Loss of Life, The Beatles – Magical Mystery Tour</a:t>
                      </a:r>
                    </a:p>
                  </a:txBody>
                  <a:tcPr marL="9525" marR="9525" marT="9525" marB="9525" anchor="b" horzOverflow="overflow"/>
                </a:tc>
                <a:extLst>
                  <a:ext uri="{0D108BD9-81ED-4DB2-BD59-A6C34878D82A}">
                    <a16:rowId xmlns:a16="http://schemas.microsoft.com/office/drawing/2014/main" val="10004"/>
                  </a:ext>
                </a:extLst>
              </a:tr>
              <a:tr h="370850">
                <a:tc>
                  <a:txBody>
                    <a:bodyPr/>
                    <a:lstStyle/>
                    <a:p>
                      <a:pPr algn="ctr">
                        <a:defRPr sz="1800"/>
                      </a:pPr>
                      <a:r>
                        <a:rPr sz="1400">
                          <a:solidFill>
                            <a:srgbClr val="FFFFFF"/>
                          </a:solidFill>
                          <a:sym typeface="Arial"/>
                        </a:rPr>
                        <a:t>64</a:t>
                      </a:r>
                    </a:p>
                  </a:txBody>
                  <a:tcPr marL="9525" marR="9525" marT="9525" marB="9525" anchor="b" horzOverflow="overflow"/>
                </a:tc>
                <a:tc>
                  <a:txBody>
                    <a:bodyPr/>
                    <a:lstStyle/>
                    <a:p>
                      <a:pPr algn="ctr">
                        <a:defRPr sz="1800"/>
                      </a:pPr>
                      <a:r>
                        <a:rPr sz="1400">
                          <a:solidFill>
                            <a:srgbClr val="FFFFFF"/>
                          </a:solidFill>
                          <a:sym typeface="Arial"/>
                        </a:rPr>
                        <a:t>5/22/2025</a:t>
                      </a:r>
                    </a:p>
                  </a:txBody>
                  <a:tcPr marL="9525" marR="9525" marT="9525" marB="9525" anchor="b" horzOverflow="overflow"/>
                </a:tc>
                <a:tc>
                  <a:txBody>
                    <a:bodyPr/>
                    <a:lstStyle/>
                    <a:p>
                      <a:pPr algn="ctr">
                        <a:defRPr sz="1800"/>
                      </a:pPr>
                      <a:r>
                        <a:rPr sz="1400">
                          <a:solidFill>
                            <a:srgbClr val="FFFFFF"/>
                          </a:solidFill>
                          <a:sym typeface="Arial"/>
                        </a:rPr>
                        <a:t>Lucas</a:t>
                      </a:r>
                    </a:p>
                  </a:txBody>
                  <a:tcPr marL="9525" marR="9525" marT="9525" marB="9525" anchor="b" horzOverflow="overflow"/>
                </a:tc>
                <a:tc>
                  <a:txBody>
                    <a:bodyPr/>
                    <a:lstStyle/>
                    <a:p>
                      <a:pPr algn="l">
                        <a:defRPr sz="1800"/>
                      </a:pPr>
                      <a:r>
                        <a:rPr sz="1400">
                          <a:solidFill>
                            <a:srgbClr val="FFFFFF"/>
                          </a:solidFill>
                          <a:sym typeface="Arial"/>
                        </a:rPr>
                        <a:t>Division Bell</a:t>
                      </a:r>
                    </a:p>
                  </a:txBody>
                  <a:tcPr marL="9525" marR="9525" marT="9525" marB="9525" anchor="b" horzOverflow="overflow"/>
                </a:tc>
                <a:tc>
                  <a:txBody>
                    <a:bodyPr/>
                    <a:lstStyle/>
                    <a:p>
                      <a:pPr algn="l">
                        <a:defRPr sz="1800"/>
                      </a:pPr>
                      <a:r>
                        <a:rPr sz="1400">
                          <a:solidFill>
                            <a:srgbClr val="FFFFFF"/>
                          </a:solidFill>
                          <a:sym typeface="Arial"/>
                        </a:rPr>
                        <a:t>Nirvana – Incesticide, Manchester Orchestra – A Black Mile to the Surface, Radiohead – In Rainbows</a:t>
                      </a:r>
                    </a:p>
                  </a:txBody>
                  <a:tcPr marL="9525" marR="9525" marT="9525" marB="9525" anchor="b" horzOverflow="overflow"/>
                </a:tc>
                <a:extLst>
                  <a:ext uri="{0D108BD9-81ED-4DB2-BD59-A6C34878D82A}">
                    <a16:rowId xmlns:a16="http://schemas.microsoft.com/office/drawing/2014/main" val="10005"/>
                  </a:ext>
                </a:extLst>
              </a:tr>
              <a:tr h="370850">
                <a:tc>
                  <a:txBody>
                    <a:bodyPr/>
                    <a:lstStyle/>
                    <a:p>
                      <a:pPr algn="ctr">
                        <a:defRPr sz="1800"/>
                      </a:pPr>
                      <a:r>
                        <a:rPr sz="1400">
                          <a:solidFill>
                            <a:srgbClr val="FFFFFF"/>
                          </a:solidFill>
                          <a:sym typeface="Arial"/>
                        </a:rPr>
                        <a:t>65</a:t>
                      </a:r>
                    </a:p>
                  </a:txBody>
                  <a:tcPr marL="9525" marR="9525" marT="9525" marB="9525" anchor="b" horzOverflow="overflow"/>
                </a:tc>
                <a:tc>
                  <a:txBody>
                    <a:bodyPr/>
                    <a:lstStyle/>
                    <a:p>
                      <a:pPr algn="ctr">
                        <a:defRPr sz="1800"/>
                      </a:pPr>
                      <a:r>
                        <a:rPr sz="1400">
                          <a:solidFill>
                            <a:srgbClr val="FFFFFF"/>
                          </a:solidFill>
                          <a:sym typeface="Arial"/>
                        </a:rPr>
                        <a:t>6/12/2025</a:t>
                      </a:r>
                    </a:p>
                  </a:txBody>
                  <a:tcPr marL="9525" marR="9525" marT="9525" marB="9525" anchor="b" horzOverflow="overflow"/>
                </a:tc>
                <a:tc>
                  <a:txBody>
                    <a:bodyPr/>
                    <a:lstStyle/>
                    <a:p>
                      <a:pPr algn="ctr">
                        <a:defRPr sz="1800"/>
                      </a:pPr>
                      <a:r>
                        <a:rPr sz="1400">
                          <a:solidFill>
                            <a:srgbClr val="FFFFFF"/>
                          </a:solidFill>
                          <a:sym typeface="Arial"/>
                        </a:rPr>
                        <a:t>Chris</a:t>
                      </a:r>
                    </a:p>
                  </a:txBody>
                  <a:tcPr marL="9525" marR="9525" marT="9525" marB="9525" anchor="b" horzOverflow="overflow"/>
                </a:tc>
                <a:tc>
                  <a:txBody>
                    <a:bodyPr/>
                    <a:lstStyle/>
                    <a:p>
                      <a:pPr algn="l">
                        <a:defRPr sz="1800"/>
                      </a:pPr>
                      <a:r>
                        <a:rPr sz="1400">
                          <a:solidFill>
                            <a:srgbClr val="FFFFFF"/>
                          </a:solidFill>
                          <a:sym typeface="Arial"/>
                        </a:rPr>
                        <a:t>Paper Plane</a:t>
                      </a:r>
                    </a:p>
                  </a:txBody>
                  <a:tcPr marL="9525" marR="9525" marT="9525" marB="9525" anchor="b" horzOverflow="overflow"/>
                </a:tc>
                <a:tc>
                  <a:txBody>
                    <a:bodyPr/>
                    <a:lstStyle/>
                    <a:p>
                      <a:pPr algn="l">
                        <a:defRPr sz="1800"/>
                      </a:pPr>
                      <a:r>
                        <a:rPr sz="1400">
                          <a:solidFill>
                            <a:srgbClr val="FFFFFF"/>
                          </a:solidFill>
                          <a:sym typeface="Arial"/>
                        </a:rPr>
                        <a:t>A Certain Ratio – To Each…, Joy Division – Closer, Beach Boys – Pet Sounds</a:t>
                      </a:r>
                    </a:p>
                  </a:txBody>
                  <a:tcPr marL="9525" marR="9525" marT="9525" marB="9525" anchor="b" horzOverflow="overflow"/>
                </a:tc>
                <a:extLst>
                  <a:ext uri="{0D108BD9-81ED-4DB2-BD59-A6C34878D82A}">
                    <a16:rowId xmlns:a16="http://schemas.microsoft.com/office/drawing/2014/main" val="10006"/>
                  </a:ext>
                </a:extLst>
              </a:tr>
              <a:tr h="370850">
                <a:tc>
                  <a:txBody>
                    <a:bodyPr/>
                    <a:lstStyle/>
                    <a:p>
                      <a:pPr algn="ctr">
                        <a:defRPr sz="1800"/>
                      </a:pPr>
                      <a:r>
                        <a:rPr sz="1400">
                          <a:solidFill>
                            <a:srgbClr val="FFFFFF"/>
                          </a:solidFill>
                          <a:sym typeface="Arial"/>
                        </a:rPr>
                        <a:t>66</a:t>
                      </a:r>
                    </a:p>
                  </a:txBody>
                  <a:tcPr marL="9525" marR="9525" marT="9525" marB="9525" anchor="b" horzOverflow="overflow"/>
                </a:tc>
                <a:tc>
                  <a:txBody>
                    <a:bodyPr/>
                    <a:lstStyle/>
                    <a:p>
                      <a:pPr algn="ctr">
                        <a:defRPr sz="1800"/>
                      </a:pPr>
                      <a:r>
                        <a:rPr sz="1400">
                          <a:solidFill>
                            <a:srgbClr val="FFFFFF"/>
                          </a:solidFill>
                          <a:sym typeface="Arial"/>
                        </a:rPr>
                        <a:t>9/11/2025</a:t>
                      </a:r>
                    </a:p>
                  </a:txBody>
                  <a:tcPr marL="9525" marR="9525" marT="9525" marB="9525" anchor="b" horzOverflow="overflow"/>
                </a:tc>
                <a:tc>
                  <a:txBody>
                    <a:bodyPr/>
                    <a:lstStyle/>
                    <a:p>
                      <a:pPr algn="ctr">
                        <a:defRPr sz="1800"/>
                      </a:pPr>
                      <a:r>
                        <a:rPr sz="1400">
                          <a:solidFill>
                            <a:srgbClr val="FFFFFF"/>
                          </a:solidFill>
                          <a:sym typeface="Arial"/>
                        </a:rPr>
                        <a:t>Joe</a:t>
                      </a:r>
                    </a:p>
                  </a:txBody>
                  <a:tcPr marL="9525" marR="9525" marT="9525" marB="9525" anchor="b" horzOverflow="overflow"/>
                </a:tc>
                <a:tc>
                  <a:txBody>
                    <a:bodyPr/>
                    <a:lstStyle/>
                    <a:p>
                      <a:pPr algn="l">
                        <a:defRPr sz="1800"/>
                      </a:pPr>
                      <a:r>
                        <a:rPr sz="1400">
                          <a:solidFill>
                            <a:srgbClr val="FFFFFF"/>
                          </a:solidFill>
                          <a:sym typeface="Arial"/>
                        </a:rPr>
                        <a:t>Maple Old Fashioned</a:t>
                      </a:r>
                    </a:p>
                  </a:txBody>
                  <a:tcPr marL="9525" marR="9525" marT="9525" marB="9525" anchor="b" horzOverflow="overflow"/>
                </a:tc>
                <a:tc>
                  <a:txBody>
                    <a:bodyPr/>
                    <a:lstStyle/>
                    <a:p>
                      <a:pPr algn="l">
                        <a:defRPr sz="1800"/>
                      </a:pPr>
                      <a:r>
                        <a:rPr sz="1400">
                          <a:solidFill>
                            <a:srgbClr val="FFFFFF"/>
                          </a:solidFill>
                          <a:sym typeface="Arial"/>
                        </a:rPr>
                        <a:t>Tyler Childers - Live on Red Barn Radio I and II, Imelda May - Love Tattoo, Stone Temple Pilots - Purple</a:t>
                      </a:r>
                    </a:p>
                  </a:txBody>
                  <a:tcPr marL="9525" marR="9525" marT="9525" marB="9525" anchor="b" horzOverflow="overflow"/>
                </a:tc>
                <a:extLst>
                  <a:ext uri="{0D108BD9-81ED-4DB2-BD59-A6C34878D82A}">
                    <a16:rowId xmlns:a16="http://schemas.microsoft.com/office/drawing/2014/main" val="10007"/>
                  </a:ext>
                </a:extLst>
              </a:tr>
              <a:tr h="370850">
                <a:tc>
                  <a:txBody>
                    <a:bodyPr/>
                    <a:lstStyle/>
                    <a:p>
                      <a:pPr algn="ctr">
                        <a:defRPr sz="1800"/>
                      </a:pPr>
                      <a:r>
                        <a:rPr sz="1400">
                          <a:solidFill>
                            <a:srgbClr val="FFFFFF"/>
                          </a:solidFill>
                          <a:sym typeface="Arial"/>
                        </a:rPr>
                        <a:t>67</a:t>
                      </a:r>
                    </a:p>
                  </a:txBody>
                  <a:tcPr marL="9525" marR="9525" marT="9525" marB="9525" anchor="b" horzOverflow="overflow"/>
                </a:tc>
                <a:tc>
                  <a:txBody>
                    <a:bodyPr/>
                    <a:lstStyle/>
                    <a:p>
                      <a:pPr algn="ctr">
                        <a:defRPr sz="1800"/>
                      </a:pPr>
                      <a:r>
                        <a:rPr sz="1400">
                          <a:solidFill>
                            <a:srgbClr val="FFFFFF"/>
                          </a:solidFill>
                          <a:sym typeface="Arial"/>
                        </a:rPr>
                        <a:t>11/13/2025</a:t>
                      </a:r>
                    </a:p>
                  </a:txBody>
                  <a:tcPr marL="9525" marR="9525" marT="9525" marB="9525" anchor="b" horzOverflow="overflow"/>
                </a:tc>
                <a:tc>
                  <a:txBody>
                    <a:bodyPr/>
                    <a:lstStyle/>
                    <a:p>
                      <a:pPr algn="ctr">
                        <a:defRPr sz="1800"/>
                      </a:pPr>
                      <a:r>
                        <a:rPr sz="1400">
                          <a:solidFill>
                            <a:srgbClr val="FFFFFF"/>
                          </a:solidFill>
                          <a:sym typeface="Arial"/>
                        </a:rPr>
                        <a:t>John</a:t>
                      </a:r>
                    </a:p>
                  </a:txBody>
                  <a:tcPr marL="9525" marR="9525" marT="9525" marB="9525" anchor="b" horzOverflow="overflow"/>
                </a:tc>
                <a:tc>
                  <a:txBody>
                    <a:bodyPr/>
                    <a:lstStyle/>
                    <a:p>
                      <a:pPr algn="l">
                        <a:defRPr sz="1800"/>
                      </a:pPr>
                      <a:r>
                        <a:rPr sz="1400">
                          <a:solidFill>
                            <a:srgbClr val="FFFFFF"/>
                          </a:solidFill>
                          <a:sym typeface="Arial"/>
                        </a:rPr>
                        <a:t>Mexican Firing Squad</a:t>
                      </a:r>
                    </a:p>
                  </a:txBody>
                  <a:tcPr marL="9525" marR="9525" marT="9525" marB="9525" anchor="b" horzOverflow="overflow"/>
                </a:tc>
                <a:tc>
                  <a:txBody>
                    <a:bodyPr/>
                    <a:lstStyle/>
                    <a:p>
                      <a:pPr algn="l">
                        <a:defRPr sz="1800"/>
                      </a:pPr>
                      <a:r>
                        <a:rPr sz="1400">
                          <a:solidFill>
                            <a:srgbClr val="FFFFFF"/>
                          </a:solidFill>
                          <a:sym typeface="Arial"/>
                        </a:rPr>
                        <a:t>Patti Smith - Wild Horses, Sinead O’Connor - The Lion and the Cobra, Liz Phair - Exile to Guyville</a:t>
                      </a:r>
                    </a:p>
                  </a:txBody>
                  <a:tcPr marL="9525" marR="9525" marT="9525" marB="9525" anchor="b" horzOverflow="overflow"/>
                </a:tc>
                <a:extLst>
                  <a:ext uri="{0D108BD9-81ED-4DB2-BD59-A6C34878D82A}">
                    <a16:rowId xmlns:a16="http://schemas.microsoft.com/office/drawing/2014/main" val="10008"/>
                  </a:ext>
                </a:extLst>
              </a:tr>
              <a:tr h="370850">
                <a:tc>
                  <a:txBody>
                    <a:bodyPr/>
                    <a:lstStyle/>
                    <a:p>
                      <a:pPr algn="ctr">
                        <a:defRPr sz="1800"/>
                      </a:pPr>
                      <a:r>
                        <a:rPr sz="1400">
                          <a:solidFill>
                            <a:srgbClr val="FFFFFF"/>
                          </a:solidFill>
                          <a:sym typeface="Arial"/>
                        </a:rPr>
                        <a:t>68</a:t>
                      </a:r>
                    </a:p>
                  </a:txBody>
                  <a:tcPr marL="9525" marR="9525" marT="9525" marB="9525" anchor="b" horzOverflow="overflow"/>
                </a:tc>
                <a:tc>
                  <a:txBody>
                    <a:bodyPr/>
                    <a:lstStyle/>
                    <a:p>
                      <a:pPr algn="ctr">
                        <a:defRPr sz="1800"/>
                      </a:pPr>
                      <a:r>
                        <a:rPr sz="1400">
                          <a:solidFill>
                            <a:srgbClr val="FFFFFF"/>
                          </a:solidFill>
                          <a:sym typeface="Arial"/>
                        </a:rPr>
                        <a:t>1/8/2026</a:t>
                      </a:r>
                    </a:p>
                  </a:txBody>
                  <a:tcPr marL="9525" marR="9525" marT="9525" marB="9525" anchor="b" horzOverflow="overflow"/>
                </a:tc>
                <a:tc>
                  <a:txBody>
                    <a:bodyPr/>
                    <a:lstStyle/>
                    <a:p>
                      <a:pPr algn="ctr">
                        <a:defRPr sz="1800"/>
                      </a:pPr>
                      <a:r>
                        <a:rPr sz="1400">
                          <a:solidFill>
                            <a:srgbClr val="FFFFFF"/>
                          </a:solidFill>
                          <a:sym typeface="Arial"/>
                        </a:rPr>
                        <a:t>Adam</a:t>
                      </a:r>
                    </a:p>
                  </a:txBody>
                  <a:tcPr marL="9525" marR="9525" marT="9525" marB="9525" anchor="b" horzOverflow="overflow"/>
                </a:tc>
                <a:tc>
                  <a:txBody>
                    <a:bodyPr/>
                    <a:lstStyle/>
                    <a:p>
                      <a:pPr algn="l">
                        <a:defRPr sz="1800"/>
                      </a:pPr>
                      <a:r>
                        <a:rPr sz="1400">
                          <a:solidFill>
                            <a:srgbClr val="FFFFFF"/>
                          </a:solidFill>
                          <a:sym typeface="Arial"/>
                        </a:rPr>
                        <a:t>C&amp;B Old Fashioned</a:t>
                      </a:r>
                    </a:p>
                  </a:txBody>
                  <a:tcPr marL="9525" marR="9525" marT="9525" marB="9525" anchor="b" horzOverflow="overflow"/>
                </a:tc>
                <a:tc>
                  <a:txBody>
                    <a:bodyPr/>
                    <a:lstStyle/>
                    <a:p>
                      <a:pPr algn="l">
                        <a:defRPr sz="1800"/>
                      </a:pPr>
                      <a:r>
                        <a:rPr sz="1400">
                          <a:solidFill>
                            <a:srgbClr val="FFFFFF"/>
                          </a:solidFill>
                          <a:sym typeface="Arial"/>
                        </a:rPr>
                        <a:t>Boots - AQUΛRIA, Balthazar - Rats, The Temper Trap - Conditions</a:t>
                      </a:r>
                    </a:p>
                  </a:txBody>
                  <a:tcPr marL="9525" marR="9525" marT="9525" marB="9525" anchor="b" horzOverflow="overflow"/>
                </a:tc>
                <a:extLst>
                  <a:ext uri="{0D108BD9-81ED-4DB2-BD59-A6C34878D82A}">
                    <a16:rowId xmlns:a16="http://schemas.microsoft.com/office/drawing/2014/main" val="10009"/>
                  </a:ext>
                </a:extLst>
              </a:tr>
              <a:tr h="370850">
                <a:tc>
                  <a:txBody>
                    <a:bodyPr/>
                    <a:lstStyle/>
                    <a:p>
                      <a:pPr algn="ctr">
                        <a:defRPr sz="1400">
                          <a:solidFill>
                            <a:srgbClr val="FFFFFF"/>
                          </a:solidFill>
                          <a:sym typeface="Arial"/>
                        </a:defRPr>
                      </a:pPr>
                      <a:endParaRPr/>
                    </a:p>
                  </a:txBody>
                  <a:tcPr marL="9525" marR="9525" marT="9525" marB="9525" anchor="b" horzOverflow="overflow"/>
                </a:tc>
                <a:tc>
                  <a:txBody>
                    <a:bodyPr/>
                    <a:lstStyle/>
                    <a:p>
                      <a:pPr algn="ctr">
                        <a:defRPr sz="1400">
                          <a:solidFill>
                            <a:srgbClr val="FFFFFF"/>
                          </a:solidFill>
                          <a:sym typeface="Arial"/>
                        </a:defRPr>
                      </a:pPr>
                      <a:endParaRPr/>
                    </a:p>
                  </a:txBody>
                  <a:tcPr marL="9525" marR="9525" marT="9525" marB="9525" anchor="b" horzOverflow="overflow"/>
                </a:tc>
                <a:tc>
                  <a:txBody>
                    <a:bodyPr/>
                    <a:lstStyle/>
                    <a:p>
                      <a:pPr algn="ctr">
                        <a:defRPr sz="1400">
                          <a:solidFill>
                            <a:srgbClr val="FFFFFF"/>
                          </a:solidFill>
                          <a:sym typeface="Arial"/>
                        </a:defRPr>
                      </a:pPr>
                      <a:endParaRPr/>
                    </a:p>
                  </a:txBody>
                  <a:tcPr marL="9525" marR="9525" marT="9525" marB="9525" anchor="b" horzOverflow="overflow"/>
                </a:tc>
                <a:tc>
                  <a:txBody>
                    <a:bodyPr/>
                    <a:lstStyle/>
                    <a:p>
                      <a:pPr algn="l">
                        <a:defRPr sz="1400">
                          <a:solidFill>
                            <a:srgbClr val="FFFFFF"/>
                          </a:solidFill>
                          <a:sym typeface="Arial"/>
                        </a:defRPr>
                      </a:pPr>
                      <a:endParaRPr/>
                    </a:p>
                  </a:txBody>
                  <a:tcPr marL="9525" marR="9525" marT="9525" marB="9525" anchor="b" horzOverflow="overflow"/>
                </a:tc>
                <a:tc>
                  <a:txBody>
                    <a:bodyPr/>
                    <a:lstStyle/>
                    <a:p>
                      <a:pPr algn="l">
                        <a:defRPr sz="1400">
                          <a:solidFill>
                            <a:srgbClr val="FFFFFF"/>
                          </a:solidFill>
                          <a:sym typeface="Arial"/>
                        </a:defRPr>
                      </a:pPr>
                      <a:endParaRP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Google Shape;289;p58"/>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12" name="Google Shape;290;p58"/>
          <p:cNvGraphicFramePr/>
          <p:nvPr/>
        </p:nvGraphicFramePr>
        <p:xfrm>
          <a:off x="375559" y="946486"/>
          <a:ext cx="11592322" cy="5648836"/>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sz="1600" b="1">
                          <a:solidFill>
                            <a:srgbClr val="EDEDED"/>
                          </a:solidFill>
                          <a:latin typeface="Calibri"/>
                          <a:ea typeface="Calibri"/>
                          <a:cs typeface="Calibri"/>
                          <a:sym typeface="Calibri"/>
                        </a:rPr>
                        <a:t>1/22/15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ctr">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sz="1600" b="1">
                          <a:solidFill>
                            <a:srgbClr val="EDEDED"/>
                          </a:solidFill>
                          <a:latin typeface="Calibri"/>
                          <a:ea typeface="Calibri"/>
                          <a:cs typeface="Calibri"/>
                          <a:sym typeface="Calibri"/>
                        </a:rPr>
                        <a:t>2/26/15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ctr">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sz="1600" b="1">
                          <a:solidFill>
                            <a:srgbClr val="EDEDED"/>
                          </a:solidFill>
                          <a:latin typeface="Calibri"/>
                          <a:ea typeface="Calibri"/>
                          <a:cs typeface="Calibri"/>
                          <a:sym typeface="Calibri"/>
                        </a:rPr>
                        <a:t>3/27/15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ctr">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r>
                        <a:rPr sz="1600" b="1">
                          <a:solidFill>
                            <a:srgbClr val="EDEDED"/>
                          </a:solidFill>
                          <a:latin typeface="Calibri"/>
                          <a:ea typeface="Calibri"/>
                          <a:cs typeface="Calibri"/>
                          <a:sym typeface="Calibri"/>
                        </a:rPr>
                        <a:t>4/23/15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ctr">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r>
                        <a:rPr sz="1600" b="1">
                          <a:solidFill>
                            <a:srgbClr val="EDEDED"/>
                          </a:solidFill>
                          <a:latin typeface="Calibri"/>
                          <a:ea typeface="Calibri"/>
                          <a:cs typeface="Calibri"/>
                          <a:sym typeface="Calibri"/>
                        </a:rPr>
                        <a:t>7/29/15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ctr">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5"/>
                  </a:ext>
                </a:extLst>
              </a:tr>
              <a:tr h="481423">
                <a:tc>
                  <a:txBody>
                    <a:bodyPr/>
                    <a:lstStyle/>
                    <a:p>
                      <a:pPr algn="ctr">
                        <a:defRPr sz="1800"/>
                      </a:pPr>
                      <a:r>
                        <a:rPr sz="1600" b="1">
                          <a:solidFill>
                            <a:srgbClr val="EDEDED"/>
                          </a:solidFill>
                          <a:latin typeface="Calibri"/>
                          <a:ea typeface="Calibri"/>
                          <a:cs typeface="Calibri"/>
                          <a:sym typeface="Calibri"/>
                        </a:rPr>
                        <a:t>11/5/15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ctr">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u="sng">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r>
                        <a:rPr sz="1600" b="1">
                          <a:solidFill>
                            <a:srgbClr val="EDEDED"/>
                          </a:solidFill>
                          <a:latin typeface="Calibri"/>
                          <a:ea typeface="Calibri"/>
                          <a:cs typeface="Calibri"/>
                          <a:sym typeface="Calibri"/>
                        </a:rPr>
                        <a:t>12/17/15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ctr">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1st Presentation deck</a:t>
                      </a:r>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r>
                        <a:rPr sz="1600" b="1">
                          <a:solidFill>
                            <a:srgbClr val="EDEDED"/>
                          </a:solidFill>
                          <a:latin typeface="Calibri"/>
                          <a:ea typeface="Calibri"/>
                          <a:cs typeface="Calibri"/>
                          <a:sym typeface="Calibri"/>
                        </a:rPr>
                        <a:t>1/26/16</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ctr">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r>
                        <a:rPr sz="1600" b="1">
                          <a:solidFill>
                            <a:srgbClr val="EDEDED"/>
                          </a:solidFill>
                          <a:latin typeface="Calibri"/>
                          <a:ea typeface="Calibri"/>
                          <a:cs typeface="Calibri"/>
                          <a:sym typeface="Calibri"/>
                        </a:rPr>
                        <a:t>3/25/16</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ctr">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1st Reference to "Resident Musicologist, Joseph Ziegler report"</a:t>
                      </a:r>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r>
                        <a:rPr sz="1600" b="1">
                          <a:solidFill>
                            <a:srgbClr val="EDEDED"/>
                          </a:solidFill>
                          <a:latin typeface="Calibri"/>
                          <a:ea typeface="Calibri"/>
                          <a:cs typeface="Calibri"/>
                          <a:sym typeface="Calibri"/>
                        </a:rPr>
                        <a:t>5/25/16</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ctr">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2nd Reference to "Resident Musicologist…"</a:t>
                      </a: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Google Shape;289;p58"/>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15" name="Google Shape;290;p58"/>
          <p:cNvGraphicFramePr/>
          <p:nvPr/>
        </p:nvGraphicFramePr>
        <p:xfrm>
          <a:off x="375559" y="946486"/>
          <a:ext cx="11592322" cy="5648836"/>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sz="1600" b="1">
                          <a:solidFill>
                            <a:srgbClr val="EDEDED"/>
                          </a:solidFill>
                          <a:latin typeface="Calibri"/>
                          <a:ea typeface="Calibri"/>
                          <a:cs typeface="Calibri"/>
                          <a:sym typeface="Calibri"/>
                        </a:rPr>
                        <a:t>8/10/16</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Resident Musicologist Report reference</a:t>
                      </a: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sz="1600" b="1">
                          <a:solidFill>
                            <a:srgbClr val="EDEDED"/>
                          </a:solidFill>
                          <a:latin typeface="Calibri"/>
                          <a:ea typeface="Calibri"/>
                          <a:cs typeface="Calibri"/>
                          <a:sym typeface="Calibri"/>
                        </a:rPr>
                        <a:t>9/29/16</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Musicians Moving On</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sz="1600" b="1">
                          <a:solidFill>
                            <a:srgbClr val="EDEDED"/>
                          </a:solidFill>
                          <a:latin typeface="Calibri"/>
                          <a:ea typeface="Calibri"/>
                          <a:cs typeface="Calibri"/>
                          <a:sym typeface="Calibri"/>
                        </a:rPr>
                        <a:t>12/8/16</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JZ Has the Floor</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r>
                        <a:rPr sz="1600" b="1">
                          <a:solidFill>
                            <a:srgbClr val="EDEDED"/>
                          </a:solidFill>
                          <a:latin typeface="Calibri"/>
                          <a:ea typeface="Calibri"/>
                          <a:cs typeface="Calibri"/>
                          <a:sym typeface="Calibri"/>
                        </a:rPr>
                        <a:t>1/26/17</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The Philadelphia Sound</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r>
                        <a:rPr sz="1600" b="1">
                          <a:solidFill>
                            <a:srgbClr val="EDEDED"/>
                          </a:solidFill>
                          <a:latin typeface="Calibri"/>
                          <a:ea typeface="Calibri"/>
                          <a:cs typeface="Calibri"/>
                          <a:sym typeface="Calibri"/>
                        </a:rPr>
                        <a:t>3/9/17</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Black Sabbath</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5"/>
                  </a:ext>
                </a:extLst>
              </a:tr>
              <a:tr h="481423">
                <a:tc>
                  <a:txBody>
                    <a:bodyPr/>
                    <a:lstStyle/>
                    <a:p>
                      <a:pPr algn="ctr">
                        <a:defRPr sz="1800"/>
                      </a:pPr>
                      <a:r>
                        <a:rPr sz="1600" b="1">
                          <a:solidFill>
                            <a:srgbClr val="EDEDED"/>
                          </a:solidFill>
                          <a:latin typeface="Calibri"/>
                          <a:ea typeface="Calibri"/>
                          <a:cs typeface="Calibri"/>
                          <a:sym typeface="Calibri"/>
                        </a:rPr>
                        <a:t>5/4/17</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Beatles or Stones?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r>
                        <a:rPr sz="1600" b="1">
                          <a:solidFill>
                            <a:srgbClr val="EDEDED"/>
                          </a:solidFill>
                          <a:latin typeface="Calibri"/>
                          <a:ea typeface="Calibri"/>
                          <a:cs typeface="Calibri"/>
                          <a:sym typeface="Calibri"/>
                        </a:rPr>
                        <a:t>8/10/17</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Bill Graham</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r>
                        <a:rPr sz="1600" b="1">
                          <a:solidFill>
                            <a:srgbClr val="EDEDED"/>
                          </a:solidFill>
                          <a:latin typeface="Calibri"/>
                          <a:ea typeface="Calibri"/>
                          <a:cs typeface="Calibri"/>
                          <a:sym typeface="Calibri"/>
                        </a:rPr>
                        <a:t>9/14/17</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Glyn Johns Engineer, Producer, Mixer</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r>
                        <a:rPr sz="1600" b="1">
                          <a:solidFill>
                            <a:srgbClr val="EDEDED"/>
                          </a:solidFill>
                          <a:latin typeface="Calibri"/>
                          <a:ea typeface="Calibri"/>
                          <a:cs typeface="Calibri"/>
                          <a:sym typeface="Calibri"/>
                        </a:rPr>
                        <a:t>10/26/17</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Behind the kit - 1971</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r>
                        <a:rPr sz="1600" b="1">
                          <a:solidFill>
                            <a:srgbClr val="EDEDED"/>
                          </a:solidFill>
                          <a:latin typeface="Calibri"/>
                          <a:ea typeface="Calibri"/>
                          <a:cs typeface="Calibri"/>
                          <a:sym typeface="Calibri"/>
                        </a:rPr>
                        <a:t>1/25/18</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Emotional Response to Music</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Google Shape;289;p58"/>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18" name="Google Shape;290;p58"/>
          <p:cNvGraphicFramePr/>
          <p:nvPr/>
        </p:nvGraphicFramePr>
        <p:xfrm>
          <a:off x="375559" y="946486"/>
          <a:ext cx="11592322" cy="5699450"/>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sz="1600" b="1">
                          <a:solidFill>
                            <a:srgbClr val="EDEDED"/>
                          </a:solidFill>
                          <a:latin typeface="Calibri"/>
                          <a:ea typeface="Calibri"/>
                          <a:cs typeface="Calibri"/>
                          <a:sym typeface="Calibri"/>
                        </a:rPr>
                        <a:t>3/8/18</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Eric</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Disco deserves 10 minutes of our time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sz="1600" b="1">
                          <a:solidFill>
                            <a:srgbClr val="EDEDED"/>
                          </a:solidFill>
                          <a:latin typeface="Calibri"/>
                          <a:ea typeface="Calibri"/>
                          <a:cs typeface="Calibri"/>
                          <a:sym typeface="Calibri"/>
                        </a:rPr>
                        <a:t>5/10/18</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The shame of the rock &amp; roll hall of fame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sz="1600" b="1">
                          <a:solidFill>
                            <a:srgbClr val="EDEDED"/>
                          </a:solidFill>
                          <a:latin typeface="Calibri"/>
                          <a:ea typeface="Calibri"/>
                          <a:cs typeface="Calibri"/>
                          <a:sym typeface="Calibri"/>
                        </a:rPr>
                        <a:t>8/8/18</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Pick one timeless song</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r>
                        <a:rPr sz="1600" b="1">
                          <a:solidFill>
                            <a:srgbClr val="EDEDED"/>
                          </a:solidFill>
                          <a:latin typeface="Calibri"/>
                          <a:ea typeface="Calibri"/>
                          <a:cs typeface="Calibri"/>
                          <a:sym typeface="Calibri"/>
                        </a:rPr>
                        <a:t>11/1/18</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AC/DC How fucked up IS this band?</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r>
                        <a:rPr sz="1600" b="1">
                          <a:solidFill>
                            <a:srgbClr val="EDEDED"/>
                          </a:solidFill>
                          <a:latin typeface="Calibri"/>
                          <a:ea typeface="Calibri"/>
                          <a:cs typeface="Calibri"/>
                          <a:sym typeface="Calibri"/>
                        </a:rPr>
                        <a:t>1/24/19</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Number 1 song the day you were born</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5"/>
                  </a:ext>
                </a:extLst>
              </a:tr>
              <a:tr h="481423">
                <a:tc>
                  <a:txBody>
                    <a:bodyPr/>
                    <a:lstStyle/>
                    <a:p>
                      <a:pPr algn="ctr">
                        <a:defRPr sz="1800"/>
                      </a:pPr>
                      <a:r>
                        <a:rPr sz="1600" b="1">
                          <a:solidFill>
                            <a:srgbClr val="EDEDED"/>
                          </a:solidFill>
                          <a:latin typeface="Calibri"/>
                          <a:ea typeface="Calibri"/>
                          <a:cs typeface="Calibri"/>
                          <a:sym typeface="Calibri"/>
                        </a:rPr>
                        <a:t>3/7/19</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How music affects the brain</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r>
                        <a:rPr sz="1600" b="1">
                          <a:solidFill>
                            <a:srgbClr val="EDEDED"/>
                          </a:solidFill>
                          <a:latin typeface="Calibri"/>
                          <a:ea typeface="Calibri"/>
                          <a:cs typeface="Calibri"/>
                          <a:sym typeface="Calibri"/>
                        </a:rPr>
                        <a:t>5/2/19</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Eric</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Sex, drugs, and Rock &amp; Roll - Where did the phrase come from … beyond the obvious?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r>
                        <a:rPr sz="1600" b="1">
                          <a:solidFill>
                            <a:srgbClr val="EDEDED"/>
                          </a:solidFill>
                          <a:latin typeface="Calibri"/>
                          <a:ea typeface="Calibri"/>
                          <a:cs typeface="Calibri"/>
                          <a:sym typeface="Calibri"/>
                        </a:rPr>
                        <a:t>9/5/19</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Someone stole my song! Plagerism in Rock &amp; Roll</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r>
                        <a:rPr sz="1600" b="1">
                          <a:solidFill>
                            <a:srgbClr val="EDEDED"/>
                          </a:solidFill>
                          <a:latin typeface="Calibri"/>
                          <a:ea typeface="Calibri"/>
                          <a:cs typeface="Calibri"/>
                          <a:sym typeface="Calibri"/>
                        </a:rPr>
                        <a:t>10/17/19</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Contract riders - Excess and entitlement in Rock &amp; Roll</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r>
                        <a:rPr sz="1600" b="1">
                          <a:solidFill>
                            <a:srgbClr val="EDEDED"/>
                          </a:solidFill>
                          <a:latin typeface="Calibri"/>
                          <a:ea typeface="Calibri"/>
                          <a:cs typeface="Calibri"/>
                          <a:sym typeface="Calibri"/>
                        </a:rPr>
                        <a:t>1/23/20</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Groupies! Ah… the ladies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Google Shape;289;p58"/>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21" name="Google Shape;290;p58"/>
          <p:cNvGraphicFramePr/>
          <p:nvPr/>
        </p:nvGraphicFramePr>
        <p:xfrm>
          <a:off x="375559" y="946486"/>
          <a:ext cx="11592322" cy="5724757"/>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sz="1600" b="1">
                          <a:solidFill>
                            <a:srgbClr val="EDEDED"/>
                          </a:solidFill>
                          <a:latin typeface="Calibri"/>
                          <a:ea typeface="Calibri"/>
                          <a:cs typeface="Calibri"/>
                          <a:sym typeface="Calibri"/>
                        </a:rPr>
                        <a:t>6/11/20</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***Musicology was tabled until the next meeting</a:t>
                      </a: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sz="1600" b="1">
                          <a:solidFill>
                            <a:srgbClr val="EDEDED"/>
                          </a:solidFill>
                          <a:latin typeface="Calibri"/>
                          <a:ea typeface="Calibri"/>
                          <a:cs typeface="Calibri"/>
                          <a:sym typeface="Calibri"/>
                        </a:rPr>
                        <a:t>9/24/20</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Ployrythms and Polymeters - At the risk of being fired as a Musicologist…</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sz="1600" b="1">
                          <a:solidFill>
                            <a:srgbClr val="EDEDED"/>
                          </a:solidFill>
                          <a:latin typeface="Calibri"/>
                          <a:ea typeface="Calibri"/>
                          <a:cs typeface="Calibri"/>
                          <a:sym typeface="Calibri"/>
                        </a:rPr>
                        <a:t>11/19/20</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Eric</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r>
                        <a:t>***unclear what topic was covered</a:t>
                      </a: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r>
                        <a:rPr sz="1600" b="1">
                          <a:solidFill>
                            <a:srgbClr val="EDEDED"/>
                          </a:solidFill>
                          <a:latin typeface="Calibri"/>
                          <a:ea typeface="Calibri"/>
                          <a:cs typeface="Calibri"/>
                          <a:sym typeface="Calibri"/>
                        </a:rPr>
                        <a:t>3/11/21</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Hilarious Band Names - Weevie Stonder</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r>
                        <a:rPr sz="1600" b="1">
                          <a:solidFill>
                            <a:srgbClr val="EDEDED"/>
                          </a:solidFill>
                          <a:latin typeface="Calibri"/>
                          <a:ea typeface="Calibri"/>
                          <a:cs typeface="Calibri"/>
                          <a:sym typeface="Calibri"/>
                        </a:rPr>
                        <a:t>5/13/21</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gridSpan="2">
                  <a:txBody>
                    <a:bodyPr/>
                    <a:lstStyle/>
                    <a:p>
                      <a:pPr algn="l">
                        <a:defRPr sz="1800"/>
                      </a:pPr>
                      <a:r>
                        <a:rPr sz="1600" b="1">
                          <a:solidFill>
                            <a:srgbClr val="EDEDED"/>
                          </a:solidFill>
                          <a:latin typeface="Calibri"/>
                          <a:ea typeface="Calibri"/>
                          <a:cs typeface="Calibri"/>
                          <a:sym typeface="Calibri"/>
                        </a:rPr>
                        <a:t>Who Would You Pick? If you could see one show/performance of a person or band that is dead or broken up, who and why?</a:t>
                      </a:r>
                    </a:p>
                  </a:txBody>
                  <a:tcPr marL="9525" marR="9525" marT="9525" marB="9525" anchor="b" horzOverflow="overflow"/>
                </a:tc>
                <a:tc hMerge="1">
                  <a:txBody>
                    <a:bodyPr/>
                    <a:lstStyle/>
                    <a:p>
                      <a:endParaRPr lang="en-US"/>
                    </a:p>
                  </a:txBody>
                  <a:tcPr/>
                </a:tc>
                <a:extLst>
                  <a:ext uri="{0D108BD9-81ED-4DB2-BD59-A6C34878D82A}">
                    <a16:rowId xmlns:a16="http://schemas.microsoft.com/office/drawing/2014/main" val="10005"/>
                  </a:ext>
                </a:extLst>
              </a:tr>
              <a:tr h="481423">
                <a:tc>
                  <a:txBody>
                    <a:bodyPr/>
                    <a:lstStyle/>
                    <a:p>
                      <a:pPr algn="ctr">
                        <a:defRPr sz="1800"/>
                      </a:pPr>
                      <a:r>
                        <a:rPr sz="1600" b="1">
                          <a:solidFill>
                            <a:srgbClr val="EDEDED"/>
                          </a:solidFill>
                          <a:latin typeface="Calibri"/>
                          <a:ea typeface="Calibri"/>
                          <a:cs typeface="Calibri"/>
                          <a:sym typeface="Calibri"/>
                        </a:rPr>
                        <a:t>6/10/21</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Time Signature - it's fucking hard</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r>
                        <a:rPr sz="1600" b="1">
                          <a:solidFill>
                            <a:srgbClr val="EDEDED"/>
                          </a:solidFill>
                          <a:latin typeface="Calibri"/>
                          <a:ea typeface="Calibri"/>
                          <a:cs typeface="Calibri"/>
                          <a:sym typeface="Calibri"/>
                        </a:rPr>
                        <a:t>9/7/21</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Eric</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Breaking Music in television</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r>
                        <a:rPr sz="1600" b="1">
                          <a:solidFill>
                            <a:srgbClr val="EDEDED"/>
                          </a:solidFill>
                          <a:latin typeface="Calibri"/>
                          <a:ea typeface="Calibri"/>
                          <a:cs typeface="Calibri"/>
                          <a:sym typeface="Calibri"/>
                        </a:rPr>
                        <a:t>11/23/21</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Famous musicians from Toledo OH</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r>
                        <a:rPr sz="1600" b="1">
                          <a:solidFill>
                            <a:srgbClr val="EDEDED"/>
                          </a:solidFill>
                          <a:latin typeface="Calibri"/>
                          <a:ea typeface="Calibri"/>
                          <a:cs typeface="Calibri"/>
                          <a:sym typeface="Calibri"/>
                        </a:rPr>
                        <a:t>4/14/22</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RIP Michael Lang - Woodstock 1969</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r>
                        <a:rPr sz="1600" b="1">
                          <a:solidFill>
                            <a:srgbClr val="EDEDED"/>
                          </a:solidFill>
                          <a:latin typeface="Calibri"/>
                          <a:ea typeface="Calibri"/>
                          <a:cs typeface="Calibri"/>
                          <a:sym typeface="Calibri"/>
                        </a:rPr>
                        <a:t>6/9/22</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Glen Campbell</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Google Shape;289;p58"/>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24" name="Google Shape;290;p58"/>
          <p:cNvGraphicFramePr/>
          <p:nvPr/>
        </p:nvGraphicFramePr>
        <p:xfrm>
          <a:off x="375559" y="946486"/>
          <a:ext cx="11592322" cy="5674143"/>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sz="1600" b="1">
                          <a:solidFill>
                            <a:srgbClr val="EDEDED"/>
                          </a:solidFill>
                          <a:latin typeface="Calibri"/>
                          <a:ea typeface="Calibri"/>
                          <a:cs typeface="Calibri"/>
                          <a:sym typeface="Calibri"/>
                        </a:rPr>
                        <a:t>11/17/22</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Akron Porch Rocker!</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sz="1600" b="1">
                          <a:solidFill>
                            <a:srgbClr val="EDEDED"/>
                          </a:solidFill>
                          <a:latin typeface="Calibri"/>
                          <a:ea typeface="Calibri"/>
                          <a:cs typeface="Calibri"/>
                          <a:sym typeface="Calibri"/>
                        </a:rPr>
                        <a:t>1/12/23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Albums of the year</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sz="1600" b="1">
                          <a:solidFill>
                            <a:srgbClr val="EDEDED"/>
                          </a:solidFill>
                          <a:latin typeface="Calibri"/>
                          <a:ea typeface="Calibri"/>
                          <a:cs typeface="Calibri"/>
                          <a:sym typeface="Calibri"/>
                        </a:rPr>
                        <a:t>3/9/23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Top Selling albums all time!</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r>
                        <a:rPr sz="1600" b="1">
                          <a:solidFill>
                            <a:srgbClr val="EDEDED"/>
                          </a:solidFill>
                          <a:latin typeface="Calibri"/>
                          <a:ea typeface="Calibri"/>
                          <a:cs typeface="Calibri"/>
                          <a:sym typeface="Calibri"/>
                        </a:rPr>
                        <a:t>4/20/23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Who got paid WHAT? At Woodstock 1969</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r>
                        <a:rPr sz="1600" b="1">
                          <a:solidFill>
                            <a:srgbClr val="EDEDED"/>
                          </a:solidFill>
                          <a:latin typeface="Calibri"/>
                          <a:ea typeface="Calibri"/>
                          <a:cs typeface="Calibri"/>
                          <a:sym typeface="Calibri"/>
                        </a:rPr>
                        <a:t>6/8/23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Eric</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Stevie Moore - The Godfather of home recording</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5"/>
                  </a:ext>
                </a:extLst>
              </a:tr>
              <a:tr h="481423">
                <a:tc>
                  <a:txBody>
                    <a:bodyPr/>
                    <a:lstStyle/>
                    <a:p>
                      <a:pPr algn="ctr">
                        <a:defRPr sz="1800"/>
                      </a:pPr>
                      <a:r>
                        <a:rPr sz="1600" b="1">
                          <a:solidFill>
                            <a:srgbClr val="EDEDED"/>
                          </a:solidFill>
                          <a:latin typeface="Calibri"/>
                          <a:ea typeface="Calibri"/>
                          <a:cs typeface="Calibri"/>
                          <a:sym typeface="Calibri"/>
                        </a:rPr>
                        <a:t>7/13/23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Now famous backup singers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r>
                        <a:rPr sz="1600" b="1">
                          <a:solidFill>
                            <a:srgbClr val="EDEDED"/>
                          </a:solidFill>
                          <a:latin typeface="Calibri"/>
                          <a:ea typeface="Calibri"/>
                          <a:cs typeface="Calibri"/>
                          <a:sym typeface="Calibri"/>
                        </a:rPr>
                        <a:t>9/21/23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Repeated lines in songs </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r>
                        <a:rPr sz="1600" b="1">
                          <a:solidFill>
                            <a:srgbClr val="EDEDED"/>
                          </a:solidFill>
                          <a:latin typeface="Calibri"/>
                          <a:ea typeface="Calibri"/>
                          <a:cs typeface="Calibri"/>
                          <a:sym typeface="Calibri"/>
                        </a:rPr>
                        <a:t>10/19/23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Musical heroes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r>
                        <a:rPr sz="1600" b="1">
                          <a:solidFill>
                            <a:srgbClr val="EDEDED"/>
                          </a:solidFill>
                          <a:latin typeface="Calibri"/>
                          <a:ea typeface="Calibri"/>
                          <a:cs typeface="Calibri"/>
                          <a:sym typeface="Calibri"/>
                        </a:rPr>
                        <a:t>11/9/23</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The Band</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r>
                        <a:rPr sz="1600" b="1">
                          <a:solidFill>
                            <a:srgbClr val="EDEDED"/>
                          </a:solidFill>
                          <a:latin typeface="Calibri"/>
                          <a:ea typeface="Calibri"/>
                          <a:cs typeface="Calibri"/>
                          <a:sym typeface="Calibri"/>
                        </a:rPr>
                        <a:t>1/10/24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Movie Night! - The Last Waltz</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Google Shape;289;p58"/>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27" name="Google Shape;290;p58"/>
          <p:cNvGraphicFramePr/>
          <p:nvPr/>
        </p:nvGraphicFramePr>
        <p:xfrm>
          <a:off x="375559" y="946486"/>
          <a:ext cx="11592322" cy="5699450"/>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sz="1600" b="1">
                          <a:solidFill>
                            <a:srgbClr val="EDEDED"/>
                          </a:solidFill>
                          <a:latin typeface="Calibri"/>
                          <a:ea typeface="Calibri"/>
                          <a:cs typeface="Calibri"/>
                          <a:sym typeface="Calibri"/>
                        </a:rPr>
                        <a:t>3/14/24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Eric</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Where did Rock come from?</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sz="1600" b="1">
                          <a:solidFill>
                            <a:srgbClr val="EDEDED"/>
                          </a:solidFill>
                          <a:latin typeface="Calibri"/>
                          <a:ea typeface="Calibri"/>
                          <a:cs typeface="Calibri"/>
                          <a:sym typeface="Calibri"/>
                        </a:rPr>
                        <a:t>4/11/24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***No musicology conducted - Changing of the arms</a:t>
                      </a: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sz="1600" b="1">
                          <a:solidFill>
                            <a:srgbClr val="EDEDED"/>
                          </a:solidFill>
                          <a:latin typeface="Calibri"/>
                          <a:ea typeface="Calibri"/>
                          <a:cs typeface="Calibri"/>
                          <a:sym typeface="Calibri"/>
                        </a:rPr>
                        <a:t>5/9/24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1994 – The Pinnacle of Alternative Rock?</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r>
                        <a:rPr sz="1600" b="1">
                          <a:solidFill>
                            <a:srgbClr val="EDEDED"/>
                          </a:solidFill>
                          <a:latin typeface="Calibri"/>
                          <a:ea typeface="Calibri"/>
                          <a:cs typeface="Calibri"/>
                          <a:sym typeface="Calibri"/>
                        </a:rPr>
                        <a:t>9/12/24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The Krautrock Influence on music in the 1970s and beyond</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r>
                        <a:rPr sz="1600" b="1">
                          <a:solidFill>
                            <a:srgbClr val="EDEDED"/>
                          </a:solidFill>
                          <a:latin typeface="Calibri"/>
                          <a:ea typeface="Calibri"/>
                          <a:cs typeface="Calibri"/>
                          <a:sym typeface="Calibri"/>
                        </a:rPr>
                        <a:t>10/10/24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Frontman</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5"/>
                  </a:ext>
                </a:extLst>
              </a:tr>
              <a:tr h="481423">
                <a:tc>
                  <a:txBody>
                    <a:bodyPr/>
                    <a:lstStyle/>
                    <a:p>
                      <a:pPr algn="ctr">
                        <a:defRPr sz="1800"/>
                      </a:pPr>
                      <a:r>
                        <a:rPr sz="1600" b="1">
                          <a:solidFill>
                            <a:srgbClr val="EDEDED"/>
                          </a:solidFill>
                          <a:latin typeface="Calibri"/>
                          <a:ea typeface="Calibri"/>
                          <a:cs typeface="Calibri"/>
                          <a:sym typeface="Calibri"/>
                        </a:rPr>
                        <a:t>11/21/24</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Quincy Jones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r>
                        <a:rPr sz="1600" b="1">
                          <a:solidFill>
                            <a:srgbClr val="EDEDED"/>
                          </a:solidFill>
                          <a:latin typeface="Calibri"/>
                          <a:ea typeface="Calibri"/>
                          <a:cs typeface="Calibri"/>
                          <a:sym typeface="Calibri"/>
                        </a:rPr>
                        <a:t>1/9/25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John</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Top 5 analysis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r>
                        <a:rPr sz="1600" b="1">
                          <a:solidFill>
                            <a:srgbClr val="EDEDED"/>
                          </a:solidFill>
                          <a:latin typeface="Calibri"/>
                          <a:ea typeface="Calibri"/>
                          <a:cs typeface="Calibri"/>
                          <a:sym typeface="Calibri"/>
                        </a:rPr>
                        <a:t>3/13/25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Adam</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David Bowie’s Berlin Trilogy</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r>
                        <a:rPr sz="1600" b="1">
                          <a:solidFill>
                            <a:srgbClr val="EDEDED"/>
                          </a:solidFill>
                          <a:latin typeface="Calibri"/>
                          <a:ea typeface="Calibri"/>
                          <a:cs typeface="Calibri"/>
                          <a:sym typeface="Calibri"/>
                        </a:rPr>
                        <a:t>5/22/25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Lucas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The Significance of CBGB’s to Punk, Alt, etc.</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r>
                        <a:rPr sz="1600" b="1">
                          <a:solidFill>
                            <a:srgbClr val="EDEDED"/>
                          </a:solidFill>
                          <a:latin typeface="Calibri"/>
                          <a:ea typeface="Calibri"/>
                          <a:cs typeface="Calibri"/>
                          <a:sym typeface="Calibri"/>
                        </a:rPr>
                        <a:t>6/12/25</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 </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Chris</a:t>
                      </a: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The Legendary Brian Wilson &amp; the Pioneering sounds of the Beach Boys</a:t>
                      </a: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10"/>
                  </a:ext>
                </a:extLst>
              </a:tr>
            </a:tbl>
          </a:graphicData>
        </a:graphic>
      </p:graphicFrame>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C6D89-CBF3-C356-F9D9-E8E6FFDB6EF0}"/>
            </a:ext>
          </a:extLst>
        </p:cNvPr>
        <p:cNvGrpSpPr/>
        <p:nvPr/>
      </p:nvGrpSpPr>
      <p:grpSpPr>
        <a:xfrm>
          <a:off x="0" y="0"/>
          <a:ext cx="0" cy="0"/>
          <a:chOff x="0" y="0"/>
          <a:chExt cx="0" cy="0"/>
        </a:xfrm>
      </p:grpSpPr>
      <p:sp>
        <p:nvSpPr>
          <p:cNvPr id="326" name="Google Shape;289;p58">
            <a:extLst>
              <a:ext uri="{FF2B5EF4-FFF2-40B4-BE49-F238E27FC236}">
                <a16:creationId xmlns:a16="http://schemas.microsoft.com/office/drawing/2014/main" id="{B2DAC6D3-F7AC-1696-71D2-937345652FBD}"/>
              </a:ext>
            </a:extLst>
          </p:cNvPr>
          <p:cNvSpPr txBox="1">
            <a:spLocks noGrp="1"/>
          </p:cNvSpPr>
          <p:nvPr>
            <p:ph type="title"/>
          </p:nvPr>
        </p:nvSpPr>
        <p:spPr>
          <a:xfrm>
            <a:off x="2715358" y="151232"/>
            <a:ext cx="8611559" cy="795255"/>
          </a:xfrm>
          <a:prstGeom prst="rect">
            <a:avLst/>
          </a:prstGeom>
        </p:spPr>
        <p:txBody>
          <a:bodyPr/>
          <a:lstStyle/>
          <a:p>
            <a:r>
              <a:t>MUSICOLOGY HISTORY</a:t>
            </a:r>
          </a:p>
        </p:txBody>
      </p:sp>
      <p:graphicFrame>
        <p:nvGraphicFramePr>
          <p:cNvPr id="327" name="Google Shape;290;p58">
            <a:extLst>
              <a:ext uri="{FF2B5EF4-FFF2-40B4-BE49-F238E27FC236}">
                <a16:creationId xmlns:a16="http://schemas.microsoft.com/office/drawing/2014/main" id="{B131A7F6-1060-E8FF-9C07-4D78009DD8E0}"/>
              </a:ext>
            </a:extLst>
          </p:cNvPr>
          <p:cNvGraphicFramePr/>
          <p:nvPr>
            <p:extLst>
              <p:ext uri="{D42A27DB-BD31-4B8C-83A1-F6EECF244321}">
                <p14:modId xmlns:p14="http://schemas.microsoft.com/office/powerpoint/2010/main" val="20015325"/>
              </p:ext>
            </p:extLst>
          </p:nvPr>
        </p:nvGraphicFramePr>
        <p:xfrm>
          <a:off x="375559" y="946486"/>
          <a:ext cx="11592322" cy="5648836"/>
        </p:xfrm>
        <a:graphic>
          <a:graphicData uri="http://schemas.openxmlformats.org/drawingml/2006/table">
            <a:tbl>
              <a:tblPr firstRow="1" bandRow="1">
                <a:tableStyleId>{4C3C2611-4C71-4FC5-86AE-919BDF0F9419}</a:tableStyleId>
              </a:tblPr>
              <a:tblGrid>
                <a:gridCol w="144427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052649">
                  <a:extLst>
                    <a:ext uri="{9D8B030D-6E8A-4147-A177-3AD203B41FA5}">
                      <a16:colId xmlns:a16="http://schemas.microsoft.com/office/drawing/2014/main" val="20002"/>
                    </a:ext>
                  </a:extLst>
                </a:gridCol>
                <a:gridCol w="3770363">
                  <a:extLst>
                    <a:ext uri="{9D8B030D-6E8A-4147-A177-3AD203B41FA5}">
                      <a16:colId xmlns:a16="http://schemas.microsoft.com/office/drawing/2014/main" val="20003"/>
                    </a:ext>
                  </a:extLst>
                </a:gridCol>
                <a:gridCol w="4105835">
                  <a:extLst>
                    <a:ext uri="{9D8B030D-6E8A-4147-A177-3AD203B41FA5}">
                      <a16:colId xmlns:a16="http://schemas.microsoft.com/office/drawing/2014/main" val="20004"/>
                    </a:ext>
                  </a:extLst>
                </a:gridCol>
              </a:tblGrid>
              <a:tr h="481423">
                <a:tc>
                  <a:txBody>
                    <a:bodyPr/>
                    <a:lstStyle/>
                    <a:p>
                      <a:pPr algn="l">
                        <a:defRPr sz="1800" b="0">
                          <a:solidFill>
                            <a:srgbClr val="000000"/>
                          </a:solidFill>
                        </a:defRPr>
                      </a:pPr>
                      <a:r>
                        <a:rPr b="1">
                          <a:solidFill>
                            <a:srgbClr val="FFFFFF"/>
                          </a:solidFill>
                          <a:sym typeface="Arial"/>
                        </a:rPr>
                        <a:t>Date</a:t>
                      </a:r>
                    </a:p>
                  </a:txBody>
                  <a:tcPr marL="45725" marR="45725" marT="45725" marB="45725" horzOverflow="overflow">
                    <a:lnL>
                      <a:solidFill>
                        <a:schemeClr val="accent1"/>
                      </a:solidFill>
                    </a:lnL>
                  </a:tcPr>
                </a:tc>
                <a:tc>
                  <a:txBody>
                    <a:bodyPr/>
                    <a:lstStyle/>
                    <a:p>
                      <a:pPr algn="l">
                        <a:defRPr sz="1800" b="0">
                          <a:solidFill>
                            <a:srgbClr val="000000"/>
                          </a:solidFill>
                        </a:defRPr>
                      </a:pPr>
                      <a:r>
                        <a:rPr b="1">
                          <a:solidFill>
                            <a:srgbClr val="FFFFFF"/>
                          </a:solidFill>
                          <a:sym typeface="Arial"/>
                        </a:rPr>
                        <a:t>Host</a:t>
                      </a:r>
                    </a:p>
                  </a:txBody>
                  <a:tcPr marL="45725" marR="45725" marT="45725" marB="45725" horzOverflow="overflow"/>
                </a:tc>
                <a:tc>
                  <a:txBody>
                    <a:bodyPr/>
                    <a:lstStyle/>
                    <a:p>
                      <a:pPr algn="ctr">
                        <a:defRPr sz="1800" b="0">
                          <a:solidFill>
                            <a:srgbClr val="000000"/>
                          </a:solidFill>
                        </a:defRPr>
                      </a:pPr>
                      <a:r>
                        <a:rPr b="1">
                          <a:solidFill>
                            <a:srgbClr val="FFFFFF"/>
                          </a:solidFill>
                          <a:sym typeface="Arial"/>
                        </a:rPr>
                        <a:t>Musicologist</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Topic</a:t>
                      </a:r>
                    </a:p>
                  </a:txBody>
                  <a:tcPr marL="45725" marR="45725" marT="45725" marB="45725" horzOverflow="overflow"/>
                </a:tc>
                <a:tc>
                  <a:txBody>
                    <a:bodyPr/>
                    <a:lstStyle/>
                    <a:p>
                      <a:pPr algn="l">
                        <a:defRPr sz="1800" b="0">
                          <a:solidFill>
                            <a:srgbClr val="000000"/>
                          </a:solidFill>
                        </a:defRPr>
                      </a:pPr>
                      <a:r>
                        <a:rPr b="1">
                          <a:solidFill>
                            <a:srgbClr val="FFFFFF"/>
                          </a:solidFill>
                          <a:sym typeface="Arial"/>
                        </a:rPr>
                        <a:t>Notes</a:t>
                      </a:r>
                    </a:p>
                  </a:txBody>
                  <a:tcPr marL="45725" marR="45725" marT="45725" marB="45725" horzOverflow="overflow">
                    <a:lnR>
                      <a:solidFill>
                        <a:schemeClr val="accent1"/>
                      </a:solidFill>
                    </a:lnR>
                  </a:tcPr>
                </a:tc>
                <a:extLst>
                  <a:ext uri="{0D108BD9-81ED-4DB2-BD59-A6C34878D82A}">
                    <a16:rowId xmlns:a16="http://schemas.microsoft.com/office/drawing/2014/main" val="10000"/>
                  </a:ext>
                </a:extLst>
              </a:tr>
              <a:tr h="481423">
                <a:tc>
                  <a:txBody>
                    <a:bodyPr/>
                    <a:lstStyle/>
                    <a:p>
                      <a:pPr algn="ctr">
                        <a:defRPr sz="1800"/>
                      </a:pPr>
                      <a:r>
                        <a:rPr lang="en-US" sz="1600" b="1" dirty="0">
                          <a:solidFill>
                            <a:srgbClr val="EDEDED"/>
                          </a:solidFill>
                          <a:latin typeface="Calibri"/>
                          <a:ea typeface="Calibri"/>
                          <a:cs typeface="Calibri"/>
                          <a:sym typeface="Calibri"/>
                        </a:rPr>
                        <a:t>9</a:t>
                      </a:r>
                      <a:r>
                        <a:rPr sz="1600" b="1" dirty="0">
                          <a:solidFill>
                            <a:srgbClr val="EDEDED"/>
                          </a:solidFill>
                          <a:latin typeface="Calibri"/>
                          <a:ea typeface="Calibri"/>
                          <a:cs typeface="Calibri"/>
                          <a:sym typeface="Calibri"/>
                        </a:rPr>
                        <a:t>/</a:t>
                      </a:r>
                      <a:r>
                        <a:rPr lang="en-US" sz="1600" b="1" dirty="0">
                          <a:solidFill>
                            <a:srgbClr val="EDEDED"/>
                          </a:solidFill>
                          <a:latin typeface="Calibri"/>
                          <a:ea typeface="Calibri"/>
                          <a:cs typeface="Calibri"/>
                          <a:sym typeface="Calibri"/>
                        </a:rPr>
                        <a:t>11</a:t>
                      </a:r>
                      <a:r>
                        <a:rPr sz="1600" b="1" dirty="0">
                          <a:solidFill>
                            <a:srgbClr val="EDEDED"/>
                          </a:solidFill>
                          <a:latin typeface="Calibri"/>
                          <a:ea typeface="Calibri"/>
                          <a:cs typeface="Calibri"/>
                          <a:sym typeface="Calibri"/>
                        </a:rPr>
                        <a:t>/24</a:t>
                      </a:r>
                    </a:p>
                  </a:txBody>
                  <a:tcPr marL="9525" marR="9525" marT="9525" marB="9525" anchor="b" horzOverflow="overflow"/>
                </a:tc>
                <a:tc>
                  <a:txBody>
                    <a:bodyPr/>
                    <a:lstStyle/>
                    <a:p>
                      <a:pPr algn="l">
                        <a:defRPr sz="1800"/>
                      </a:pPr>
                      <a:r>
                        <a:rPr lang="en-US" sz="1600" b="1" dirty="0">
                          <a:solidFill>
                            <a:srgbClr val="EDEDED"/>
                          </a:solidFill>
                          <a:latin typeface="Calibri"/>
                          <a:ea typeface="Calibri"/>
                          <a:cs typeface="Calibri"/>
                          <a:sym typeface="Calibri"/>
                        </a:rPr>
                        <a:t>Joe</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r>
                        <a:rPr sz="1600" b="1">
                          <a:solidFill>
                            <a:srgbClr val="EDEDED"/>
                          </a:solidFill>
                          <a:latin typeface="Calibri"/>
                          <a:ea typeface="Calibri"/>
                          <a:cs typeface="Calibri"/>
                          <a:sym typeface="Calibri"/>
                        </a:rPr>
                        <a:t>Joe</a:t>
                      </a:r>
                    </a:p>
                  </a:txBody>
                  <a:tcPr marL="9525" marR="9525" marT="9525" marB="9525" anchor="b" horzOverflow="overflow"/>
                </a:tc>
                <a:tc>
                  <a:txBody>
                    <a:bodyPr/>
                    <a:lstStyle/>
                    <a:p>
                      <a:pPr algn="l">
                        <a:defRPr sz="1800"/>
                      </a:pPr>
                      <a:r>
                        <a:rPr lang="en-US" sz="1600" b="1" dirty="0">
                          <a:solidFill>
                            <a:srgbClr val="EDEDED"/>
                          </a:solidFill>
                          <a:latin typeface="Calibri"/>
                          <a:ea typeface="Calibri"/>
                          <a:cs typeface="Calibri"/>
                          <a:sym typeface="Calibri"/>
                        </a:rPr>
                        <a:t>Working for the Mob</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1"/>
                  </a:ext>
                </a:extLst>
              </a:tr>
              <a:tr h="481423">
                <a:tc>
                  <a:txBody>
                    <a:bodyPr/>
                    <a:lstStyle/>
                    <a:p>
                      <a:pPr algn="ctr">
                        <a:defRPr sz="1800"/>
                      </a:pPr>
                      <a:r>
                        <a:rPr lang="en-US" sz="1600" b="1" dirty="0">
                          <a:solidFill>
                            <a:srgbClr val="EDEDED"/>
                          </a:solidFill>
                          <a:latin typeface="Calibri"/>
                          <a:ea typeface="Calibri"/>
                          <a:cs typeface="Calibri"/>
                          <a:sym typeface="Calibri"/>
                        </a:rPr>
                        <a:t>11/13/24</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r>
                        <a:rPr lang="en-US" sz="1600" b="1" dirty="0">
                          <a:solidFill>
                            <a:srgbClr val="EDEDED"/>
                          </a:solidFill>
                          <a:latin typeface="Calibri"/>
                          <a:ea typeface="Calibri"/>
                          <a:cs typeface="Calibri"/>
                          <a:sym typeface="Calibri"/>
                        </a:rPr>
                        <a:t>John</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r>
                        <a:rPr lang="en-US" dirty="0"/>
                        <a:t>Joe</a:t>
                      </a:r>
                      <a:endParaRPr dirty="0"/>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r>
                        <a:rPr lang="en-US" dirty="0"/>
                        <a:t>Paul McCartney</a:t>
                      </a:r>
                      <a:endParaRPr dirty="0"/>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extLst>
                  <a:ext uri="{0D108BD9-81ED-4DB2-BD59-A6C34878D82A}">
                    <a16:rowId xmlns:a16="http://schemas.microsoft.com/office/drawing/2014/main" val="10002"/>
                  </a:ext>
                </a:extLst>
              </a:tr>
              <a:tr h="481423">
                <a:tc>
                  <a:txBody>
                    <a:bodyPr/>
                    <a:lstStyle/>
                    <a:p>
                      <a:pPr algn="ctr">
                        <a:defRPr sz="1800"/>
                      </a:pPr>
                      <a:r>
                        <a:rPr lang="en-US" sz="1600" b="1" dirty="0">
                          <a:solidFill>
                            <a:srgbClr val="EDEDED"/>
                          </a:solidFill>
                          <a:latin typeface="Calibri"/>
                          <a:ea typeface="Calibri"/>
                          <a:cs typeface="Calibri"/>
                          <a:sym typeface="Calibri"/>
                        </a:rPr>
                        <a:t>1/8/26</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r>
                        <a:rPr lang="en-US" sz="1600" b="1" dirty="0">
                          <a:solidFill>
                            <a:srgbClr val="EDEDED"/>
                          </a:solidFill>
                          <a:latin typeface="Calibri"/>
                          <a:ea typeface="Calibri"/>
                          <a:cs typeface="Calibri"/>
                          <a:sym typeface="Calibri"/>
                        </a:rPr>
                        <a:t>Adam</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r>
                        <a:rPr lang="en-US" sz="1600" b="1" dirty="0">
                          <a:solidFill>
                            <a:srgbClr val="EDEDED"/>
                          </a:solidFill>
                          <a:latin typeface="Calibri"/>
                          <a:ea typeface="Calibri"/>
                          <a:cs typeface="Calibri"/>
                          <a:sym typeface="Calibri"/>
                        </a:rPr>
                        <a:t>Chris</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r>
                        <a:rPr lang="en-US" sz="1600" b="1" dirty="0">
                          <a:solidFill>
                            <a:srgbClr val="EDEDED"/>
                          </a:solidFill>
                          <a:latin typeface="Calibri"/>
                          <a:ea typeface="Calibri"/>
                          <a:cs typeface="Calibri"/>
                          <a:sym typeface="Calibri"/>
                        </a:rPr>
                        <a:t>The Tragic Fate of The Ramones</a:t>
                      </a: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3"/>
                  </a:ext>
                </a:extLst>
              </a:tr>
              <a:tr h="481423">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4"/>
                  </a:ext>
                </a:extLst>
              </a:tr>
              <a:tr h="481423">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a:p>
                  </a:txBody>
                  <a:tcPr marL="9525" marR="9525" marT="9525" marB="9525" anchor="b" horzOverflow="overflow"/>
                </a:tc>
                <a:extLst>
                  <a:ext uri="{0D108BD9-81ED-4DB2-BD59-A6C34878D82A}">
                    <a16:rowId xmlns:a16="http://schemas.microsoft.com/office/drawing/2014/main" val="10005"/>
                  </a:ext>
                </a:extLst>
              </a:tr>
              <a:tr h="481423">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dirty="0">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dirty="0"/>
                    </a:p>
                  </a:txBody>
                  <a:tcPr marL="9525" marR="9525" marT="9525" marB="9525" anchor="b" horzOverflow="overflow"/>
                </a:tc>
                <a:extLst>
                  <a:ext uri="{0D108BD9-81ED-4DB2-BD59-A6C34878D82A}">
                    <a16:rowId xmlns:a16="http://schemas.microsoft.com/office/drawing/2014/main" val="10006"/>
                  </a:ext>
                </a:extLst>
              </a:tr>
              <a:tr h="481423">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dirty="0"/>
                    </a:p>
                  </a:txBody>
                  <a:tcPr marL="9525" marR="9525" marT="9525" marB="9525" anchor="b" horzOverflow="overflow"/>
                </a:tc>
                <a:extLst>
                  <a:ext uri="{0D108BD9-81ED-4DB2-BD59-A6C34878D82A}">
                    <a16:rowId xmlns:a16="http://schemas.microsoft.com/office/drawing/2014/main" val="10007"/>
                  </a:ext>
                </a:extLst>
              </a:tr>
              <a:tr h="481423">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dirty="0"/>
                    </a:p>
                  </a:txBody>
                  <a:tcPr marL="9525" marR="9525" marT="9525" marB="9525" anchor="b" horzOverflow="overflow"/>
                </a:tc>
                <a:extLst>
                  <a:ext uri="{0D108BD9-81ED-4DB2-BD59-A6C34878D82A}">
                    <a16:rowId xmlns:a16="http://schemas.microsoft.com/office/drawing/2014/main" val="10008"/>
                  </a:ext>
                </a:extLst>
              </a:tr>
              <a:tr h="578681">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dirty="0"/>
                    </a:p>
                  </a:txBody>
                  <a:tcPr marL="9525" marR="9525" marT="9525" marB="9525" anchor="b" horzOverflow="overflow"/>
                </a:tc>
                <a:extLst>
                  <a:ext uri="{0D108BD9-81ED-4DB2-BD59-A6C34878D82A}">
                    <a16:rowId xmlns:a16="http://schemas.microsoft.com/office/drawing/2014/main" val="10009"/>
                  </a:ext>
                </a:extLst>
              </a:tr>
              <a:tr h="578681">
                <a:tc>
                  <a:txBody>
                    <a:bodyPr/>
                    <a:lstStyle/>
                    <a:p>
                      <a:pPr algn="ctr">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800"/>
                      </a:pPr>
                      <a:endParaRPr sz="1600" b="1">
                        <a:solidFill>
                          <a:srgbClr val="EDEDED"/>
                        </a:solidFill>
                        <a:latin typeface="Calibri"/>
                        <a:ea typeface="Calibri"/>
                        <a:cs typeface="Calibri"/>
                        <a:sym typeface="Calibri"/>
                      </a:endParaRPr>
                    </a:p>
                  </a:txBody>
                  <a:tcPr marL="9525" marR="9525" marT="9525" marB="9525" anchor="b" horzOverflow="overflow"/>
                </a:tc>
                <a:tc>
                  <a:txBody>
                    <a:bodyPr/>
                    <a:lstStyle/>
                    <a:p>
                      <a:pPr algn="l">
                        <a:defRPr sz="1600" b="1">
                          <a:solidFill>
                            <a:srgbClr val="EDEDED"/>
                          </a:solidFill>
                          <a:latin typeface="Calibri"/>
                          <a:ea typeface="Calibri"/>
                          <a:cs typeface="Calibri"/>
                          <a:sym typeface="Calibri"/>
                        </a:defRPr>
                      </a:pPr>
                      <a:endParaRPr dirty="0"/>
                    </a:p>
                  </a:txBody>
                  <a:tcPr marL="9525" marR="9525" marT="9525" marB="9525" anchor="b" horzOverflow="overflow"/>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319879869"/>
      </p:ext>
    </p:extLst>
  </p:cSld>
  <p:clrMapOvr>
    <a:masterClrMapping/>
  </p:clrMapOvr>
  <p:transition spd="med"/>
</p:sld>
</file>

<file path=ppt/theme/theme1.xml><?xml version="1.0" encoding="utf-8"?>
<a:theme xmlns:a="http://schemas.openxmlformats.org/drawingml/2006/main" name="Vapor Trail">
  <a:themeElements>
    <a:clrScheme name="Vapor Trail">
      <a:dk1>
        <a:srgbClr val="000000"/>
      </a:dk1>
      <a:lt1>
        <a:srgbClr val="000000"/>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Helvetica"/>
        <a:ea typeface="Helvetica"/>
        <a:cs typeface="Helvetica"/>
      </a:majorFont>
      <a:minorFont>
        <a:latin typeface="Arial"/>
        <a:ea typeface="Arial"/>
        <a:cs typeface="Arial"/>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Vapor Trail">
  <a:themeElements>
    <a:clrScheme name="Vapor Trail">
      <a:dk1>
        <a:srgbClr val="000000"/>
      </a:dk1>
      <a:lt1>
        <a:srgbClr val="FFFFFF"/>
      </a:lt1>
      <a:dk2>
        <a:srgbClr val="A7A7A7"/>
      </a:dk2>
      <a:lt2>
        <a:srgbClr val="535353"/>
      </a:lt2>
      <a:accent1>
        <a:srgbClr val="DF2E28"/>
      </a:accent1>
      <a:accent2>
        <a:srgbClr val="FE801A"/>
      </a:accent2>
      <a:accent3>
        <a:srgbClr val="E9BF35"/>
      </a:accent3>
      <a:accent4>
        <a:srgbClr val="81BB42"/>
      </a:accent4>
      <a:accent5>
        <a:srgbClr val="32C7A9"/>
      </a:accent5>
      <a:accent6>
        <a:srgbClr val="4A9BDC"/>
      </a:accent6>
      <a:hlink>
        <a:srgbClr val="0000FF"/>
      </a:hlink>
      <a:folHlink>
        <a:srgbClr val="FF00FF"/>
      </a:folHlink>
    </a:clrScheme>
    <a:fontScheme name="Vapor Trail">
      <a:majorFont>
        <a:latin typeface="Helvetica"/>
        <a:ea typeface="Helvetica"/>
        <a:cs typeface="Helvetica"/>
      </a:majorFont>
      <a:minorFont>
        <a:latin typeface="Arial"/>
        <a:ea typeface="Arial"/>
        <a:cs typeface="Arial"/>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69</TotalTime>
  <Words>4160</Words>
  <Application>Microsoft Macintosh PowerPoint</Application>
  <PresentationFormat>Widescreen</PresentationFormat>
  <Paragraphs>851</Paragraphs>
  <Slides>46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Century Gothic</vt:lpstr>
      <vt:lpstr>Vapor Trail</vt:lpstr>
      <vt:lpstr>EXECUTIVE COUNCIL MEETING</vt:lpstr>
      <vt:lpstr>AGENDA</vt:lpstr>
      <vt:lpstr>CALL TO ORDER</vt:lpstr>
      <vt:lpstr>COCKTAIL PRESENTATION</vt:lpstr>
      <vt:lpstr>COCKTAIL PRESENTATION</vt:lpstr>
      <vt:lpstr>WARM-UP ALBUM ONE</vt:lpstr>
      <vt:lpstr>OLD BUSINESS: REVIEW &amp; APPROVAL OF THE MINUTES</vt:lpstr>
      <vt:lpstr>OLD BUSINESS: REVIEW &amp; APPROVAL OF THE MINUTES</vt:lpstr>
      <vt:lpstr>NEW BUSINESS New Music, Video, Books, Purchases, Concerts, etc.</vt:lpstr>
      <vt:lpstr>NEW BUSINESS New Music, Video, Books, Purchases, Concerts, etc.</vt:lpstr>
      <vt:lpstr>NEW BUSINESS New Music, Video, Books, Purchases, Concerts, etc.</vt:lpstr>
      <vt:lpstr>NEW BUSINESS New Music, Video, Books, Purchases, Concerts, etc.</vt:lpstr>
      <vt:lpstr>NEW BUSINESS New Music, Video, Books, Purchases, Concerts, etc.</vt:lpstr>
      <vt:lpstr>NEW BUSINESS New Music, Video, Books, Purchases, Concerts, etc.</vt:lpstr>
      <vt:lpstr>WARM UP ALBUM TWO</vt:lpstr>
      <vt:lpstr>Musicology by Chris Clement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HEADLINER</vt:lpstr>
      <vt:lpstr>HEADLINER</vt:lpstr>
      <vt:lpstr>ALBUM TWO</vt:lpstr>
      <vt:lpstr>HEADLINER</vt:lpstr>
      <vt:lpstr>ROTATION</vt:lpstr>
      <vt:lpstr>WRAP UP</vt:lpstr>
      <vt:lpstr>APPENDICES</vt:lpstr>
      <vt:lpstr>HISTORY</vt:lpstr>
      <vt:lpstr>HISTORY</vt:lpstr>
      <vt:lpstr>HISTORY</vt:lpstr>
      <vt:lpstr>HISTORY</vt:lpstr>
      <vt:lpstr>HISTORY</vt:lpstr>
      <vt:lpstr>HISTORY</vt:lpstr>
      <vt:lpstr>HISTORY</vt:lpstr>
      <vt:lpstr>MUSICOLOGY HISTORY</vt:lpstr>
      <vt:lpstr>MUSICOLOGY HISTORY</vt:lpstr>
      <vt:lpstr>MUSICOLOGY HISTORY</vt:lpstr>
      <vt:lpstr>MUSICOLOGY HISTORY</vt:lpstr>
      <vt:lpstr>MUSICOLOGY HISTORY</vt:lpstr>
      <vt:lpstr>MUSICOLOGY HISTORY</vt:lpstr>
      <vt:lpstr>MUSICOLOGY HISTORY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 Clement</cp:lastModifiedBy>
  <cp:revision>2</cp:revision>
  <dcterms:modified xsi:type="dcterms:W3CDTF">2026-01-08T21:59:07Z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2026-01-08T20:49:22Z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7d4fcd04-d2e7-4af0-bef1-4cbdef9abc8e</vt:lpwstr>
  </property>
  <property fmtid="{D5CDD505-2E9C-101B-9397-08002B2CF9AE}" pid="7" name="MSIP_Label_defa4170-0d19-0005-0004-bc88714345d2_ActionId">
    <vt:lpwstr>4d6701f1-944d-4f96-9543-789c539876ea</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